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6" r:id="rId2"/>
    <p:sldId id="303" r:id="rId3"/>
    <p:sldId id="304" r:id="rId4"/>
    <p:sldId id="305" r:id="rId5"/>
    <p:sldId id="30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2D0"/>
    <a:srgbClr val="E8E8E8"/>
    <a:srgbClr val="4E95D9"/>
    <a:srgbClr val="18202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22EE1-B397-4D80-9BC0-28D20BAC0177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53812-1102-430E-B0F8-DEE0D7B74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C024-7D17-66ED-AD09-0B69DD6F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D8544C-0F95-9887-74A0-5BEF8DEADD7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47301-8C6A-9181-E0BC-0BBA6B4FB98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ทฤษฎีบทที่เกี่ยวกับการแยกตัวประกอบพหุนาม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0817CF-21AE-BE10-EFDF-5B703AA1F5E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446C0AF-D627-6A3A-4870-33295E082703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71144F-361C-5513-B48A-3BC5D5B28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33FFFBB-553F-1123-BCF8-EAFDBD105C36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502EE5A-9EC7-B118-E1A5-1CFB01D3F70B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เศษเหลือ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F17EA46-2B66-0B8C-D7E9-4E1410BD95BC}"/>
              </a:ext>
            </a:extLst>
          </p:cNvPr>
          <p:cNvSpPr/>
          <p:nvPr/>
        </p:nvSpPr>
        <p:spPr>
          <a:xfrm>
            <a:off x="349857" y="1604197"/>
            <a:ext cx="11501484" cy="2286485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BED3A7-D9D3-087E-9859-C1EBD07E1B8C}"/>
              </a:ext>
            </a:extLst>
          </p:cNvPr>
          <p:cNvSpPr txBox="1"/>
          <p:nvPr/>
        </p:nvSpPr>
        <p:spPr>
          <a:xfrm>
            <a:off x="466204" y="1683073"/>
            <a:ext cx="1758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ทฤษฎีบทเศษเหลือ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EC79A9C-3C1C-9ECB-8CDB-8F6FED92714F}"/>
              </a:ext>
            </a:extLst>
          </p:cNvPr>
          <p:cNvSpPr/>
          <p:nvPr/>
        </p:nvSpPr>
        <p:spPr>
          <a:xfrm>
            <a:off x="345258" y="3983120"/>
            <a:ext cx="11501484" cy="265972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B9DF60D-1339-8C28-62D9-7F3F8008AE19}"/>
                  </a:ext>
                </a:extLst>
              </p:cNvPr>
              <p:cNvSpPr txBox="1"/>
              <p:nvPr/>
            </p:nvSpPr>
            <p:spPr>
              <a:xfrm>
                <a:off x="564776" y="4177553"/>
                <a:ext cx="1053353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ตัวอย่าง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หาเศษจากการหาร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x – 1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ด้วย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1</a:t>
                </a:r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ให้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x – 1 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P(1) = 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+ 1 – 1 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  = 2 + 3 + 1 – 1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  = 5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เศษเหลือ คือ 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B9DF60D-1339-8C28-62D9-7F3F8008A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76" y="4177553"/>
                <a:ext cx="10533530" cy="2308324"/>
              </a:xfrm>
              <a:prstGeom prst="rect">
                <a:avLst/>
              </a:prstGeom>
              <a:blipFill>
                <a:blip r:embed="rId3"/>
                <a:stretch>
                  <a:fillRect l="-926" t="-1847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03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88F7F-E302-DF54-0670-EC0F1F000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8C655B-5D91-763E-7F14-313C1170D67C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30B20-2B59-B99C-5E4E-F090C33D2B49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ทฤษฎีบทที่เกี่ยวกับการแยกตัวประกอบพหุนาม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50203A-5E5B-EAF9-B624-8E158C084125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2BCA13-38F1-387E-BDAA-6FACDCD28FA9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9940D0-2A79-B22E-70B1-A43BA8B41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3BE9D4F-EBD4-2573-E32A-F0E7CF37AFC5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17D50C3-8144-466C-43B8-5DC1C6B337D7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ตัวประกอบ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A7CF27E-A638-3C32-3CAF-F980599374E7}"/>
              </a:ext>
            </a:extLst>
          </p:cNvPr>
          <p:cNvSpPr/>
          <p:nvPr/>
        </p:nvSpPr>
        <p:spPr>
          <a:xfrm>
            <a:off x="349857" y="1604197"/>
            <a:ext cx="11501484" cy="2286485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E809F4-BF24-7484-6B43-BC4DC4095728}"/>
              </a:ext>
            </a:extLst>
          </p:cNvPr>
          <p:cNvSpPr txBox="1"/>
          <p:nvPr/>
        </p:nvSpPr>
        <p:spPr>
          <a:xfrm>
            <a:off x="466204" y="1683073"/>
            <a:ext cx="1946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ทฤษฎีบทตัวประกอบ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1D05F95-4B65-1FDD-BD28-EAE542A40CE3}"/>
              </a:ext>
            </a:extLst>
          </p:cNvPr>
          <p:cNvSpPr/>
          <p:nvPr/>
        </p:nvSpPr>
        <p:spPr>
          <a:xfrm>
            <a:off x="345258" y="3983120"/>
            <a:ext cx="11501484" cy="265972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FCD0EF7-0844-CBFB-5816-6FB38495C72E}"/>
                  </a:ext>
                </a:extLst>
              </p:cNvPr>
              <p:cNvSpPr txBox="1"/>
              <p:nvPr/>
            </p:nvSpPr>
            <p:spPr>
              <a:xfrm>
                <a:off x="564776" y="4177553"/>
                <a:ext cx="10533530" cy="236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ตัวอย่าง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ให้แสดงว่า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+ 2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เป็นตัวประกอบของ 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ให้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P(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-2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) =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5(-2)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–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  =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8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+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4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– 10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–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  =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+ 2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เป็นตัวประกอบของ 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FCD0EF7-0844-CBFB-5816-6FB38495C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76" y="4177553"/>
                <a:ext cx="10533530" cy="2369880"/>
              </a:xfrm>
              <a:prstGeom prst="rect">
                <a:avLst/>
              </a:prstGeom>
              <a:blipFill>
                <a:blip r:embed="rId3"/>
                <a:stretch>
                  <a:fillRect l="-926" t="-1799" b="-5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4242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7AA8B-5BC8-0ECD-FDBB-D246ACFA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BFC5DB-37CB-B9E6-73AE-D7508ABEB6C1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773B5-9732-36A1-F8A8-18348B0813EC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ทฤษฎีบทที่เกี่ยวกับการแยกตัวประกอบพหุนาม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3104FF-E038-CB1A-AF5B-39ABB395FE78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8175C68-3B8D-E35B-7C53-167581A3CF4B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9BF66B-8870-72F1-25C5-3D2783219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7" y="631472"/>
            <a:ext cx="2468899" cy="7251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C52CE43-6B50-1560-4CAE-ECC201B17A7E}"/>
              </a:ext>
            </a:extLst>
          </p:cNvPr>
          <p:cNvSpPr txBox="1"/>
          <p:nvPr/>
        </p:nvSpPr>
        <p:spPr>
          <a:xfrm>
            <a:off x="3876195" y="865464"/>
            <a:ext cx="1977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2202DB4-C20B-7F85-92A1-57E00EB1FB9A}"/>
              </a:ext>
            </a:extLst>
          </p:cNvPr>
          <p:cNvSpPr/>
          <p:nvPr/>
        </p:nvSpPr>
        <p:spPr>
          <a:xfrm>
            <a:off x="5943600" y="786589"/>
            <a:ext cx="2617695" cy="491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ตัวประกอบตรรกยะ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609295F-3707-1204-A016-F7E66B5902FF}"/>
              </a:ext>
            </a:extLst>
          </p:cNvPr>
          <p:cNvSpPr/>
          <p:nvPr/>
        </p:nvSpPr>
        <p:spPr>
          <a:xfrm>
            <a:off x="349857" y="1604197"/>
            <a:ext cx="11501484" cy="2286485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B8DF3A-D9C4-0AF4-F6EE-C4A619B94CDA}"/>
              </a:ext>
            </a:extLst>
          </p:cNvPr>
          <p:cNvSpPr txBox="1"/>
          <p:nvPr/>
        </p:nvSpPr>
        <p:spPr>
          <a:xfrm>
            <a:off x="466204" y="1683073"/>
            <a:ext cx="26164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ทฤษฎีบทตัวประกอบตรรกยะ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0EB8AB6-0021-230C-7E8D-294F1E682711}"/>
              </a:ext>
            </a:extLst>
          </p:cNvPr>
          <p:cNvSpPr/>
          <p:nvPr/>
        </p:nvSpPr>
        <p:spPr>
          <a:xfrm>
            <a:off x="345258" y="3983120"/>
            <a:ext cx="11501484" cy="2659727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8C27FED-6B00-7253-BC9B-DAE972817894}"/>
                  </a:ext>
                </a:extLst>
              </p:cNvPr>
              <p:cNvSpPr txBox="1"/>
              <p:nvPr/>
            </p:nvSpPr>
            <p:spPr>
              <a:xfrm>
                <a:off x="466204" y="4097861"/>
                <a:ext cx="10533530" cy="2448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ตัวอย่าง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ให้แสดงว่า 2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เป็นตัวประกอบของ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 x + 6</a:t>
                </a:r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ให้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 x + 6</a:t>
                </a:r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P</a:t>
                </a:r>
                <a:r>
                  <a:rPr lang="en-US" sz="2400" b="1" dirty="0"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𝟑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  <a:cs typeface="TH Sarabun New" panose="020B0500040200020003" pitchFamily="34" charset="-34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𝟑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 </m:t>
                    </m:r>
                  </m:oMath>
                </a14:m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+ 6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𝟐𝟕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𝟒𝟓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fPr>
                      <m:num>
                        <m:r>
                          <a:rPr lang="en-US" sz="16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num>
                      <m:den>
                        <m:r>
                          <a:rPr lang="en-US" sz="16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+ 6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        =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0</a:t>
                </a:r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	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2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x – 3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เป็นตัวประกอบของ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 </a:t>
                </a:r>
                <a14:m>
                  <m:oMath xmlns:m="http://schemas.openxmlformats.org/officeDocument/2006/math">
                    <m:r>
                      <a:rPr lang="en-US" sz="2000" b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𝟓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- x + 6</a:t>
                </a:r>
                <a:endPara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8C27FED-6B00-7253-BC9B-DAE972817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04" y="4097861"/>
                <a:ext cx="10533530" cy="2448812"/>
              </a:xfrm>
              <a:prstGeom prst="rect">
                <a:avLst/>
              </a:prstGeom>
              <a:blipFill>
                <a:blip r:embed="rId3"/>
                <a:stretch>
                  <a:fillRect l="-868" t="-1741" b="-4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465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163C8-CCBA-0825-C76A-27AD9AC6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17CB2B-7F06-3AFD-AE67-C33EE2EE7B72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36A84-5EC1-9B13-32DD-C131FAAB5FC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ทฤษฎีบทที่เกี่ยวกับการแยกตัวประกอบพหุนาม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0B3D2D-FAFF-BB8C-AC48-DD725D3BFFF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A7920A-41EC-7D03-CD7C-D639B9EB6C9D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54E46-6E00-5420-5FCC-CAE1200FC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030" y="777378"/>
            <a:ext cx="2382849" cy="635963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5BE4A3A3-124C-4DB7-1222-EF9044284C68}"/>
              </a:ext>
            </a:extLst>
          </p:cNvPr>
          <p:cNvGrpSpPr/>
          <p:nvPr/>
        </p:nvGrpSpPr>
        <p:grpSpPr>
          <a:xfrm>
            <a:off x="242279" y="1516701"/>
            <a:ext cx="11360886" cy="1343378"/>
            <a:chOff x="242279" y="1516701"/>
            <a:chExt cx="11360886" cy="1343378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6F54F18-0A2B-9ADF-4FDE-572BBEC0BA38}"/>
                </a:ext>
              </a:extLst>
            </p:cNvPr>
            <p:cNvSpPr/>
            <p:nvPr/>
          </p:nvSpPr>
          <p:spPr>
            <a:xfrm>
              <a:off x="5887570" y="2387321"/>
              <a:ext cx="369796" cy="36979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7958038-A3C9-3D5D-90D4-22BC65616B47}"/>
                </a:ext>
              </a:extLst>
            </p:cNvPr>
            <p:cNvSpPr/>
            <p:nvPr/>
          </p:nvSpPr>
          <p:spPr>
            <a:xfrm>
              <a:off x="5887571" y="1957017"/>
              <a:ext cx="369796" cy="36979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CF2AF0E-F805-CE0B-6F20-E2388A0F313E}"/>
                </a:ext>
              </a:extLst>
            </p:cNvPr>
            <p:cNvGrpSpPr/>
            <p:nvPr/>
          </p:nvGrpSpPr>
          <p:grpSpPr>
            <a:xfrm>
              <a:off x="2059639" y="1965981"/>
              <a:ext cx="3283329" cy="809069"/>
              <a:chOff x="2167216" y="1403579"/>
              <a:chExt cx="3283329" cy="809069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FF17F85D-C3FA-54D8-2051-90DDAB828948}"/>
                  </a:ext>
                </a:extLst>
              </p:cNvPr>
              <p:cNvGrpSpPr/>
              <p:nvPr/>
            </p:nvGrpSpPr>
            <p:grpSpPr>
              <a:xfrm>
                <a:off x="2167216" y="1403579"/>
                <a:ext cx="3283329" cy="378760"/>
                <a:chOff x="2167216" y="1403579"/>
                <a:chExt cx="3283329" cy="378760"/>
              </a:xfrm>
            </p:grpSpPr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723830A2-DB95-7D85-B561-02A7229E9EFF}"/>
                    </a:ext>
                  </a:extLst>
                </p:cNvPr>
                <p:cNvSpPr/>
                <p:nvPr/>
              </p:nvSpPr>
              <p:spPr>
                <a:xfrm>
                  <a:off x="2167216" y="1412543"/>
                  <a:ext cx="369796" cy="369796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6CB1B4D3-D034-696D-D124-C98FE05A6CC8}"/>
                    </a:ext>
                  </a:extLst>
                </p:cNvPr>
                <p:cNvSpPr/>
                <p:nvPr/>
              </p:nvSpPr>
              <p:spPr>
                <a:xfrm>
                  <a:off x="3242982" y="1412540"/>
                  <a:ext cx="369796" cy="369796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00E0499A-0B33-891A-B02B-003640477BAB}"/>
                    </a:ext>
                  </a:extLst>
                </p:cNvPr>
                <p:cNvSpPr/>
                <p:nvPr/>
              </p:nvSpPr>
              <p:spPr>
                <a:xfrm>
                  <a:off x="4184276" y="1412541"/>
                  <a:ext cx="369796" cy="369796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7B5A1F08-19F8-96D0-BA1A-127CF52655A3}"/>
                    </a:ext>
                  </a:extLst>
                </p:cNvPr>
                <p:cNvSpPr/>
                <p:nvPr/>
              </p:nvSpPr>
              <p:spPr>
                <a:xfrm>
                  <a:off x="5080749" y="1403579"/>
                  <a:ext cx="369796" cy="369796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915BB54E-CA24-3B2D-3A3A-4D8F17405CF1}"/>
                  </a:ext>
                </a:extLst>
              </p:cNvPr>
              <p:cNvSpPr/>
              <p:nvPr/>
            </p:nvSpPr>
            <p:spPr>
              <a:xfrm>
                <a:off x="5080749" y="1842852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6266AAC-9080-F024-AF37-C759DE60ED96}"/>
                </a:ext>
              </a:extLst>
            </p:cNvPr>
            <p:cNvSpPr txBox="1"/>
            <p:nvPr/>
          </p:nvSpPr>
          <p:spPr>
            <a:xfrm>
              <a:off x="242279" y="1516941"/>
              <a:ext cx="16302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กำหนดพหุนาม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75D9EC3-3E24-CC6F-E868-94A96600DB7F}"/>
                    </a:ext>
                  </a:extLst>
                </p:cNvPr>
                <p:cNvSpPr txBox="1"/>
                <p:nvPr/>
              </p:nvSpPr>
              <p:spPr>
                <a:xfrm>
                  <a:off x="2059639" y="1516701"/>
                  <a:ext cx="8417627" cy="470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𝟒</m:t>
                          </m:r>
                        </m:sup>
                      </m:sSup>
                    </m:oMath>
                  </a14:m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 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</m:oMath>
                  </a14:m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</a:t>
                  </a:r>
                  <a:r>
                    <a:rPr lang="en-US" sz="2400" b="1" dirty="0">
                      <a:cs typeface="TH Sarabun New" panose="020B0500040200020003" pitchFamily="34" charset="-34"/>
                    </a:rPr>
                    <a:t>  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  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          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𝒄</m:t>
                      </m:r>
                    </m:oMath>
                  </a14:m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        </a:t>
                  </a:r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75D9EC3-3E24-CC6F-E868-94A96600DB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9639" y="1516701"/>
                  <a:ext cx="8417627" cy="470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B06B621-AB25-394B-1822-3B4861370A93}"/>
                    </a:ext>
                  </a:extLst>
                </p:cNvPr>
                <p:cNvSpPr txBox="1"/>
                <p:nvPr/>
              </p:nvSpPr>
              <p:spPr>
                <a:xfrm>
                  <a:off x="833719" y="1643079"/>
                  <a:ext cx="10769446" cy="1217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ตัวตั้ง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:	     1           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 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-2           -1	     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3	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     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1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ตัวตั้ง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𝟒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𝟏</m:t>
                      </m:r>
                    </m:oMath>
                  </a14:m>
                  <a:endPara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ตัวหาร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:	                 	      	      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1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     -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3	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ตัวหาร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=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x – 3</a:t>
                  </a:r>
                  <a:endParaRPr lang="en-US" sz="2400" dirty="0"/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B06B621-AB25-394B-1822-3B4861370A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719" y="1643079"/>
                  <a:ext cx="10769446" cy="1217000"/>
                </a:xfrm>
                <a:prstGeom prst="rect">
                  <a:avLst/>
                </a:prstGeom>
                <a:blipFill>
                  <a:blip r:embed="rId4"/>
                  <a:stretch>
                    <a:fillRect l="-906" b="-120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E804F26-1585-AC94-9FB1-88720DD2D250}"/>
              </a:ext>
            </a:extLst>
          </p:cNvPr>
          <p:cNvSpPr/>
          <p:nvPr/>
        </p:nvSpPr>
        <p:spPr>
          <a:xfrm>
            <a:off x="349857" y="2929556"/>
            <a:ext cx="11501484" cy="3848925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D2CCC76-5F46-ADCB-43F0-645ADAA33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8305" y="3033289"/>
            <a:ext cx="590632" cy="55252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5BC1BEA-BC5C-FB12-5D0A-7B53112D32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7935" b="67981"/>
          <a:stretch>
            <a:fillRect/>
          </a:stretch>
        </p:blipFill>
        <p:spPr>
          <a:xfrm>
            <a:off x="493063" y="3033289"/>
            <a:ext cx="5880847" cy="134895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5EB9935-FA79-00B9-D22C-A95B88E5E64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8820" t="72915" r="705" b="-2474"/>
          <a:stretch>
            <a:fillRect/>
          </a:stretch>
        </p:blipFill>
        <p:spPr>
          <a:xfrm>
            <a:off x="7127223" y="5533129"/>
            <a:ext cx="4571714" cy="124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70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C27E-07A4-68F2-77D5-20FE437A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2615292-AA6A-6890-4A93-2DF61D6ADF8A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B1B3B-B0CF-C4BC-3AB7-902FC05AEB5E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ทฤษฎีบทที่เกี่ยวกับการแยกตัวประกอบพหุนาม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FB4F28-711E-3869-C64A-ABC6DC8508FC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E41A18B-0817-926D-5DEE-CD0A400B3902}"/>
              </a:ext>
            </a:extLst>
          </p:cNvPr>
          <p:cNvSpPr txBox="1"/>
          <p:nvPr/>
        </p:nvSpPr>
        <p:spPr>
          <a:xfrm>
            <a:off x="27128" y="865464"/>
            <a:ext cx="1295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2D4773-4911-F6CF-D0AB-F7AD3026E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030" y="777378"/>
            <a:ext cx="2382849" cy="635963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01AAF71A-4813-300C-8FF0-7581CB921BAB}"/>
              </a:ext>
            </a:extLst>
          </p:cNvPr>
          <p:cNvGrpSpPr/>
          <p:nvPr/>
        </p:nvGrpSpPr>
        <p:grpSpPr>
          <a:xfrm>
            <a:off x="242279" y="1516701"/>
            <a:ext cx="11360886" cy="1343378"/>
            <a:chOff x="242279" y="1516701"/>
            <a:chExt cx="11360886" cy="1343378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BE4DDEE-251D-1549-7B45-90E15919B102}"/>
                </a:ext>
              </a:extLst>
            </p:cNvPr>
            <p:cNvSpPr/>
            <p:nvPr/>
          </p:nvSpPr>
          <p:spPr>
            <a:xfrm>
              <a:off x="5887570" y="2387321"/>
              <a:ext cx="369796" cy="36979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1B5655D-8525-5378-D5CC-C046544FB768}"/>
                </a:ext>
              </a:extLst>
            </p:cNvPr>
            <p:cNvSpPr/>
            <p:nvPr/>
          </p:nvSpPr>
          <p:spPr>
            <a:xfrm>
              <a:off x="5887571" y="1957017"/>
              <a:ext cx="369796" cy="36979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3D9B021-B759-F5F5-400C-8D89988E8CC0}"/>
                </a:ext>
              </a:extLst>
            </p:cNvPr>
            <p:cNvGrpSpPr/>
            <p:nvPr/>
          </p:nvGrpSpPr>
          <p:grpSpPr>
            <a:xfrm>
              <a:off x="2059639" y="1965981"/>
              <a:ext cx="3283329" cy="809069"/>
              <a:chOff x="2167216" y="1403579"/>
              <a:chExt cx="3283329" cy="809069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3F4F458C-73A5-DE52-1698-1B51BC6EC777}"/>
                  </a:ext>
                </a:extLst>
              </p:cNvPr>
              <p:cNvGrpSpPr/>
              <p:nvPr/>
            </p:nvGrpSpPr>
            <p:grpSpPr>
              <a:xfrm>
                <a:off x="2167216" y="1403579"/>
                <a:ext cx="3283329" cy="378760"/>
                <a:chOff x="2167216" y="1403579"/>
                <a:chExt cx="3283329" cy="378760"/>
              </a:xfrm>
            </p:grpSpPr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4478A738-A133-7340-7F60-E434D6CB3AAD}"/>
                    </a:ext>
                  </a:extLst>
                </p:cNvPr>
                <p:cNvSpPr/>
                <p:nvPr/>
              </p:nvSpPr>
              <p:spPr>
                <a:xfrm>
                  <a:off x="2167216" y="1412543"/>
                  <a:ext cx="369796" cy="369796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55E7C401-5444-CE15-96E1-4CD398E51918}"/>
                    </a:ext>
                  </a:extLst>
                </p:cNvPr>
                <p:cNvSpPr/>
                <p:nvPr/>
              </p:nvSpPr>
              <p:spPr>
                <a:xfrm>
                  <a:off x="3242982" y="1412540"/>
                  <a:ext cx="369796" cy="369796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C8B5FA18-314B-624A-8A95-83F843BC8125}"/>
                    </a:ext>
                  </a:extLst>
                </p:cNvPr>
                <p:cNvSpPr/>
                <p:nvPr/>
              </p:nvSpPr>
              <p:spPr>
                <a:xfrm>
                  <a:off x="4184276" y="1412541"/>
                  <a:ext cx="369796" cy="369796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1C5CC61A-5D27-349A-A337-FE10D782B4D1}"/>
                    </a:ext>
                  </a:extLst>
                </p:cNvPr>
                <p:cNvSpPr/>
                <p:nvPr/>
              </p:nvSpPr>
              <p:spPr>
                <a:xfrm>
                  <a:off x="5080749" y="1403579"/>
                  <a:ext cx="369796" cy="369796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6043E64F-21CE-EFE1-D2D0-00A904DD47E5}"/>
                  </a:ext>
                </a:extLst>
              </p:cNvPr>
              <p:cNvSpPr/>
              <p:nvPr/>
            </p:nvSpPr>
            <p:spPr>
              <a:xfrm>
                <a:off x="5080749" y="1842852"/>
                <a:ext cx="369796" cy="369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485ED6E-203F-2D4A-D4DF-E77BD256628F}"/>
                </a:ext>
              </a:extLst>
            </p:cNvPr>
            <p:cNvSpPr txBox="1"/>
            <p:nvPr/>
          </p:nvSpPr>
          <p:spPr>
            <a:xfrm>
              <a:off x="242279" y="1516941"/>
              <a:ext cx="16302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กำหนดพหุนาม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B33439-1AFA-DF9D-2030-F22DF2D0C116}"/>
                    </a:ext>
                  </a:extLst>
                </p:cNvPr>
                <p:cNvSpPr txBox="1"/>
                <p:nvPr/>
              </p:nvSpPr>
              <p:spPr>
                <a:xfrm>
                  <a:off x="2059639" y="1516701"/>
                  <a:ext cx="8417627" cy="470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𝟒</m:t>
                          </m:r>
                        </m:sup>
                      </m:sSup>
                    </m:oMath>
                  </a14:m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 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</m:oMath>
                  </a14:m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</a:t>
                  </a:r>
                  <a:r>
                    <a:rPr lang="en-US" sz="2400" b="1" dirty="0">
                      <a:cs typeface="TH Sarabun New" panose="020B0500040200020003" pitchFamily="34" charset="-34"/>
                    </a:rPr>
                    <a:t>  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  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          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𝒄</m:t>
                      </m:r>
                    </m:oMath>
                  </a14:m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        </a:t>
                  </a:r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B33439-1AFA-DF9D-2030-F22DF2D0C1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9639" y="1516701"/>
                  <a:ext cx="8417627" cy="470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EEDA192-F545-D3EA-58C4-2A96C563F6A1}"/>
                    </a:ext>
                  </a:extLst>
                </p:cNvPr>
                <p:cNvSpPr txBox="1"/>
                <p:nvPr/>
              </p:nvSpPr>
              <p:spPr>
                <a:xfrm>
                  <a:off x="833719" y="1643079"/>
                  <a:ext cx="10769446" cy="1217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ตัวตั้ง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:	     1           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 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-2           -1	     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3	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     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1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ตัวตั้ง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𝟒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𝟑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−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cs typeface="TH Sarabun New" panose="020B0500040200020003" pitchFamily="34" charset="-34"/>
                        </a:rPr>
                        <m:t>𝟏</m:t>
                      </m:r>
                    </m:oMath>
                  </a14:m>
                  <a:endPara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ตัวหาร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:	                 	      	      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1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      -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3	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	ตัวหาร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=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x – 3</a:t>
                  </a:r>
                  <a:endParaRPr lang="en-US" sz="2400" dirty="0"/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EEDA192-F545-D3EA-58C4-2A96C563F6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719" y="1643079"/>
                  <a:ext cx="10769446" cy="1217000"/>
                </a:xfrm>
                <a:prstGeom prst="rect">
                  <a:avLst/>
                </a:prstGeom>
                <a:blipFill>
                  <a:blip r:embed="rId4"/>
                  <a:stretch>
                    <a:fillRect l="-906" b="-120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49E526C-9B7C-C442-E22C-DF32EE04511A}"/>
              </a:ext>
            </a:extLst>
          </p:cNvPr>
          <p:cNvSpPr/>
          <p:nvPr/>
        </p:nvSpPr>
        <p:spPr>
          <a:xfrm>
            <a:off x="349857" y="3514167"/>
            <a:ext cx="11501484" cy="3264314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35390A9-BD4C-71DE-F85F-58E863646608}"/>
                  </a:ext>
                </a:extLst>
              </p:cNvPr>
              <p:cNvSpPr txBox="1"/>
              <p:nvPr/>
            </p:nvSpPr>
            <p:spPr>
              <a:xfrm>
                <a:off x="524436" y="3727224"/>
                <a:ext cx="6104964" cy="1955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ให้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P(x) =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𝒙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P(3)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)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𝟒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𝟑</m:t>
                            </m:r>
                          </m:e>
                        </m:d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𝟑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−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TH Sarabun New" panose="020B0500040200020003" pitchFamily="34" charset="-34"/>
                              </a:rPr>
                              <m:t>𝟑</m:t>
                            </m:r>
                          </m:e>
                        </m:d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H Sarabun New" panose="020B0500040200020003" pitchFamily="34" charset="-34"/>
                          </a:rPr>
                          <m:t>𝟐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+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𝟑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)+</m:t>
                    </m:r>
                    <m:r>
                      <a:rPr lang="en-US" sz="2400" b="1" i="1">
                        <a:latin typeface="Cambria Math" panose="02040503050406030204" pitchFamily="18" charset="0"/>
                        <a:cs typeface="TH Sarabun New" panose="020B0500040200020003" pitchFamily="34" charset="-34"/>
                      </a:rPr>
                      <m:t>𝟏</m:t>
                    </m:r>
                  </m:oMath>
                </a14:m>
                <a:endParaRPr lang="en-US" sz="24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= 81 – 54 – 9 + 9 + 1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       = 28</a:t>
                </a:r>
              </a:p>
              <a:p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  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ดังนั้น เศษเหลือ คือ </a:t>
                </a:r>
                <a:r>
                  <a:rPr lang="en-US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28</a:t>
                </a: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35390A9-BD4C-71DE-F85F-58E863646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36" y="3727224"/>
                <a:ext cx="6104964" cy="1955664"/>
              </a:xfrm>
              <a:prstGeom prst="rect">
                <a:avLst/>
              </a:prstGeom>
              <a:blipFill>
                <a:blip r:embed="rId5"/>
                <a:stretch>
                  <a:fillRect l="-1497" t="-1246" b="-6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Picture 44">
            <a:extLst>
              <a:ext uri="{FF2B5EF4-FFF2-40B4-BE49-F238E27FC236}">
                <a16:creationId xmlns:a16="http://schemas.microsoft.com/office/drawing/2014/main" id="{D111D87C-74FF-E278-7A36-99B6EC9073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9271" y="5900324"/>
            <a:ext cx="3666560" cy="79034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DDCB852-BCBF-4C25-400C-4935D2B58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8305" y="3613130"/>
            <a:ext cx="590632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707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494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Cambria Math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ณัฐนันท์ ตั้งพีระสิทธิ์</cp:lastModifiedBy>
  <cp:revision>98</cp:revision>
  <dcterms:created xsi:type="dcterms:W3CDTF">2026-09-18T13:51:45Z</dcterms:created>
  <dcterms:modified xsi:type="dcterms:W3CDTF">2026-10-24T13:16:17Z</dcterms:modified>
</cp:coreProperties>
</file>