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6" r:id="rId3"/>
    <p:sldId id="287" r:id="rId4"/>
    <p:sldId id="2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AA15D04-B4AB-5CD6-576F-BB0F7BEAA9C9}"/>
              </a:ext>
            </a:extLst>
          </p:cNvPr>
          <p:cNvGrpSpPr/>
          <p:nvPr/>
        </p:nvGrpSpPr>
        <p:grpSpPr>
          <a:xfrm>
            <a:off x="2167216" y="1403579"/>
            <a:ext cx="3283329" cy="818033"/>
            <a:chOff x="2167216" y="1403579"/>
            <a:chExt cx="3283329" cy="81803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638BFD-9F99-EC69-461C-B87F1106D456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4BFA479-6E9D-5DCA-D0BB-F6D5C35AEBA3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DB48452-93A8-04E1-A304-02B6A6E03EED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E14C913-5CFA-7D28-24AA-81B362E8DFD9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A3F0D62-52C1-7647-3A69-DC9CB474A387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3548EA6-2884-DF03-E06B-8564D45916D8}"/>
                </a:ext>
              </a:extLst>
            </p:cNvPr>
            <p:cNvGrpSpPr/>
            <p:nvPr/>
          </p:nvGrpSpPr>
          <p:grpSpPr>
            <a:xfrm>
              <a:off x="2167216" y="1842852"/>
              <a:ext cx="3283329" cy="378760"/>
              <a:chOff x="2158251" y="1403579"/>
              <a:chExt cx="3283329" cy="37876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27F816E0-B9B4-8F13-DD83-DE9E33A5948E}"/>
                  </a:ext>
                </a:extLst>
              </p:cNvPr>
              <p:cNvSpPr/>
              <p:nvPr/>
            </p:nvSpPr>
            <p:spPr>
              <a:xfrm>
                <a:off x="2158251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BE1A0A46-920C-7871-2EAD-B09E911D3338}"/>
                  </a:ext>
                </a:extLst>
              </p:cNvPr>
              <p:cNvSpPr/>
              <p:nvPr/>
            </p:nvSpPr>
            <p:spPr>
              <a:xfrm>
                <a:off x="3234017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86EB80F-96C7-818A-E6D4-B3FC679694C1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00E61D4-A662-BC3F-82A6-3018B971969F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4929FD-4124-184E-4C99-B4BA6A921AE5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DE753EF-55F2-F9E2-924B-A5F8676B89CF}"/>
                  </a:ext>
                </a:extLst>
              </p:cNvPr>
              <p:cNvSpPr txBox="1"/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เลือกการดำเนินการเพื่อศึกษา            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</a:t>
                </a: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DE753EF-55F2-F9E2-924B-A5F8676B8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blipFill>
                <a:blip r:embed="rId2"/>
                <a:stretch>
                  <a:fillRect l="-806" t="-6667" b="-3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37386-0BE2-1833-08FB-B5F7E94947CA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37386-0BE2-1833-08FB-B5F7E9494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DDF7BB-CA03-3CF5-2453-BF3ACF239EB3}"/>
                  </a:ext>
                </a:extLst>
              </p:cNvPr>
              <p:cNvSpPr txBox="1"/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3              0            2	     -1		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0              -1	      4	      5		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DDF7BB-CA03-3CF5-2453-BF3ACF239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blipFill>
                <a:blip r:embed="rId4"/>
                <a:stretch>
                  <a:fillRect l="-860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43C9865E-72CD-41DD-EE76-D5288AAD529A}"/>
              </a:ext>
            </a:extLst>
          </p:cNvPr>
          <p:cNvSpPr/>
          <p:nvPr/>
        </p:nvSpPr>
        <p:spPr>
          <a:xfrm>
            <a:off x="3582145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3EB43B6-B90D-AE95-93DD-D79E9BE86835}"/>
              </a:ext>
            </a:extLst>
          </p:cNvPr>
          <p:cNvSpPr/>
          <p:nvPr/>
        </p:nvSpPr>
        <p:spPr>
          <a:xfrm>
            <a:off x="5805392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122085-D6EC-4C4D-F02D-410685C81BA1}"/>
              </a:ext>
            </a:extLst>
          </p:cNvPr>
          <p:cNvSpPr/>
          <p:nvPr/>
        </p:nvSpPr>
        <p:spPr>
          <a:xfrm>
            <a:off x="770762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D30C1AA-D2E3-DFAA-B783-626C2565EE3D}"/>
              </a:ext>
            </a:extLst>
          </p:cNvPr>
          <p:cNvSpPr/>
          <p:nvPr/>
        </p:nvSpPr>
        <p:spPr>
          <a:xfrm>
            <a:off x="3635936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BC7D5E-05D3-616D-E318-C93792920781}"/>
                  </a:ext>
                </a:extLst>
              </p:cNvPr>
              <p:cNvSpPr txBox="1"/>
              <p:nvPr/>
            </p:nvSpPr>
            <p:spPr>
              <a:xfrm>
                <a:off x="560296" y="3054267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+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dirty="0"/>
                  <a:t>) +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BC7D5E-05D3-616D-E318-C93792920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6" y="3054267"/>
                <a:ext cx="6104964" cy="470000"/>
              </a:xfrm>
              <a:prstGeom prst="rect">
                <a:avLst/>
              </a:prstGeom>
              <a:blipFill>
                <a:blip r:embed="rId5"/>
                <a:stretch>
                  <a:fillRect l="-1598" t="-5195" b="-3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3B1CE17-12E0-D259-190F-E4E7CFF2EBF1}"/>
                  </a:ext>
                </a:extLst>
              </p:cNvPr>
              <p:cNvSpPr txBox="1"/>
              <p:nvPr/>
            </p:nvSpPr>
            <p:spPr>
              <a:xfrm>
                <a:off x="783938" y="3550603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3B1CE17-12E0-D259-190F-E4E7CFF2E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38" y="3550603"/>
                <a:ext cx="6104964" cy="47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B443922-4AF0-3367-FBF2-8D33B5F5A8FD}"/>
                  </a:ext>
                </a:extLst>
              </p:cNvPr>
              <p:cNvSpPr txBox="1"/>
              <p:nvPr/>
            </p:nvSpPr>
            <p:spPr>
              <a:xfrm>
                <a:off x="742222" y="4118251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−</m:t>
                          </m:r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 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𝟒</m:t>
                      </m:r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B443922-4AF0-3367-FBF2-8D33B5F5A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2" y="4118251"/>
                <a:ext cx="6104964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0809FF2-2890-C6C8-C43B-E15501140B9C}"/>
              </a:ext>
            </a:extLst>
          </p:cNvPr>
          <p:cNvSpPr txBox="1"/>
          <p:nvPr/>
        </p:nvSpPr>
        <p:spPr>
          <a:xfrm>
            <a:off x="5202650" y="3873367"/>
            <a:ext cx="60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73941C1-8490-900B-EBC8-3589FE776B44}"/>
                  </a:ext>
                </a:extLst>
              </p:cNvPr>
              <p:cNvSpPr txBox="1"/>
              <p:nvPr/>
            </p:nvSpPr>
            <p:spPr>
              <a:xfrm>
                <a:off x="742222" y="4708687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− 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𝟒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73941C1-8490-900B-EBC8-3589FE776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2" y="4708687"/>
                <a:ext cx="6104964" cy="47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0F7174B-65DB-83DC-AA08-7890A533979F}"/>
              </a:ext>
            </a:extLst>
          </p:cNvPr>
          <p:cNvCxnSpPr/>
          <p:nvPr/>
        </p:nvCxnSpPr>
        <p:spPr>
          <a:xfrm>
            <a:off x="2519082" y="5124897"/>
            <a:ext cx="25437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1ADF50-5FF2-5A21-4FC9-7880C625B8A4}"/>
                  </a:ext>
                </a:extLst>
              </p:cNvPr>
              <p:cNvSpPr txBox="1"/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+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18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</m:oMath>
                </a14:m>
                <a:endParaRPr lang="th-TH" sz="1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b="1" dirty="0"/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ข้อสังเกต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น้อยกว่าหรือเท่ากับ ดีกรีสูงสุดระหว่าง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หรือ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เสมอ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1ADF50-5FF2-5A21-4FC9-7880C625B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blipFill>
                <a:blip r:embed="rId9"/>
                <a:stretch>
                  <a:fillRect l="-1159" t="-2186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F586-8734-A402-4C89-2B4754D5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1E7A9C5-74B4-B85D-113B-226AEFEDF722}"/>
              </a:ext>
            </a:extLst>
          </p:cNvPr>
          <p:cNvGrpSpPr/>
          <p:nvPr/>
        </p:nvGrpSpPr>
        <p:grpSpPr>
          <a:xfrm>
            <a:off x="2167216" y="1403579"/>
            <a:ext cx="3283329" cy="818033"/>
            <a:chOff x="2167216" y="1403579"/>
            <a:chExt cx="3283329" cy="81803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4D4ED0A-0D07-4C31-7F2B-0DD6C31F6954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DC7FE1F-1BEE-E115-7A33-CA18C1404EED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7BC4054-53CE-53D7-4F47-E21CB8578BE4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7135C75-5704-9629-3E1B-EF9A795F978F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11648C95-2A2F-448A-B3B0-AE754E885FBD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510EC75-493C-56DE-0548-7F393B6C3C8E}"/>
                </a:ext>
              </a:extLst>
            </p:cNvPr>
            <p:cNvGrpSpPr/>
            <p:nvPr/>
          </p:nvGrpSpPr>
          <p:grpSpPr>
            <a:xfrm>
              <a:off x="2167216" y="1842852"/>
              <a:ext cx="3283329" cy="378760"/>
              <a:chOff x="2158251" y="1403579"/>
              <a:chExt cx="3283329" cy="37876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24D7EBC6-53E3-8AB3-39DF-20188AA23359}"/>
                  </a:ext>
                </a:extLst>
              </p:cNvPr>
              <p:cNvSpPr/>
              <p:nvPr/>
            </p:nvSpPr>
            <p:spPr>
              <a:xfrm>
                <a:off x="2158251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7C0C1751-7A2D-5111-9E4C-AE14C2029126}"/>
                  </a:ext>
                </a:extLst>
              </p:cNvPr>
              <p:cNvSpPr/>
              <p:nvPr/>
            </p:nvSpPr>
            <p:spPr>
              <a:xfrm>
                <a:off x="3234017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9FB66EC-218C-1B84-53EC-EB2E11B00CBD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AC0A33F-EA0F-7C05-04B4-7753FFE05A68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D169971-761B-DD16-B9CC-F21BD883A77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04E6E-92B3-9FD2-3397-F5F37CD4317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5964-7FEE-6426-0C16-88E418650F3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FF8C54-4A6E-777F-3A0E-23218EEB9352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1E2428-3614-D8A9-9678-A96C060733BF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A3CB11F-0705-A22A-D518-1C0C79DAE644}"/>
                  </a:ext>
                </a:extLst>
              </p:cNvPr>
              <p:cNvSpPr txBox="1"/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เลือกการดำเนินการเพื่อศึกษา            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</a:t>
                </a: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A3CB11F-0705-A22A-D518-1C0C79DAE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blipFill>
                <a:blip r:embed="rId2"/>
                <a:stretch>
                  <a:fillRect l="-806" t="-6667" b="-3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7FA6E8-6674-3BA0-6812-E835438A9395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7FA6E8-6674-3BA0-6812-E835438A9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57BEEA-F231-6122-FD00-F585E822423E}"/>
                  </a:ext>
                </a:extLst>
              </p:cNvPr>
              <p:cNvSpPr txBox="1"/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3              0            2	     -1		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0              -1	      4	      5		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57BEEA-F231-6122-FD00-F585E8224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blipFill>
                <a:blip r:embed="rId4"/>
                <a:stretch>
                  <a:fillRect l="-860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47F95AA2-10D8-20FB-A453-7E35C35E363E}"/>
              </a:ext>
            </a:extLst>
          </p:cNvPr>
          <p:cNvSpPr/>
          <p:nvPr/>
        </p:nvSpPr>
        <p:spPr>
          <a:xfrm>
            <a:off x="3582145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14B7506-DC54-A13B-A6FD-FCAACD05A350}"/>
              </a:ext>
            </a:extLst>
          </p:cNvPr>
          <p:cNvSpPr/>
          <p:nvPr/>
        </p:nvSpPr>
        <p:spPr>
          <a:xfrm>
            <a:off x="5805392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646BE85-20B4-4B72-9E2D-DC50E189ED85}"/>
              </a:ext>
            </a:extLst>
          </p:cNvPr>
          <p:cNvSpPr/>
          <p:nvPr/>
        </p:nvSpPr>
        <p:spPr>
          <a:xfrm>
            <a:off x="770762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5A4CEBC-BFBA-CB8E-FE1A-E601AD220FF5}"/>
              </a:ext>
            </a:extLst>
          </p:cNvPr>
          <p:cNvSpPr/>
          <p:nvPr/>
        </p:nvSpPr>
        <p:spPr>
          <a:xfrm>
            <a:off x="5850220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B415EC-1614-D711-AF6C-3D2799370471}"/>
                  </a:ext>
                </a:extLst>
              </p:cNvPr>
              <p:cNvSpPr txBox="1"/>
              <p:nvPr/>
            </p:nvSpPr>
            <p:spPr>
              <a:xfrm>
                <a:off x="560296" y="3054267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</m:oMath>
                </a14:m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B415EC-1614-D711-AF6C-3D2799370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6" y="3054267"/>
                <a:ext cx="6104964" cy="470000"/>
              </a:xfrm>
              <a:prstGeom prst="rect">
                <a:avLst/>
              </a:prstGeom>
              <a:blipFill>
                <a:blip r:embed="rId5"/>
                <a:stretch>
                  <a:fillRect l="-1598" t="-5195" b="-3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10E5303-754B-C9DF-EEE3-BED2EEC1FD80}"/>
                  </a:ext>
                </a:extLst>
              </p:cNvPr>
              <p:cNvSpPr txBox="1"/>
              <p:nvPr/>
            </p:nvSpPr>
            <p:spPr>
              <a:xfrm>
                <a:off x="783938" y="3550603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10E5303-754B-C9DF-EEE3-BED2EEC1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38" y="3550603"/>
                <a:ext cx="6104964" cy="47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EEACAAE-C595-467E-3864-E3F013BA6463}"/>
                  </a:ext>
                </a:extLst>
              </p:cNvPr>
              <p:cNvSpPr txBox="1"/>
              <p:nvPr/>
            </p:nvSpPr>
            <p:spPr>
              <a:xfrm>
                <a:off x="742222" y="4118251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− 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𝟒</m:t>
                      </m:r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EEACAAE-C595-467E-3864-E3F013BA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2" y="4118251"/>
                <a:ext cx="6104964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00A5AD-49A1-E61A-FC79-B743632FDBEC}"/>
                  </a:ext>
                </a:extLst>
              </p:cNvPr>
              <p:cNvSpPr txBox="1"/>
              <p:nvPr/>
            </p:nvSpPr>
            <p:spPr>
              <a:xfrm>
                <a:off x="5080749" y="3873367"/>
                <a:ext cx="6027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00A5AD-49A1-E61A-FC79-B743632FD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749" y="3873367"/>
                <a:ext cx="60274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E3B9FC-7643-74BC-9A42-92C792DE3C14}"/>
                  </a:ext>
                </a:extLst>
              </p:cNvPr>
              <p:cNvSpPr txBox="1"/>
              <p:nvPr/>
            </p:nvSpPr>
            <p:spPr>
              <a:xfrm>
                <a:off x="742222" y="4708687"/>
                <a:ext cx="610496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+ </m:t>
                          </m:r>
                          <m:r>
                            <a:rPr lang="en-US" sz="2400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sz="2400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sz="2400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E3B9FC-7643-74BC-9A42-92C792DE3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2" y="4708687"/>
                <a:ext cx="6104964" cy="47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1052CEB-B488-B7F1-9FEB-D2E472AF97E7}"/>
              </a:ext>
            </a:extLst>
          </p:cNvPr>
          <p:cNvCxnSpPr/>
          <p:nvPr/>
        </p:nvCxnSpPr>
        <p:spPr>
          <a:xfrm>
            <a:off x="2519082" y="5124897"/>
            <a:ext cx="25437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57A6295-7079-3BD2-8E3C-D15DF56A47FF}"/>
                  </a:ext>
                </a:extLst>
              </p:cNvPr>
              <p:cNvSpPr txBox="1"/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</m:oMath>
                </a14:m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+ 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endParaRPr lang="th-TH" sz="1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b="1" dirty="0"/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ข้อสังเกต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น้อยกว่าหรือเท่ากับ ดีกรีสูงสุดระหว่าง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หรือ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เสมอ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57A6295-7079-3BD2-8E3C-D15DF56A4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blipFill>
                <a:blip r:embed="rId10"/>
                <a:stretch>
                  <a:fillRect l="-1159" t="-2186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5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DD8D-BF34-A7E7-3862-47AAD07C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AB810DE-B509-2228-64FA-DD731D1C7A41}"/>
              </a:ext>
            </a:extLst>
          </p:cNvPr>
          <p:cNvGrpSpPr/>
          <p:nvPr/>
        </p:nvGrpSpPr>
        <p:grpSpPr>
          <a:xfrm>
            <a:off x="2167216" y="1403579"/>
            <a:ext cx="3283329" cy="818033"/>
            <a:chOff x="2167216" y="1403579"/>
            <a:chExt cx="3283329" cy="81803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3953C9-590F-B8C9-47FB-ED25FDFEFAF2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D24024C-F575-10B1-109C-8CD830DA622B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CC50FB7-6F14-2043-45BE-9D6096CAC532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20DDA79-BA18-767B-EB1C-712BDCBA58E2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955C488-C362-6B12-19FE-2C57E9F69AF1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95CE765-5325-9ED1-1869-78C18F544075}"/>
                </a:ext>
              </a:extLst>
            </p:cNvPr>
            <p:cNvGrpSpPr/>
            <p:nvPr/>
          </p:nvGrpSpPr>
          <p:grpSpPr>
            <a:xfrm>
              <a:off x="2167216" y="1842852"/>
              <a:ext cx="3283329" cy="378760"/>
              <a:chOff x="2158251" y="1403579"/>
              <a:chExt cx="3283329" cy="37876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C7E6F09D-A0A0-88E9-7DC4-150F81A8EF31}"/>
                  </a:ext>
                </a:extLst>
              </p:cNvPr>
              <p:cNvSpPr/>
              <p:nvPr/>
            </p:nvSpPr>
            <p:spPr>
              <a:xfrm>
                <a:off x="2158251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D7BF6EB9-6CF9-AF88-BE48-8AD662EB1A5C}"/>
                  </a:ext>
                </a:extLst>
              </p:cNvPr>
              <p:cNvSpPr/>
              <p:nvPr/>
            </p:nvSpPr>
            <p:spPr>
              <a:xfrm>
                <a:off x="3234017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322552AC-61F8-1F5A-CB4A-BCCB5A1CD29D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9BFA26A-F4FF-483D-B4BE-A8031409C935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D04B166-54A0-2F0E-ACCD-C16EDA82862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5CA82-3A46-6CB2-D938-480166A1528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678FAF-CF9A-C11D-3B93-EAE6AB734FA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731280-4F1C-137D-DFFA-7813C175B957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F22D84-47D9-8A6D-E1A3-D0283D612362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DC72B9C-BF4F-9C71-71DE-FBE58A5F684C}"/>
                  </a:ext>
                </a:extLst>
              </p:cNvPr>
              <p:cNvSpPr txBox="1"/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เลือกการดำเนินการเพื่อศึกษา            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</a:t>
                </a: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DC72B9C-BF4F-9C71-71DE-FBE58A5F6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blipFill>
                <a:blip r:embed="rId2"/>
                <a:stretch>
                  <a:fillRect l="-806" t="-6667" b="-3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BA109A-B9E9-823B-7FCF-DB15A5B0DA52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BA109A-B9E9-823B-7FCF-DB15A5B0D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FBBE15-D4F5-A237-2009-E676D2109D6F}"/>
                  </a:ext>
                </a:extLst>
              </p:cNvPr>
              <p:cNvSpPr txBox="1"/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  0            2	     -1		P(x)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0              1	      4	      5		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FBBE15-D4F5-A237-2009-E676D2109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blipFill>
                <a:blip r:embed="rId4"/>
                <a:stretch>
                  <a:fillRect l="-860"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C3DFCF27-6AF4-20E1-48E0-D671BE77A97B}"/>
              </a:ext>
            </a:extLst>
          </p:cNvPr>
          <p:cNvSpPr/>
          <p:nvPr/>
        </p:nvSpPr>
        <p:spPr>
          <a:xfrm>
            <a:off x="3582145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5B9C65F-6068-D566-DD7D-E39E8E1BD229}"/>
              </a:ext>
            </a:extLst>
          </p:cNvPr>
          <p:cNvSpPr/>
          <p:nvPr/>
        </p:nvSpPr>
        <p:spPr>
          <a:xfrm>
            <a:off x="5805392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BBEA2D-0E97-FF9C-8776-D64DBEEF822C}"/>
              </a:ext>
            </a:extLst>
          </p:cNvPr>
          <p:cNvSpPr/>
          <p:nvPr/>
        </p:nvSpPr>
        <p:spPr>
          <a:xfrm>
            <a:off x="770762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B366D9-AB1C-FD31-0AB8-860598F74D30}"/>
              </a:ext>
            </a:extLst>
          </p:cNvPr>
          <p:cNvSpPr/>
          <p:nvPr/>
        </p:nvSpPr>
        <p:spPr>
          <a:xfrm>
            <a:off x="7750741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F63B3F-695F-DE47-9EB3-0D04AE5AC455}"/>
                  </a:ext>
                </a:extLst>
              </p:cNvPr>
              <p:cNvSpPr txBox="1"/>
              <p:nvPr/>
            </p:nvSpPr>
            <p:spPr>
              <a:xfrm>
                <a:off x="560296" y="3054267"/>
                <a:ext cx="10968316" cy="2296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	= (   2x   –   1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dirty="0"/>
                  <a:t>)(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</m:oMath>
                </a14:m>
                <a:r>
                  <a:rPr lang="en-US" dirty="0"/>
                  <a:t>)</a:t>
                </a:r>
                <a:endParaRPr lang="th-TH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</m:oMath>
                </a14:m>
                <a:r>
                  <a:rPr lang="en-US" dirty="0"/>
                  <a:t>) +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 </a:t>
                </a:r>
                <a:r>
                  <a:rPr lang="en-US" dirty="0"/>
                  <a:t>4x</a:t>
                </a:r>
                <a:r>
                  <a:rPr lang="th-TH" dirty="0"/>
                  <a:t>  </a:t>
                </a:r>
                <a:r>
                  <a:rPr lang="en-US" dirty="0"/>
                  <a:t>) +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</a:t>
                </a:r>
                <a:r>
                  <a:rPr lang="en-US" dirty="0"/>
                  <a:t> </a:t>
                </a:r>
                <a:r>
                  <a:rPr lang="th-TH" dirty="0"/>
                  <a:t> </a:t>
                </a:r>
                <a:r>
                  <a:rPr lang="en-US" dirty="0"/>
                  <a:t>5</a:t>
                </a:r>
                <a:r>
                  <a:rPr lang="th-TH" dirty="0"/>
                  <a:t> </a:t>
                </a:r>
                <a:r>
                  <a:rPr lang="en-US" dirty="0"/>
                  <a:t> </a:t>
                </a:r>
                <a:r>
                  <a:rPr lang="th-TH" dirty="0"/>
                  <a:t> </a:t>
                </a:r>
                <a:r>
                  <a:rPr lang="en-US" dirty="0"/>
                  <a:t>) + (  </a:t>
                </a:r>
                <a:r>
                  <a:rPr lang="th-TH" dirty="0"/>
                  <a:t> 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  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  <a:r>
                  <a:rPr lang="th-TH" dirty="0"/>
                  <a:t>  </a:t>
                </a:r>
                <a:r>
                  <a:rPr lang="en-US" dirty="0"/>
                  <a:t>) + (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4x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 + (  </a:t>
                </a:r>
                <a:r>
                  <a:rPr lang="th-TH" dirty="0"/>
                  <a:t> 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  </a:t>
                </a:r>
                <a:r>
                  <a:rPr lang="th-TH" dirty="0"/>
                  <a:t>  </a:t>
                </a:r>
                <a:r>
                  <a:rPr lang="en-US" dirty="0"/>
                  <a:t>5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+ 10x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– 4x – 5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(8 – 1)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(10 – 4)x – 5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+ 6x – 5 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F63B3F-695F-DE47-9EB3-0D04AE5AC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6" y="3054267"/>
                <a:ext cx="10968316" cy="2296463"/>
              </a:xfrm>
              <a:prstGeom prst="rect">
                <a:avLst/>
              </a:prstGeom>
              <a:blipFill>
                <a:blip r:embed="rId5"/>
                <a:stretch>
                  <a:fillRect l="-889" b="-3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B9B64A9-5285-F6EB-3CA0-A749C5DA0979}"/>
                  </a:ext>
                </a:extLst>
              </p:cNvPr>
              <p:cNvSpPr txBox="1"/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en-US" sz="2400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dirty="0"/>
                  <a:t> + 7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dirty="0"/>
                  <a:t> + 6x – 5</a:t>
                </a:r>
              </a:p>
              <a:p>
                <a:endParaRPr lang="th-TH" b="1" dirty="0"/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ข้อสังเกต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เท่ากับ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คูณกับดีกรีของ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เสมอ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B9B64A9-5285-F6EB-3CA0-A749C5DA0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blipFill>
                <a:blip r:embed="rId6"/>
                <a:stretch>
                  <a:fillRect l="-1159" t="-601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A46B44-49D6-85B5-906D-A6FFF57AF1CB}"/>
              </a:ext>
            </a:extLst>
          </p:cNvPr>
          <p:cNvSpPr/>
          <p:nvPr/>
        </p:nvSpPr>
        <p:spPr>
          <a:xfrm>
            <a:off x="1837765" y="3689868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A849D1-BDD7-1956-91B1-D8D946621E1E}"/>
              </a:ext>
            </a:extLst>
          </p:cNvPr>
          <p:cNvSpPr/>
          <p:nvPr/>
        </p:nvSpPr>
        <p:spPr>
          <a:xfrm>
            <a:off x="3119722" y="3707796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20106F-AE05-844C-D9EC-36B61A6931A7}"/>
              </a:ext>
            </a:extLst>
          </p:cNvPr>
          <p:cNvSpPr/>
          <p:nvPr/>
        </p:nvSpPr>
        <p:spPr>
          <a:xfrm>
            <a:off x="4383739" y="3707796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1F6173-C3AC-952E-FDC5-EE854F333D24}"/>
              </a:ext>
            </a:extLst>
          </p:cNvPr>
          <p:cNvSpPr/>
          <p:nvPr/>
        </p:nvSpPr>
        <p:spPr>
          <a:xfrm>
            <a:off x="1990165" y="3214740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423E68-95F4-2B36-3476-5729F6A5BBCF}"/>
              </a:ext>
            </a:extLst>
          </p:cNvPr>
          <p:cNvSpPr/>
          <p:nvPr/>
        </p:nvSpPr>
        <p:spPr>
          <a:xfrm>
            <a:off x="2653552" y="3221142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84F4FA-C08F-8876-78B7-EC42CF9F0927}"/>
              </a:ext>
            </a:extLst>
          </p:cNvPr>
          <p:cNvSpPr/>
          <p:nvPr/>
        </p:nvSpPr>
        <p:spPr>
          <a:xfrm>
            <a:off x="5670130" y="3704288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60CA4C-3EDB-83C5-0430-65126C42DA57}"/>
              </a:ext>
            </a:extLst>
          </p:cNvPr>
          <p:cNvSpPr/>
          <p:nvPr/>
        </p:nvSpPr>
        <p:spPr>
          <a:xfrm>
            <a:off x="7270379" y="3696271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E01133-F5D5-EF96-42D7-D082D48415D4}"/>
              </a:ext>
            </a:extLst>
          </p:cNvPr>
          <p:cNvSpPr/>
          <p:nvPr/>
        </p:nvSpPr>
        <p:spPr>
          <a:xfrm>
            <a:off x="8839198" y="3687307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333D674-707D-03C1-3541-60D4F3570AC5}"/>
              </a:ext>
            </a:extLst>
          </p:cNvPr>
          <p:cNvSpPr/>
          <p:nvPr/>
        </p:nvSpPr>
        <p:spPr>
          <a:xfrm>
            <a:off x="3186880" y="3232192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ADB16F-A835-3E0D-340C-95CA5D033CAE}"/>
              </a:ext>
            </a:extLst>
          </p:cNvPr>
          <p:cNvSpPr/>
          <p:nvPr/>
        </p:nvSpPr>
        <p:spPr>
          <a:xfrm>
            <a:off x="2353159" y="3698359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64386D0-1B99-AE14-1EA5-1D7EADBB0394}"/>
              </a:ext>
            </a:extLst>
          </p:cNvPr>
          <p:cNvSpPr/>
          <p:nvPr/>
        </p:nvSpPr>
        <p:spPr>
          <a:xfrm>
            <a:off x="6351419" y="3689392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4DD1951-F37C-047D-3546-AB1349B08892}"/>
              </a:ext>
            </a:extLst>
          </p:cNvPr>
          <p:cNvSpPr/>
          <p:nvPr/>
        </p:nvSpPr>
        <p:spPr>
          <a:xfrm>
            <a:off x="3904056" y="3208449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E7679D3-1834-8237-9BD0-71DED123D444}"/>
              </a:ext>
            </a:extLst>
          </p:cNvPr>
          <p:cNvSpPr/>
          <p:nvPr/>
        </p:nvSpPr>
        <p:spPr>
          <a:xfrm>
            <a:off x="3644079" y="3701509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F6BBEE5-7EB9-7522-7EC6-EBEBBA50B5B7}"/>
              </a:ext>
            </a:extLst>
          </p:cNvPr>
          <p:cNvSpPr/>
          <p:nvPr/>
        </p:nvSpPr>
        <p:spPr>
          <a:xfrm>
            <a:off x="7965066" y="3683581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7EF6695-4BA4-A754-CDFB-9DD1E398DEBC}"/>
              </a:ext>
            </a:extLst>
          </p:cNvPr>
          <p:cNvSpPr/>
          <p:nvPr/>
        </p:nvSpPr>
        <p:spPr>
          <a:xfrm>
            <a:off x="4585375" y="3226380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AA63D40-9848-5B36-2014-DF9798686E3C}"/>
              </a:ext>
            </a:extLst>
          </p:cNvPr>
          <p:cNvSpPr/>
          <p:nvPr/>
        </p:nvSpPr>
        <p:spPr>
          <a:xfrm>
            <a:off x="4899141" y="3710476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C79C2C5-E123-25E2-CD58-5CD8E65C67AB}"/>
              </a:ext>
            </a:extLst>
          </p:cNvPr>
          <p:cNvSpPr/>
          <p:nvPr/>
        </p:nvSpPr>
        <p:spPr>
          <a:xfrm>
            <a:off x="9533891" y="3683581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5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200E8-E542-C78F-9643-8DB8C6BE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B4F5E06-343B-3C7D-C793-951AA6C7E87D}"/>
              </a:ext>
            </a:extLst>
          </p:cNvPr>
          <p:cNvGrpSpPr/>
          <p:nvPr/>
        </p:nvGrpSpPr>
        <p:grpSpPr>
          <a:xfrm>
            <a:off x="2167216" y="1403579"/>
            <a:ext cx="3283329" cy="818033"/>
            <a:chOff x="2167216" y="1403579"/>
            <a:chExt cx="3283329" cy="81803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11B999A-6F74-8FEE-87A7-D88824492915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44701D0-B173-FAFD-5FB7-06F2830F942D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47BCF7F-DBD7-3EB9-6C75-C9F25B6482EC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0E20570-5FE5-EA6B-E3F8-83F5E28FCF31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BD718108-536C-DDC9-A595-09EACB6DE5FE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C036C85-05C2-3A6F-C0BB-5F13DE04F423}"/>
                </a:ext>
              </a:extLst>
            </p:cNvPr>
            <p:cNvGrpSpPr/>
            <p:nvPr/>
          </p:nvGrpSpPr>
          <p:grpSpPr>
            <a:xfrm>
              <a:off x="2167216" y="1842852"/>
              <a:ext cx="3283329" cy="378760"/>
              <a:chOff x="2158251" y="1403579"/>
              <a:chExt cx="3283329" cy="37876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BF0A1B6-A356-27E1-564B-0525E3DE39AF}"/>
                  </a:ext>
                </a:extLst>
              </p:cNvPr>
              <p:cNvSpPr/>
              <p:nvPr/>
            </p:nvSpPr>
            <p:spPr>
              <a:xfrm>
                <a:off x="2158251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D18BCDAA-9F34-5E2D-7E7F-90813B34DBD4}"/>
                  </a:ext>
                </a:extLst>
              </p:cNvPr>
              <p:cNvSpPr/>
              <p:nvPr/>
            </p:nvSpPr>
            <p:spPr>
              <a:xfrm>
                <a:off x="3234017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2CDF3C3-927B-DF1D-8379-10F0375FD543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E12D600-AB92-B0EE-DD5F-AB78F1B214CE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A007A7A-DC2B-CAC2-E630-5BA70BD6694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6AE84-F42E-68AE-6C9B-55100758CC3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B56AF6-8819-4FCD-B515-55A246722FA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FB6AB44-938B-5AD0-6598-828313BC3B1D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1549E8-832E-E1ED-A435-CC94DFC45D2D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587AF3-92B4-99C8-BA02-1C24F23120E2}"/>
                  </a:ext>
                </a:extLst>
              </p:cNvPr>
              <p:cNvSpPr txBox="1"/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เลือกการดำเนินการเพื่อศึกษา            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+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Q(x)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</a:t>
                </a: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587AF3-92B4-99C8-BA02-1C24F2312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8" y="2406356"/>
                <a:ext cx="11342917" cy="461665"/>
              </a:xfrm>
              <a:prstGeom prst="rect">
                <a:avLst/>
              </a:prstGeom>
              <a:blipFill>
                <a:blip r:embed="rId2"/>
                <a:stretch>
                  <a:fillRect l="-806" t="-6667" b="-3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A50614-08B1-AA1E-681F-4E2B52BE0263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A50614-08B1-AA1E-681F-4E2B52BE0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4B7805-0A3B-9A28-1AA9-E97E81061381}"/>
                  </a:ext>
                </a:extLst>
              </p:cNvPr>
              <p:cNvSpPr txBox="1"/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  0            2	     -1		P(x)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0              1	      4	      5		Q(x)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4B7805-0A3B-9A28-1AA9-E97E8106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7" y="1099343"/>
                <a:ext cx="10630135" cy="1225335"/>
              </a:xfrm>
              <a:prstGeom prst="rect">
                <a:avLst/>
              </a:prstGeom>
              <a:blipFill>
                <a:blip r:embed="rId4"/>
                <a:stretch>
                  <a:fillRect l="-860"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7A72655F-EDD5-C309-12A6-F2984826C9CC}"/>
              </a:ext>
            </a:extLst>
          </p:cNvPr>
          <p:cNvSpPr/>
          <p:nvPr/>
        </p:nvSpPr>
        <p:spPr>
          <a:xfrm>
            <a:off x="3582145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F9D87B-87D3-D3E2-3F08-8C6C2E405929}"/>
              </a:ext>
            </a:extLst>
          </p:cNvPr>
          <p:cNvSpPr/>
          <p:nvPr/>
        </p:nvSpPr>
        <p:spPr>
          <a:xfrm>
            <a:off x="5805392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3633F75-9D87-266A-0A12-463EC296239E}"/>
              </a:ext>
            </a:extLst>
          </p:cNvPr>
          <p:cNvSpPr/>
          <p:nvPr/>
        </p:nvSpPr>
        <p:spPr>
          <a:xfrm>
            <a:off x="770762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AA8F8EC-5EA4-F83C-485A-B0651521882B}"/>
              </a:ext>
            </a:extLst>
          </p:cNvPr>
          <p:cNvSpPr/>
          <p:nvPr/>
        </p:nvSpPr>
        <p:spPr>
          <a:xfrm>
            <a:off x="7750741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399178A-F121-CA71-6751-FBB5F48EC4B4}"/>
                  </a:ext>
                </a:extLst>
              </p:cNvPr>
              <p:cNvSpPr txBox="1"/>
              <p:nvPr/>
            </p:nvSpPr>
            <p:spPr>
              <a:xfrm>
                <a:off x="560296" y="3054267"/>
                <a:ext cx="10968316" cy="2296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	= (   2x   –   1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dirty="0"/>
                  <a:t>)(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</m:oMath>
                </a14:m>
                <a:r>
                  <a:rPr lang="en-US" dirty="0"/>
                  <a:t>)</a:t>
                </a:r>
                <a:endParaRPr lang="th-TH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</m:t>
                    </m:r>
                  </m:oMath>
                </a14:m>
                <a:r>
                  <a:rPr lang="en-US" dirty="0"/>
                  <a:t>) +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 </a:t>
                </a:r>
                <a:r>
                  <a:rPr lang="en-US" dirty="0"/>
                  <a:t>4x</a:t>
                </a:r>
                <a:r>
                  <a:rPr lang="th-TH" dirty="0"/>
                  <a:t>  </a:t>
                </a:r>
                <a:r>
                  <a:rPr lang="en-US" dirty="0"/>
                  <a:t>) + (</a:t>
                </a:r>
                <a:r>
                  <a:rPr lang="th-TH" dirty="0"/>
                  <a:t>  </a:t>
                </a:r>
                <a:r>
                  <a:rPr lang="en-US" dirty="0"/>
                  <a:t>2x</a:t>
                </a:r>
                <a:r>
                  <a:rPr lang="th-TH" dirty="0"/>
                  <a:t>  </a:t>
                </a:r>
                <a:r>
                  <a:rPr lang="en-US" dirty="0"/>
                  <a:t>)(</a:t>
                </a:r>
                <a:r>
                  <a:rPr lang="th-TH" dirty="0"/>
                  <a:t> </a:t>
                </a:r>
                <a:r>
                  <a:rPr lang="en-US" dirty="0"/>
                  <a:t> </a:t>
                </a:r>
                <a:r>
                  <a:rPr lang="th-TH" dirty="0"/>
                  <a:t> </a:t>
                </a:r>
                <a:r>
                  <a:rPr lang="en-US" dirty="0"/>
                  <a:t>5</a:t>
                </a:r>
                <a:r>
                  <a:rPr lang="th-TH" dirty="0"/>
                  <a:t> </a:t>
                </a:r>
                <a:r>
                  <a:rPr lang="en-US" dirty="0"/>
                  <a:t> </a:t>
                </a:r>
                <a:r>
                  <a:rPr lang="th-TH" dirty="0"/>
                  <a:t> </a:t>
                </a:r>
                <a:r>
                  <a:rPr lang="en-US" dirty="0"/>
                  <a:t>) + (  </a:t>
                </a:r>
                <a:r>
                  <a:rPr lang="th-TH" dirty="0"/>
                  <a:t> 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  </a:t>
                </a:r>
                <a:r>
                  <a:rPr lang="th-TH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  <a:r>
                  <a:rPr lang="th-TH" dirty="0"/>
                  <a:t>  </a:t>
                </a:r>
                <a:r>
                  <a:rPr lang="en-US" dirty="0"/>
                  <a:t>) + (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4x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 + (  </a:t>
                </a:r>
                <a:r>
                  <a:rPr lang="th-TH" dirty="0"/>
                  <a:t>  </a:t>
                </a:r>
                <a:r>
                  <a:rPr lang="en-US" dirty="0"/>
                  <a:t>-1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)(  </a:t>
                </a:r>
                <a:r>
                  <a:rPr lang="th-TH" dirty="0"/>
                  <a:t>  </a:t>
                </a:r>
                <a:r>
                  <a:rPr lang="en-US" dirty="0"/>
                  <a:t>5</a:t>
                </a:r>
                <a:r>
                  <a:rPr lang="th-TH" dirty="0"/>
                  <a:t> </a:t>
                </a:r>
                <a:r>
                  <a:rPr lang="en-US" dirty="0"/>
                  <a:t>  </a:t>
                </a:r>
                <a:r>
                  <a:rPr lang="th-TH" dirty="0"/>
                  <a:t> </a:t>
                </a:r>
                <a:r>
                  <a:rPr lang="en-US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+ 10x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– 4x – 5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(8 – 1)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(10 – 4)x – 5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/>
                  <a:t> + 7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+ 6x – 5 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399178A-F121-CA71-6751-FBB5F48EC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6" y="3054267"/>
                <a:ext cx="10968316" cy="2296463"/>
              </a:xfrm>
              <a:prstGeom prst="rect">
                <a:avLst/>
              </a:prstGeom>
              <a:blipFill>
                <a:blip r:embed="rId5"/>
                <a:stretch>
                  <a:fillRect l="-889" b="-3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448BEC-FEC0-A805-EBFC-BA6F83EAD292}"/>
                  </a:ext>
                </a:extLst>
              </p:cNvPr>
              <p:cNvSpPr txBox="1"/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en-US" sz="2400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dirty="0"/>
                  <a:t> + 7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dirty="0"/>
                  <a:t> + 6x – 5</a:t>
                </a:r>
              </a:p>
              <a:p>
                <a:endParaRPr lang="th-TH" b="1" dirty="0"/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ข้อสังเกต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∙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เท่ากับ 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คูณกับดีกรีของ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เสมอ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448BEC-FEC0-A805-EBFC-BA6F83EAD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62" y="5541108"/>
                <a:ext cx="8416219" cy="1116331"/>
              </a:xfrm>
              <a:prstGeom prst="rect">
                <a:avLst/>
              </a:prstGeom>
              <a:blipFill>
                <a:blip r:embed="rId6"/>
                <a:stretch>
                  <a:fillRect l="-1159" t="-601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68864B-74B9-C3A6-D571-EFFE6912AD6A}"/>
              </a:ext>
            </a:extLst>
          </p:cNvPr>
          <p:cNvSpPr/>
          <p:nvPr/>
        </p:nvSpPr>
        <p:spPr>
          <a:xfrm>
            <a:off x="1837765" y="3689868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B1D779-3F3E-3ECA-AC6B-03C831835C4F}"/>
              </a:ext>
            </a:extLst>
          </p:cNvPr>
          <p:cNvSpPr/>
          <p:nvPr/>
        </p:nvSpPr>
        <p:spPr>
          <a:xfrm>
            <a:off x="3119722" y="3707796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9EA751-6CE3-193A-0D0E-C9228D0708A3}"/>
              </a:ext>
            </a:extLst>
          </p:cNvPr>
          <p:cNvSpPr/>
          <p:nvPr/>
        </p:nvSpPr>
        <p:spPr>
          <a:xfrm>
            <a:off x="4383739" y="3707796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E26958-38AA-8734-2060-E3225B15126F}"/>
              </a:ext>
            </a:extLst>
          </p:cNvPr>
          <p:cNvSpPr/>
          <p:nvPr/>
        </p:nvSpPr>
        <p:spPr>
          <a:xfrm>
            <a:off x="1990165" y="3214740"/>
            <a:ext cx="349704" cy="349704"/>
          </a:xfrm>
          <a:prstGeom prst="roundRect">
            <a:avLst/>
          </a:prstGeom>
          <a:solidFill>
            <a:srgbClr val="D9F2D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4ACB90-E2BB-6EF1-61FF-D5812AD927B7}"/>
              </a:ext>
            </a:extLst>
          </p:cNvPr>
          <p:cNvSpPr/>
          <p:nvPr/>
        </p:nvSpPr>
        <p:spPr>
          <a:xfrm>
            <a:off x="2653552" y="3221142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07D26F-F5A9-F092-4330-98BE44C4A4E3}"/>
              </a:ext>
            </a:extLst>
          </p:cNvPr>
          <p:cNvSpPr/>
          <p:nvPr/>
        </p:nvSpPr>
        <p:spPr>
          <a:xfrm>
            <a:off x="5670130" y="3704288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610815-DC50-ABE9-05F1-83158C20F481}"/>
              </a:ext>
            </a:extLst>
          </p:cNvPr>
          <p:cNvSpPr/>
          <p:nvPr/>
        </p:nvSpPr>
        <p:spPr>
          <a:xfrm>
            <a:off x="7270379" y="3696271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A1CF39F-5EB1-F98B-64EA-8AC01BE479FB}"/>
              </a:ext>
            </a:extLst>
          </p:cNvPr>
          <p:cNvSpPr/>
          <p:nvPr/>
        </p:nvSpPr>
        <p:spPr>
          <a:xfrm>
            <a:off x="8839198" y="3687307"/>
            <a:ext cx="349704" cy="34970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C3A674B-6C4A-077D-D413-BA9974BF8B90}"/>
              </a:ext>
            </a:extLst>
          </p:cNvPr>
          <p:cNvSpPr/>
          <p:nvPr/>
        </p:nvSpPr>
        <p:spPr>
          <a:xfrm>
            <a:off x="3186880" y="3232192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49AED92-6272-C2F9-8DB7-3347CD0F4CB6}"/>
              </a:ext>
            </a:extLst>
          </p:cNvPr>
          <p:cNvSpPr/>
          <p:nvPr/>
        </p:nvSpPr>
        <p:spPr>
          <a:xfrm>
            <a:off x="2353159" y="3698359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18B6E7C-A960-BC54-41F4-E3BBFF495AEA}"/>
              </a:ext>
            </a:extLst>
          </p:cNvPr>
          <p:cNvSpPr/>
          <p:nvPr/>
        </p:nvSpPr>
        <p:spPr>
          <a:xfrm>
            <a:off x="6351419" y="3689392"/>
            <a:ext cx="349704" cy="3497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6956AE8-5DCC-7F27-8BC4-6D74D6A561F2}"/>
              </a:ext>
            </a:extLst>
          </p:cNvPr>
          <p:cNvSpPr/>
          <p:nvPr/>
        </p:nvSpPr>
        <p:spPr>
          <a:xfrm>
            <a:off x="3904056" y="3208449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7CF7A92-7694-ABE0-A58E-B6334075F8D5}"/>
              </a:ext>
            </a:extLst>
          </p:cNvPr>
          <p:cNvSpPr/>
          <p:nvPr/>
        </p:nvSpPr>
        <p:spPr>
          <a:xfrm>
            <a:off x="3644079" y="3701509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54BB6FC-CEF9-0983-403B-7C113960D056}"/>
              </a:ext>
            </a:extLst>
          </p:cNvPr>
          <p:cNvSpPr/>
          <p:nvPr/>
        </p:nvSpPr>
        <p:spPr>
          <a:xfrm>
            <a:off x="7965066" y="3683581"/>
            <a:ext cx="349704" cy="34970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E846E9A-CE6B-44A1-2650-500911C49142}"/>
              </a:ext>
            </a:extLst>
          </p:cNvPr>
          <p:cNvSpPr/>
          <p:nvPr/>
        </p:nvSpPr>
        <p:spPr>
          <a:xfrm>
            <a:off x="4585375" y="3226380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9AEF7B8-BF0A-D2CE-46A6-2DCBDDCB35C8}"/>
              </a:ext>
            </a:extLst>
          </p:cNvPr>
          <p:cNvSpPr/>
          <p:nvPr/>
        </p:nvSpPr>
        <p:spPr>
          <a:xfrm>
            <a:off x="4899141" y="3710476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300B936-677E-8A22-605F-4E417D0186D2}"/>
              </a:ext>
            </a:extLst>
          </p:cNvPr>
          <p:cNvSpPr/>
          <p:nvPr/>
        </p:nvSpPr>
        <p:spPr>
          <a:xfrm>
            <a:off x="9533891" y="3683581"/>
            <a:ext cx="349704" cy="34970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DEDC9510-FA66-9C9A-81B7-CA1C9FAA3E6A}"/>
              </a:ext>
            </a:extLst>
          </p:cNvPr>
          <p:cNvSpPr/>
          <p:nvPr/>
        </p:nvSpPr>
        <p:spPr>
          <a:xfrm>
            <a:off x="2187469" y="2986259"/>
            <a:ext cx="1156366" cy="275224"/>
          </a:xfrm>
          <a:prstGeom prst="arc">
            <a:avLst>
              <a:gd name="adj1" fmla="val 10713698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2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928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63</cp:revision>
  <dcterms:created xsi:type="dcterms:W3CDTF">2026-09-18T13:51:45Z</dcterms:created>
  <dcterms:modified xsi:type="dcterms:W3CDTF">2026-10-24T07:12:13Z</dcterms:modified>
</cp:coreProperties>
</file>