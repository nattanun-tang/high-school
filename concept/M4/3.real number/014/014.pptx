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6" r:id="rId2"/>
    <p:sldId id="256" r:id="rId3"/>
    <p:sldId id="277" r:id="rId4"/>
    <p:sldId id="278" r:id="rId5"/>
    <p:sldId id="279" r:id="rId6"/>
    <p:sldId id="280" r:id="rId7"/>
    <p:sldId id="281" r:id="rId8"/>
    <p:sldId id="282" r:id="rId9"/>
    <p:sldId id="283" r:id="rId10"/>
    <p:sldId id="284" r:id="rId11"/>
    <p:sldId id="28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8E8E8"/>
    <a:srgbClr val="4E95D9"/>
    <a:srgbClr val="18202A"/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DD5DF61-D1E6-4A7F-9880-765BC9AFAAA4}" v="165" dt="2026-09-18T15:40:32.41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533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43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ttanun Tangpeerasit (Maths) Lap" userId="1ad6559d-3a93-42e6-9288-bf73492e1b2c" providerId="ADAL" clId="{214CD14F-CFF7-41F3-8FAD-E1DC02D8708B}"/>
    <pc:docChg chg="modSld">
      <pc:chgData name="Nattanun Tangpeerasit (Maths) Lap" userId="1ad6559d-3a93-42e6-9288-bf73492e1b2c" providerId="ADAL" clId="{214CD14F-CFF7-41F3-8FAD-E1DC02D8708B}" dt="2026-09-19T12:23:33.756" v="160" actId="1076"/>
      <pc:docMkLst>
        <pc:docMk/>
      </pc:docMkLst>
      <pc:sldChg chg="addSp modSp mod setBg">
        <pc:chgData name="Nattanun Tangpeerasit (Maths) Lap" userId="1ad6559d-3a93-42e6-9288-bf73492e1b2c" providerId="ADAL" clId="{214CD14F-CFF7-41F3-8FAD-E1DC02D8708B}" dt="2026-09-19T12:23:33.756" v="160" actId="1076"/>
        <pc:sldMkLst>
          <pc:docMk/>
          <pc:sldMk cId="2080722355" sldId="256"/>
        </pc:sldMkLst>
        <pc:spChg chg="mod">
          <ac:chgData name="Nattanun Tangpeerasit (Maths) Lap" userId="1ad6559d-3a93-42e6-9288-bf73492e1b2c" providerId="ADAL" clId="{214CD14F-CFF7-41F3-8FAD-E1DC02D8708B}" dt="2026-09-19T12:23:33.756" v="160" actId="1076"/>
          <ac:spMkLst>
            <pc:docMk/>
            <pc:sldMk cId="2080722355" sldId="256"/>
            <ac:spMk id="11" creationId="{1CE167D6-5ED8-1684-7B8B-077DFA4A9987}"/>
          </ac:spMkLst>
        </pc:spChg>
        <pc:spChg chg="mod">
          <ac:chgData name="Nattanun Tangpeerasit (Maths) Lap" userId="1ad6559d-3a93-42e6-9288-bf73492e1b2c" providerId="ADAL" clId="{214CD14F-CFF7-41F3-8FAD-E1DC02D8708B}" dt="2026-09-18T14:06:17.048" v="2" actId="164"/>
          <ac:spMkLst>
            <pc:docMk/>
            <pc:sldMk cId="2080722355" sldId="256"/>
            <ac:spMk id="62" creationId="{2C83EF16-B483-311A-7A4B-C292AFE0F180}"/>
          </ac:spMkLst>
        </pc:spChg>
        <pc:spChg chg="mod">
          <ac:chgData name="Nattanun Tangpeerasit (Maths) Lap" userId="1ad6559d-3a93-42e6-9288-bf73492e1b2c" providerId="ADAL" clId="{214CD14F-CFF7-41F3-8FAD-E1DC02D8708B}" dt="2026-09-18T14:06:17.048" v="2" actId="164"/>
          <ac:spMkLst>
            <pc:docMk/>
            <pc:sldMk cId="2080722355" sldId="256"/>
            <ac:spMk id="64" creationId="{0612118D-B051-7363-FC53-9ABF91ED3A6E}"/>
          </ac:spMkLst>
        </pc:spChg>
        <pc:spChg chg="add mod">
          <ac:chgData name="Nattanun Tangpeerasit (Maths) Lap" userId="1ad6559d-3a93-42e6-9288-bf73492e1b2c" providerId="ADAL" clId="{214CD14F-CFF7-41F3-8FAD-E1DC02D8708B}" dt="2026-09-18T14:07:15.645" v="7" actId="20577"/>
          <ac:spMkLst>
            <pc:docMk/>
            <pc:sldMk cId="2080722355" sldId="256"/>
            <ac:spMk id="66" creationId="{FBD30F72-7CFC-29E2-2DCA-FF0E8FAA7351}"/>
          </ac:spMkLst>
        </pc:spChg>
        <pc:spChg chg="mod">
          <ac:chgData name="Nattanun Tangpeerasit (Maths) Lap" userId="1ad6559d-3a93-42e6-9288-bf73492e1b2c" providerId="ADAL" clId="{214CD14F-CFF7-41F3-8FAD-E1DC02D8708B}" dt="2026-09-18T14:07:26.358" v="9" actId="20577"/>
          <ac:spMkLst>
            <pc:docMk/>
            <pc:sldMk cId="2080722355" sldId="256"/>
            <ac:spMk id="68" creationId="{0F2C3C05-8DBE-6CB5-B403-FBE1D67323FC}"/>
          </ac:spMkLst>
        </pc:spChg>
        <pc:spChg chg="mod">
          <ac:chgData name="Nattanun Tangpeerasit (Maths) Lap" userId="1ad6559d-3a93-42e6-9288-bf73492e1b2c" providerId="ADAL" clId="{214CD14F-CFF7-41F3-8FAD-E1DC02D8708B}" dt="2026-09-18T14:07:38.598" v="11" actId="20577"/>
          <ac:spMkLst>
            <pc:docMk/>
            <pc:sldMk cId="2080722355" sldId="256"/>
            <ac:spMk id="70" creationId="{C1AD95B4-D0BB-FEAD-2C22-2EEA58F60E33}"/>
          </ac:spMkLst>
        </pc:spChg>
        <pc:spChg chg="mod">
          <ac:chgData name="Nattanun Tangpeerasit (Maths) Lap" userId="1ad6559d-3a93-42e6-9288-bf73492e1b2c" providerId="ADAL" clId="{214CD14F-CFF7-41F3-8FAD-E1DC02D8708B}" dt="2026-09-18T14:24:19.938" v="134" actId="20577"/>
          <ac:spMkLst>
            <pc:docMk/>
            <pc:sldMk cId="2080722355" sldId="256"/>
            <ac:spMk id="74" creationId="{AB4B9D6F-A090-6A41-9413-230C06112980}"/>
          </ac:spMkLst>
        </pc:spChg>
        <pc:grpChg chg="add mod">
          <ac:chgData name="Nattanun Tangpeerasit (Maths) Lap" userId="1ad6559d-3a93-42e6-9288-bf73492e1b2c" providerId="ADAL" clId="{214CD14F-CFF7-41F3-8FAD-E1DC02D8708B}" dt="2026-09-18T14:06:17.048" v="2" actId="164"/>
          <ac:grpSpMkLst>
            <pc:docMk/>
            <pc:sldMk cId="2080722355" sldId="256"/>
            <ac:grpSpMk id="65" creationId="{F993B815-57A4-F00B-A787-EEBE6C8208CE}"/>
          </ac:grpSpMkLst>
        </pc:grpChg>
      </pc:sldChg>
      <pc:sldChg chg="modSp">
        <pc:chgData name="Nattanun Tangpeerasit (Maths) Lap" userId="1ad6559d-3a93-42e6-9288-bf73492e1b2c" providerId="ADAL" clId="{214CD14F-CFF7-41F3-8FAD-E1DC02D8708B}" dt="2026-09-18T14:26:58.404" v="158" actId="255"/>
        <pc:sldMkLst>
          <pc:docMk/>
          <pc:sldMk cId="3678439685" sldId="257"/>
        </pc:sldMkLst>
        <pc:spChg chg="mod">
          <ac:chgData name="Nattanun Tangpeerasit (Maths) Lap" userId="1ad6559d-3a93-42e6-9288-bf73492e1b2c" providerId="ADAL" clId="{214CD14F-CFF7-41F3-8FAD-E1DC02D8708B}" dt="2026-09-18T14:15:30.925" v="60" actId="20577"/>
          <ac:spMkLst>
            <pc:docMk/>
            <pc:sldMk cId="3678439685" sldId="257"/>
            <ac:spMk id="6" creationId="{F1402828-22A5-C746-57A4-639A799B3194}"/>
          </ac:spMkLst>
        </pc:spChg>
        <pc:spChg chg="mod">
          <ac:chgData name="Nattanun Tangpeerasit (Maths) Lap" userId="1ad6559d-3a93-42e6-9288-bf73492e1b2c" providerId="ADAL" clId="{214CD14F-CFF7-41F3-8FAD-E1DC02D8708B}" dt="2026-09-18T14:26:58.404" v="158" actId="255"/>
          <ac:spMkLst>
            <pc:docMk/>
            <pc:sldMk cId="3678439685" sldId="257"/>
            <ac:spMk id="74" creationId="{78E1997F-FD8F-1B92-DE3A-3AFFB928B122}"/>
          </ac:spMkLst>
        </pc:spChg>
      </pc:sldChg>
      <pc:sldChg chg="addSp modSp">
        <pc:chgData name="Nattanun Tangpeerasit (Maths) Lap" userId="1ad6559d-3a93-42e6-9288-bf73492e1b2c" providerId="ADAL" clId="{214CD14F-CFF7-41F3-8FAD-E1DC02D8708B}" dt="2026-09-18T15:40:32.410" v="159" actId="767"/>
        <pc:sldMkLst>
          <pc:docMk/>
          <pc:sldMk cId="54257411" sldId="258"/>
        </pc:sldMkLst>
        <pc:spChg chg="add mod">
          <ac:chgData name="Nattanun Tangpeerasit (Maths) Lap" userId="1ad6559d-3a93-42e6-9288-bf73492e1b2c" providerId="ADAL" clId="{214CD14F-CFF7-41F3-8FAD-E1DC02D8708B}" dt="2026-09-18T15:40:32.410" v="159" actId="767"/>
          <ac:spMkLst>
            <pc:docMk/>
            <pc:sldMk cId="54257411" sldId="258"/>
            <ac:spMk id="4" creationId="{34867BA4-0282-53E0-2156-B7E14C998288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3E22C0-E581-DF04-D28E-70DEE0A86F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81E2BE-A5A0-5AF7-ABB7-D865963D53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48CC62-3ACD-EADE-355C-1B38EF748B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8AA69-ACB7-499F-9AA9-F80A27BE20B5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C70E4-2DC6-E1D8-66E0-52771D0135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50BE0D-391E-2FA4-52C4-0499EC90A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3075D-40DA-431C-A107-3EFA39204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9255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66288-299E-09FC-FDE8-5B47CD7A12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D72102-3565-FF26-1210-0EB57BBE72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C2C389-EC9C-A0EC-147B-EF13C2552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8AA69-ACB7-499F-9AA9-F80A27BE20B5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9F8E69-7E15-50F3-2A84-F1F007798B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BBE243-E036-7606-CB8B-D5B834511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3075D-40DA-431C-A107-3EFA39204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1481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5CEE8E-0C1A-4830-AC99-F45241DC1F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C1140D-2FE9-02F6-50D1-2479C08ED6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6911EC-7F43-D5FD-300C-3B936951D3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8AA69-ACB7-499F-9AA9-F80A27BE20B5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4B7FB3-0179-71E6-9EBE-29D9270DAE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9E8941-BC90-866E-0518-003B06D6C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3075D-40DA-431C-A107-3EFA39204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0730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252A46-1486-99C3-12B3-CF46C66368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4D219B-8002-E541-C3F2-8A5AA28894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D746D6-C532-2FF8-A74D-A9EFF48613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B8F69B-0FC7-69EB-EEF4-F50459A18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8AA69-ACB7-499F-9AA9-F80A27BE20B5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8D0295-FF63-A073-9D68-8F311F84D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53746D-F7FA-3A95-E091-94F8D46B0A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3075D-40DA-431C-A107-3EFA39204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8773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B5D027-F46B-A0B2-6228-1CA9F52D4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9D5844-D85A-14BA-AB0D-1B2B2DD94D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73A88D-4500-6DF1-6E79-FA93AEB47E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08E474-6EC4-FE92-2495-8A195BF677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426916-8EB5-6497-2C7F-902C58DCC7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3A2CCE6-7D9F-07EA-BA74-19A4A37B93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8AA69-ACB7-499F-9AA9-F80A27BE20B5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7E8903-0F6E-1339-5D98-A8444EA27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2D02AE9-1BDF-D833-0CC9-5BE0E65B0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3075D-40DA-431C-A107-3EFA39204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3082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96C63-E980-5747-20AB-A0AF1CE0A2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B44639-F855-C72D-D831-EDB5B29C15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8AA69-ACB7-499F-9AA9-F80A27BE20B5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A34047-CE08-7B23-31A9-DE3A175579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467E21-3D66-937F-DA31-2ADB8E56F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3075D-40DA-431C-A107-3EFA39204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309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57B500C-622B-26CB-22BD-72881B2F37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8AA69-ACB7-499F-9AA9-F80A27BE20B5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A29972-5522-B0E4-7F3C-D92BF9EE85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C5299B-37FF-D126-91BE-40169D4BF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3075D-40DA-431C-A107-3EFA39204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084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874A5B-E742-C7D9-33ED-841204B0C4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BE1116-18AC-B3CD-439F-5D7DEB60F1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5A2106-082F-A1C4-DE05-1A23C2DA53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AFD1C8-26B8-6FCD-6206-1F45616A5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8AA69-ACB7-499F-9AA9-F80A27BE20B5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E78CE9-52A1-9A60-362F-ECBC97240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138711-621D-2DB0-282A-25E9BEEDD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3075D-40DA-431C-A107-3EFA39204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9863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3A4FE-32B1-D3D9-005B-19181B371E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EB05E03-FF07-3C6A-FEE2-6C8C54F561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793AC8-E082-C54B-955A-A3EC54080A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A60829-84BB-FC39-DE91-7660EA0C95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8AA69-ACB7-499F-9AA9-F80A27BE20B5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220971-8823-46EF-8DFA-B695E07CF7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062AAC-75C3-C2B9-3319-982470A5C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3075D-40DA-431C-A107-3EFA39204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25884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983FA-98C0-099D-30EB-923F9677D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34ADB0-C836-D6E7-C200-3AC2F339AD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9B8B97-FBAD-D6BA-ADCE-F180218D96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8AA69-ACB7-499F-9AA9-F80A27BE20B5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A847BF-DA17-D79D-AE51-9E3ED2A01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488DE8-C46F-CAD0-E8A4-BA7D31143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3075D-40DA-431C-A107-3EFA39204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24557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B2319CF-8848-0628-8C83-29365459A8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CBDE77-6139-1A6F-2C58-19FC87A78F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AE3BD4-1E3E-9E35-E3F2-AE14A08C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8AA69-ACB7-499F-9AA9-F80A27BE20B5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EEB675-42B4-1AAB-392E-7BA201FF84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284A5D-30CF-554F-2BCA-DD127E908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3075D-40DA-431C-A107-3EFA39204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8104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D3B9A0E-6A4E-29DA-FA07-DB73565964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D732AD-BC23-E438-BE6D-C71D25DD63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3A8BF2-7BB1-134C-F322-9647FE9C43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28AA69-ACB7-499F-9AA9-F80A27BE20B5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6FF6D0-12D4-A681-AB23-558AC5D501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5C65CC-5305-87D7-6FCD-7BECCFC240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E3075D-40DA-431C-A107-3EFA39204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21556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3.png"/><Relationship Id="rId7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svg"/><Relationship Id="rId9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0AC024-7D17-66ED-AD09-0B69DD6FE4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0D8544C-0F95-9887-74A0-5BEF8DEADD7D}"/>
              </a:ext>
            </a:extLst>
          </p:cNvPr>
          <p:cNvSpPr/>
          <p:nvPr/>
        </p:nvSpPr>
        <p:spPr>
          <a:xfrm>
            <a:off x="0" y="0"/>
            <a:ext cx="12192000" cy="57807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C47301-8C6A-9181-E0BC-0BBA6B4FB983}"/>
              </a:ext>
            </a:extLst>
          </p:cNvPr>
          <p:cNvSpPr txBox="1"/>
          <p:nvPr/>
        </p:nvSpPr>
        <p:spPr>
          <a:xfrm>
            <a:off x="349857" y="79515"/>
            <a:ext cx="67188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800" b="1" dirty="0">
                <a:solidFill>
                  <a:schemeClr val="bg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จำนวนจริง</a:t>
            </a:r>
            <a:endParaRPr lang="en-US" sz="2800" b="1" dirty="0">
              <a:solidFill>
                <a:schemeClr val="bg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A0817CF-21AE-BE10-EFDF-5B703AA1F5E4}"/>
              </a:ext>
            </a:extLst>
          </p:cNvPr>
          <p:cNvCxnSpPr/>
          <p:nvPr/>
        </p:nvCxnSpPr>
        <p:spPr>
          <a:xfrm>
            <a:off x="0" y="588395"/>
            <a:ext cx="12192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BC4929FD-4124-184E-4C99-B4BA6A921AE5}"/>
              </a:ext>
            </a:extLst>
          </p:cNvPr>
          <p:cNvSpPr txBox="1"/>
          <p:nvPr/>
        </p:nvSpPr>
        <p:spPr>
          <a:xfrm>
            <a:off x="349857" y="954539"/>
            <a:ext cx="12952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โหมด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64E8EF72-0276-A1C9-CA09-347890751DD8}"/>
              </a:ext>
            </a:extLst>
          </p:cNvPr>
          <p:cNvSpPr/>
          <p:nvPr/>
        </p:nvSpPr>
        <p:spPr>
          <a:xfrm>
            <a:off x="5067699" y="1829922"/>
            <a:ext cx="2056601" cy="46166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จำนวนจริง</a:t>
            </a:r>
            <a:endParaRPr lang="en-US" sz="2400" b="1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5FFC433-F3A3-8161-C94C-2C825B51B5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5218" y="676854"/>
            <a:ext cx="2886478" cy="847843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ACECA6B-7599-D682-3960-2E9DB8609CA5}"/>
              </a:ext>
            </a:extLst>
          </p:cNvPr>
          <p:cNvSpPr/>
          <p:nvPr/>
        </p:nvSpPr>
        <p:spPr>
          <a:xfrm>
            <a:off x="349857" y="1541826"/>
            <a:ext cx="11501484" cy="5236656"/>
          </a:xfrm>
          <a:prstGeom prst="roundRect">
            <a:avLst>
              <a:gd name="adj" fmla="val 3501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50DC823-E925-DD51-E7A7-9C3026D19405}"/>
              </a:ext>
            </a:extLst>
          </p:cNvPr>
          <p:cNvSpPr/>
          <p:nvPr/>
        </p:nvSpPr>
        <p:spPr>
          <a:xfrm>
            <a:off x="3423395" y="2967335"/>
            <a:ext cx="2056601" cy="46166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จำนวนตรรกยะ</a:t>
            </a:r>
            <a:endParaRPr lang="en-US" sz="2400" b="1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4D1D001E-9FA1-ECE8-1A33-20EE4915749E}"/>
              </a:ext>
            </a:extLst>
          </p:cNvPr>
          <p:cNvSpPr/>
          <p:nvPr/>
        </p:nvSpPr>
        <p:spPr>
          <a:xfrm>
            <a:off x="6609067" y="2967334"/>
            <a:ext cx="2056601" cy="46166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จำนวนอตรรกยะ</a:t>
            </a:r>
            <a:endParaRPr lang="en-US" sz="2400" b="1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DE2BD884-5FE0-FA5F-7FFB-60CE9CB57D13}"/>
              </a:ext>
            </a:extLst>
          </p:cNvPr>
          <p:cNvSpPr/>
          <p:nvPr/>
        </p:nvSpPr>
        <p:spPr>
          <a:xfrm>
            <a:off x="1980156" y="4104748"/>
            <a:ext cx="2056601" cy="46166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จำนวนเต็ม</a:t>
            </a:r>
            <a:endParaRPr lang="en-US" sz="2400" b="1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C9E0D88B-EB15-CE22-3B3A-18C1A998DAE6}"/>
              </a:ext>
            </a:extLst>
          </p:cNvPr>
          <p:cNvSpPr/>
          <p:nvPr/>
        </p:nvSpPr>
        <p:spPr>
          <a:xfrm>
            <a:off x="4768178" y="4104748"/>
            <a:ext cx="2439446" cy="46166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จำนวนที่ไม่ใช่จำนวนเต็ม</a:t>
            </a:r>
            <a:endParaRPr lang="en-US" sz="2400" b="1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5B167351-6BD6-C5FD-D132-3DC165DE0884}"/>
              </a:ext>
            </a:extLst>
          </p:cNvPr>
          <p:cNvSpPr/>
          <p:nvPr/>
        </p:nvSpPr>
        <p:spPr>
          <a:xfrm>
            <a:off x="536917" y="5274671"/>
            <a:ext cx="1443239" cy="46166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จำนวนเต็มลบ</a:t>
            </a:r>
            <a:endParaRPr lang="en-US" sz="2400" b="1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7FA10D6D-CC38-54F2-83C9-AC1FF334192A}"/>
              </a:ext>
            </a:extLst>
          </p:cNvPr>
          <p:cNvSpPr/>
          <p:nvPr/>
        </p:nvSpPr>
        <p:spPr>
          <a:xfrm>
            <a:off x="2167216" y="5274670"/>
            <a:ext cx="1567988" cy="46166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จำนวนเต็มศูนย์</a:t>
            </a:r>
            <a:endParaRPr lang="en-US" sz="2400" b="1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E8BC94A7-AC41-8098-6029-4FB8C7023494}"/>
              </a:ext>
            </a:extLst>
          </p:cNvPr>
          <p:cNvSpPr/>
          <p:nvPr/>
        </p:nvSpPr>
        <p:spPr>
          <a:xfrm>
            <a:off x="3912008" y="5274670"/>
            <a:ext cx="1567988" cy="46166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จำนวนเต็มบวก</a:t>
            </a:r>
            <a:endParaRPr lang="en-US" sz="2400" b="1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557A0D6D-5D1D-D253-B1F4-55C64B0E897F}"/>
              </a:ext>
            </a:extLst>
          </p:cNvPr>
          <p:cNvCxnSpPr>
            <a:stCxn id="26" idx="2"/>
          </p:cNvCxnSpPr>
          <p:nvPr/>
        </p:nvCxnSpPr>
        <p:spPr>
          <a:xfrm flipH="1">
            <a:off x="6095999" y="2291587"/>
            <a:ext cx="1" cy="39782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7F72B026-5D50-50F4-F19A-4BA6C7725B83}"/>
              </a:ext>
            </a:extLst>
          </p:cNvPr>
          <p:cNvCxnSpPr>
            <a:stCxn id="12" idx="0"/>
          </p:cNvCxnSpPr>
          <p:nvPr/>
        </p:nvCxnSpPr>
        <p:spPr>
          <a:xfrm flipH="1" flipV="1">
            <a:off x="4451695" y="2725271"/>
            <a:ext cx="1" cy="24206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84504237-5BB0-9322-3D50-33587A99D531}"/>
              </a:ext>
            </a:extLst>
          </p:cNvPr>
          <p:cNvCxnSpPr>
            <a:cxnSpLocks/>
            <a:stCxn id="14" idx="0"/>
          </p:cNvCxnSpPr>
          <p:nvPr/>
        </p:nvCxnSpPr>
        <p:spPr>
          <a:xfrm flipV="1">
            <a:off x="7637368" y="2725271"/>
            <a:ext cx="0" cy="24206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1E3B83A8-529D-2D36-4D03-CA915D3A8D61}"/>
              </a:ext>
            </a:extLst>
          </p:cNvPr>
          <p:cNvCxnSpPr/>
          <p:nvPr/>
        </p:nvCxnSpPr>
        <p:spPr>
          <a:xfrm flipH="1">
            <a:off x="4451695" y="2725271"/>
            <a:ext cx="318567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43D75C4D-A9B8-99CC-EC93-74EB1AD13C19}"/>
              </a:ext>
            </a:extLst>
          </p:cNvPr>
          <p:cNvCxnSpPr>
            <a:cxnSpLocks/>
          </p:cNvCxnSpPr>
          <p:nvPr/>
        </p:nvCxnSpPr>
        <p:spPr>
          <a:xfrm>
            <a:off x="4455459" y="3421144"/>
            <a:ext cx="0" cy="41575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97D51C2D-F85F-29D2-265C-C16230EF64BC}"/>
              </a:ext>
            </a:extLst>
          </p:cNvPr>
          <p:cNvCxnSpPr>
            <a:cxnSpLocks/>
          </p:cNvCxnSpPr>
          <p:nvPr/>
        </p:nvCxnSpPr>
        <p:spPr>
          <a:xfrm flipH="1">
            <a:off x="2981486" y="3836900"/>
            <a:ext cx="311074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D648DBC4-DCAF-2162-85A0-8E6A562697C9}"/>
              </a:ext>
            </a:extLst>
          </p:cNvPr>
          <p:cNvCxnSpPr/>
          <p:nvPr/>
        </p:nvCxnSpPr>
        <p:spPr>
          <a:xfrm flipH="1" flipV="1">
            <a:off x="2999410" y="3845863"/>
            <a:ext cx="1" cy="24206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BC89FBEB-D6E7-F71F-C81B-1247399FE161}"/>
              </a:ext>
            </a:extLst>
          </p:cNvPr>
          <p:cNvCxnSpPr/>
          <p:nvPr/>
        </p:nvCxnSpPr>
        <p:spPr>
          <a:xfrm flipH="1" flipV="1">
            <a:off x="6092234" y="3836899"/>
            <a:ext cx="1" cy="24206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CE9CB45F-6EBE-ECE4-8094-5E2B24901864}"/>
              </a:ext>
            </a:extLst>
          </p:cNvPr>
          <p:cNvCxnSpPr>
            <a:cxnSpLocks/>
          </p:cNvCxnSpPr>
          <p:nvPr/>
        </p:nvCxnSpPr>
        <p:spPr>
          <a:xfrm flipV="1">
            <a:off x="1269223" y="4894736"/>
            <a:ext cx="0" cy="36757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4FC9CC65-4789-443D-193A-3AA9BDF685E2}"/>
              </a:ext>
            </a:extLst>
          </p:cNvPr>
          <p:cNvCxnSpPr>
            <a:cxnSpLocks/>
          </p:cNvCxnSpPr>
          <p:nvPr/>
        </p:nvCxnSpPr>
        <p:spPr>
          <a:xfrm flipV="1">
            <a:off x="2999412" y="4908767"/>
            <a:ext cx="0" cy="37146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619AE8EB-2C9B-F957-9C02-4A89BBEB437E}"/>
              </a:ext>
            </a:extLst>
          </p:cNvPr>
          <p:cNvCxnSpPr>
            <a:cxnSpLocks/>
          </p:cNvCxnSpPr>
          <p:nvPr/>
        </p:nvCxnSpPr>
        <p:spPr>
          <a:xfrm flipV="1">
            <a:off x="4711671" y="4908767"/>
            <a:ext cx="0" cy="36250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F0E11D68-75BA-C49F-AE0F-7A5EDDFA2D08}"/>
              </a:ext>
            </a:extLst>
          </p:cNvPr>
          <p:cNvCxnSpPr>
            <a:cxnSpLocks/>
          </p:cNvCxnSpPr>
          <p:nvPr/>
        </p:nvCxnSpPr>
        <p:spPr>
          <a:xfrm flipH="1">
            <a:off x="1269226" y="4894736"/>
            <a:ext cx="344244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757B7F4F-E1FD-F8D2-C341-52E460172CB6}"/>
              </a:ext>
            </a:extLst>
          </p:cNvPr>
          <p:cNvCxnSpPr>
            <a:cxnSpLocks/>
            <a:endCxn id="16" idx="2"/>
          </p:cNvCxnSpPr>
          <p:nvPr/>
        </p:nvCxnSpPr>
        <p:spPr>
          <a:xfrm flipV="1">
            <a:off x="2999411" y="4566413"/>
            <a:ext cx="9046" cy="31937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ADE753EF-55F2-F9E2-924B-A5F8676B89CF}"/>
              </a:ext>
            </a:extLst>
          </p:cNvPr>
          <p:cNvSpPr txBox="1"/>
          <p:nvPr/>
        </p:nvSpPr>
        <p:spPr>
          <a:xfrm>
            <a:off x="7799294" y="6074630"/>
            <a:ext cx="38931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แสดงระบบจำนวนจริงด้วยแผนภาพเวนน์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85251C47-305E-22D0-7F13-7AD2710B8909}"/>
              </a:ext>
            </a:extLst>
          </p:cNvPr>
          <p:cNvSpPr/>
          <p:nvPr/>
        </p:nvSpPr>
        <p:spPr>
          <a:xfrm>
            <a:off x="7618875" y="6121684"/>
            <a:ext cx="295835" cy="29583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00399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1065E98-1C23-E54A-C3A7-D6B01C5B3840}"/>
              </a:ext>
            </a:extLst>
          </p:cNvPr>
          <p:cNvSpPr/>
          <p:nvPr/>
        </p:nvSpPr>
        <p:spPr>
          <a:xfrm>
            <a:off x="0" y="0"/>
            <a:ext cx="12192000" cy="57807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8383BB9-33DC-9DC2-9877-99F26F0F2860}"/>
              </a:ext>
            </a:extLst>
          </p:cNvPr>
          <p:cNvSpPr txBox="1"/>
          <p:nvPr/>
        </p:nvSpPr>
        <p:spPr>
          <a:xfrm>
            <a:off x="349857" y="79515"/>
            <a:ext cx="67188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800" b="1" dirty="0">
                <a:solidFill>
                  <a:schemeClr val="bg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จำนวนจริง</a:t>
            </a:r>
            <a:endParaRPr lang="en-US" sz="2800" b="1" dirty="0">
              <a:solidFill>
                <a:schemeClr val="bg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8EC6565-9FD7-5813-5C7C-CA29E262E8CB}"/>
              </a:ext>
            </a:extLst>
          </p:cNvPr>
          <p:cNvCxnSpPr/>
          <p:nvPr/>
        </p:nvCxnSpPr>
        <p:spPr>
          <a:xfrm>
            <a:off x="0" y="588395"/>
            <a:ext cx="12192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6F6FA2D1-3A80-9F80-2365-C45E63CB6FE5}"/>
              </a:ext>
            </a:extLst>
          </p:cNvPr>
          <p:cNvSpPr txBox="1"/>
          <p:nvPr/>
        </p:nvSpPr>
        <p:spPr>
          <a:xfrm>
            <a:off x="349857" y="954539"/>
            <a:ext cx="12952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โหมด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79E0EA24-60E2-3AC0-332F-2723978BDD45}"/>
              </a:ext>
            </a:extLst>
          </p:cNvPr>
          <p:cNvSpPr/>
          <p:nvPr/>
        </p:nvSpPr>
        <p:spPr>
          <a:xfrm>
            <a:off x="5067699" y="1829922"/>
            <a:ext cx="2056601" cy="46166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จำนวนจริง</a:t>
            </a:r>
            <a:endParaRPr lang="en-US" sz="2400" b="1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A5F8A5D-7FAC-AC08-CDCA-45F012D254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5218" y="676854"/>
            <a:ext cx="2886478" cy="847843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E044F43-7813-FC15-DB3B-47BEC1A2E932}"/>
              </a:ext>
            </a:extLst>
          </p:cNvPr>
          <p:cNvSpPr/>
          <p:nvPr/>
        </p:nvSpPr>
        <p:spPr>
          <a:xfrm>
            <a:off x="349857" y="1541826"/>
            <a:ext cx="11501484" cy="5236656"/>
          </a:xfrm>
          <a:prstGeom prst="roundRect">
            <a:avLst>
              <a:gd name="adj" fmla="val 3501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FCD60CB-7D2F-7030-7C8B-01965B1A597F}"/>
              </a:ext>
            </a:extLst>
          </p:cNvPr>
          <p:cNvSpPr/>
          <p:nvPr/>
        </p:nvSpPr>
        <p:spPr>
          <a:xfrm>
            <a:off x="3423395" y="2967335"/>
            <a:ext cx="2056601" cy="46166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จำนวนตรรกยะ</a:t>
            </a:r>
            <a:endParaRPr lang="en-US" sz="2400" b="1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49B27789-18A5-889C-43FE-97B82689C60A}"/>
              </a:ext>
            </a:extLst>
          </p:cNvPr>
          <p:cNvSpPr/>
          <p:nvPr/>
        </p:nvSpPr>
        <p:spPr>
          <a:xfrm>
            <a:off x="6609067" y="2967334"/>
            <a:ext cx="2056601" cy="46166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จำนวนอตรรกยะ</a:t>
            </a:r>
            <a:endParaRPr lang="en-US" sz="2400" b="1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78ED8F96-3E59-0831-DC66-E81D3D2DF50A}"/>
              </a:ext>
            </a:extLst>
          </p:cNvPr>
          <p:cNvSpPr/>
          <p:nvPr/>
        </p:nvSpPr>
        <p:spPr>
          <a:xfrm>
            <a:off x="1980156" y="4104748"/>
            <a:ext cx="2056601" cy="46166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จำนวนเต็ม</a:t>
            </a:r>
            <a:endParaRPr lang="en-US" sz="2400" b="1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BB3204A5-BFD5-C24B-D7B2-D516C8BE02E6}"/>
              </a:ext>
            </a:extLst>
          </p:cNvPr>
          <p:cNvSpPr/>
          <p:nvPr/>
        </p:nvSpPr>
        <p:spPr>
          <a:xfrm>
            <a:off x="4768178" y="4104748"/>
            <a:ext cx="2439446" cy="46166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จำนวนที่ไม่ใช่จำนวนเต็ม</a:t>
            </a:r>
            <a:endParaRPr lang="en-US" sz="2400" b="1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AE75367C-0346-36CF-E53E-D2C4A791DD5C}"/>
              </a:ext>
            </a:extLst>
          </p:cNvPr>
          <p:cNvSpPr/>
          <p:nvPr/>
        </p:nvSpPr>
        <p:spPr>
          <a:xfrm>
            <a:off x="536917" y="5274671"/>
            <a:ext cx="1443239" cy="46166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จำนวนเต็มลบ</a:t>
            </a:r>
            <a:endParaRPr lang="en-US" sz="2400" b="1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60DD48-3710-62C7-82CE-83C565A72D46}"/>
              </a:ext>
            </a:extLst>
          </p:cNvPr>
          <p:cNvSpPr/>
          <p:nvPr/>
        </p:nvSpPr>
        <p:spPr>
          <a:xfrm>
            <a:off x="2167216" y="5274670"/>
            <a:ext cx="1567988" cy="46166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จำนวนเต็มศูนย์</a:t>
            </a:r>
            <a:endParaRPr lang="en-US" sz="2400" b="1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25C753EC-59B5-4AA7-5246-D2AEB51C27D2}"/>
              </a:ext>
            </a:extLst>
          </p:cNvPr>
          <p:cNvSpPr/>
          <p:nvPr/>
        </p:nvSpPr>
        <p:spPr>
          <a:xfrm>
            <a:off x="3912008" y="5274670"/>
            <a:ext cx="1567988" cy="46166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จำนวนเต็มบวก</a:t>
            </a:r>
            <a:endParaRPr lang="en-US" sz="2400" b="1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DCE806A5-5125-7A9F-1A4B-403F59584E7C}"/>
              </a:ext>
            </a:extLst>
          </p:cNvPr>
          <p:cNvCxnSpPr>
            <a:stCxn id="26" idx="2"/>
          </p:cNvCxnSpPr>
          <p:nvPr/>
        </p:nvCxnSpPr>
        <p:spPr>
          <a:xfrm flipH="1">
            <a:off x="6095999" y="2291587"/>
            <a:ext cx="1" cy="39782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B32C048B-C22F-7F1B-436A-5FA6F454E7D8}"/>
              </a:ext>
            </a:extLst>
          </p:cNvPr>
          <p:cNvCxnSpPr>
            <a:stCxn id="12" idx="0"/>
          </p:cNvCxnSpPr>
          <p:nvPr/>
        </p:nvCxnSpPr>
        <p:spPr>
          <a:xfrm flipH="1" flipV="1">
            <a:off x="4451695" y="2725271"/>
            <a:ext cx="1" cy="24206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325CB530-47F3-22D2-479D-1A4EAA5E6E41}"/>
              </a:ext>
            </a:extLst>
          </p:cNvPr>
          <p:cNvCxnSpPr>
            <a:cxnSpLocks/>
            <a:stCxn id="14" idx="0"/>
          </p:cNvCxnSpPr>
          <p:nvPr/>
        </p:nvCxnSpPr>
        <p:spPr>
          <a:xfrm flipV="1">
            <a:off x="7637368" y="2725271"/>
            <a:ext cx="0" cy="24206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466EC1E5-6484-9654-CB90-BCFA5B901421}"/>
              </a:ext>
            </a:extLst>
          </p:cNvPr>
          <p:cNvCxnSpPr/>
          <p:nvPr/>
        </p:nvCxnSpPr>
        <p:spPr>
          <a:xfrm flipH="1">
            <a:off x="4451695" y="2725271"/>
            <a:ext cx="318567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1B4D7F65-1BA7-A0DC-CFF7-F3E4259355BC}"/>
              </a:ext>
            </a:extLst>
          </p:cNvPr>
          <p:cNvCxnSpPr>
            <a:cxnSpLocks/>
          </p:cNvCxnSpPr>
          <p:nvPr/>
        </p:nvCxnSpPr>
        <p:spPr>
          <a:xfrm>
            <a:off x="4455459" y="3421144"/>
            <a:ext cx="0" cy="41575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89BFDC3D-82E1-B796-59C9-DE4DD6AF818E}"/>
              </a:ext>
            </a:extLst>
          </p:cNvPr>
          <p:cNvCxnSpPr>
            <a:cxnSpLocks/>
          </p:cNvCxnSpPr>
          <p:nvPr/>
        </p:nvCxnSpPr>
        <p:spPr>
          <a:xfrm flipH="1">
            <a:off x="2981486" y="3836900"/>
            <a:ext cx="311074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26A18E69-53E5-5AB2-2418-473D79E2648E}"/>
              </a:ext>
            </a:extLst>
          </p:cNvPr>
          <p:cNvCxnSpPr/>
          <p:nvPr/>
        </p:nvCxnSpPr>
        <p:spPr>
          <a:xfrm flipH="1" flipV="1">
            <a:off x="2999410" y="3845863"/>
            <a:ext cx="1" cy="24206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D14BD8C1-02DF-DD7B-6638-0639F33F0181}"/>
              </a:ext>
            </a:extLst>
          </p:cNvPr>
          <p:cNvCxnSpPr/>
          <p:nvPr/>
        </p:nvCxnSpPr>
        <p:spPr>
          <a:xfrm flipH="1" flipV="1">
            <a:off x="6092234" y="3836899"/>
            <a:ext cx="1" cy="24206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A29337CD-ACF6-6036-6402-7EEBE74A4DF4}"/>
              </a:ext>
            </a:extLst>
          </p:cNvPr>
          <p:cNvCxnSpPr>
            <a:cxnSpLocks/>
          </p:cNvCxnSpPr>
          <p:nvPr/>
        </p:nvCxnSpPr>
        <p:spPr>
          <a:xfrm flipV="1">
            <a:off x="1269223" y="4894736"/>
            <a:ext cx="0" cy="36757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77DE9EA0-E4D3-7659-4F3F-1BA6C2C1BB39}"/>
              </a:ext>
            </a:extLst>
          </p:cNvPr>
          <p:cNvCxnSpPr>
            <a:cxnSpLocks/>
          </p:cNvCxnSpPr>
          <p:nvPr/>
        </p:nvCxnSpPr>
        <p:spPr>
          <a:xfrm flipV="1">
            <a:off x="2999412" y="4908767"/>
            <a:ext cx="0" cy="37146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BBA0FFAB-3850-2325-5C1D-DE0ED4E3AFA7}"/>
              </a:ext>
            </a:extLst>
          </p:cNvPr>
          <p:cNvCxnSpPr>
            <a:cxnSpLocks/>
          </p:cNvCxnSpPr>
          <p:nvPr/>
        </p:nvCxnSpPr>
        <p:spPr>
          <a:xfrm flipV="1">
            <a:off x="4711671" y="4908767"/>
            <a:ext cx="0" cy="36250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57EA90EA-F853-0254-B980-FC6200661620}"/>
              </a:ext>
            </a:extLst>
          </p:cNvPr>
          <p:cNvCxnSpPr>
            <a:cxnSpLocks/>
          </p:cNvCxnSpPr>
          <p:nvPr/>
        </p:nvCxnSpPr>
        <p:spPr>
          <a:xfrm flipH="1">
            <a:off x="1269226" y="4894736"/>
            <a:ext cx="344244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94D7A604-7C21-2496-6DEC-4855796CF901}"/>
              </a:ext>
            </a:extLst>
          </p:cNvPr>
          <p:cNvCxnSpPr>
            <a:cxnSpLocks/>
            <a:endCxn id="16" idx="2"/>
          </p:cNvCxnSpPr>
          <p:nvPr/>
        </p:nvCxnSpPr>
        <p:spPr>
          <a:xfrm flipV="1">
            <a:off x="2999411" y="4566413"/>
            <a:ext cx="9046" cy="31937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CEB3BE1A-4781-F5E6-2B75-B8706B8BC913}"/>
              </a:ext>
            </a:extLst>
          </p:cNvPr>
          <p:cNvSpPr txBox="1"/>
          <p:nvPr/>
        </p:nvSpPr>
        <p:spPr>
          <a:xfrm>
            <a:off x="7799294" y="6074630"/>
            <a:ext cx="38931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แสดงระบบจำนวนจริงด้วยแผนภาพเวนน์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3EDD3466-5241-091B-E014-5EA8B9285B44}"/>
              </a:ext>
            </a:extLst>
          </p:cNvPr>
          <p:cNvSpPr/>
          <p:nvPr/>
        </p:nvSpPr>
        <p:spPr>
          <a:xfrm>
            <a:off x="7618875" y="6121684"/>
            <a:ext cx="295835" cy="29583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D31FCD51-E804-7A8E-747D-5073C8E7E89D}"/>
              </a:ext>
            </a:extLst>
          </p:cNvPr>
          <p:cNvSpPr/>
          <p:nvPr/>
        </p:nvSpPr>
        <p:spPr>
          <a:xfrm>
            <a:off x="600635" y="1726866"/>
            <a:ext cx="11091816" cy="2049559"/>
          </a:xfrm>
          <a:prstGeom prst="roundRect">
            <a:avLst>
              <a:gd name="adj" fmla="val 3501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3A40F61B-2503-A442-ED20-AB2C562AD3AF}"/>
                  </a:ext>
                </a:extLst>
              </p:cNvPr>
              <p:cNvSpPr txBox="1"/>
              <p:nvPr/>
            </p:nvSpPr>
            <p:spPr>
              <a:xfrm>
                <a:off x="659387" y="1841168"/>
                <a:ext cx="1040249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เซตของจำนวนจริง 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(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H Sarabun New" panose="020B0500040200020003" pitchFamily="34" charset="-34"/>
                      </a:rPr>
                      <m:t>ℝ</m:t>
                    </m:r>
                  </m:oMath>
                </a14:m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)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คือ เซตที่ประกอบไปด้วยเซตของจำนวนตรรกยะและเซตของจำนวนอตรรกยะ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</a:t>
                </a:r>
              </a:p>
            </p:txBody>
          </p:sp>
        </mc:Choice>
        <mc:Fallback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3A40F61B-2503-A442-ED20-AB2C562AD3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387" y="1841168"/>
                <a:ext cx="10402495" cy="461665"/>
              </a:xfrm>
              <a:prstGeom prst="rect">
                <a:avLst/>
              </a:prstGeom>
              <a:blipFill>
                <a:blip r:embed="rId3"/>
                <a:stretch>
                  <a:fillRect l="-879" t="-6579" b="-328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3" name="Picture 72">
            <a:extLst>
              <a:ext uri="{FF2B5EF4-FFF2-40B4-BE49-F238E27FC236}">
                <a16:creationId xmlns:a16="http://schemas.microsoft.com/office/drawing/2014/main" id="{995F21DE-55C2-36EB-52AA-1034715E5B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1884" y="1808306"/>
            <a:ext cx="571580" cy="504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07223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13E602-A327-CA42-0992-6199CDD383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66DE773-77C1-985A-E733-B47F8D1FC9D3}"/>
              </a:ext>
            </a:extLst>
          </p:cNvPr>
          <p:cNvSpPr/>
          <p:nvPr/>
        </p:nvSpPr>
        <p:spPr>
          <a:xfrm>
            <a:off x="0" y="0"/>
            <a:ext cx="12192000" cy="57807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CCE3A9-759C-9466-BC95-7CC0F6C7DA03}"/>
              </a:ext>
            </a:extLst>
          </p:cNvPr>
          <p:cNvSpPr txBox="1"/>
          <p:nvPr/>
        </p:nvSpPr>
        <p:spPr>
          <a:xfrm>
            <a:off x="349857" y="79515"/>
            <a:ext cx="67188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800" b="1" dirty="0">
                <a:solidFill>
                  <a:schemeClr val="bg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จำนวนจริง</a:t>
            </a:r>
            <a:endParaRPr lang="en-US" sz="2800" b="1" dirty="0">
              <a:solidFill>
                <a:schemeClr val="bg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514ABA8-10E2-3675-1AC4-6CC7355E6AE4}"/>
              </a:ext>
            </a:extLst>
          </p:cNvPr>
          <p:cNvCxnSpPr/>
          <p:nvPr/>
        </p:nvCxnSpPr>
        <p:spPr>
          <a:xfrm>
            <a:off x="0" y="588395"/>
            <a:ext cx="12192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55165B17-9A76-2C6A-E028-6B15DAF90971}"/>
              </a:ext>
            </a:extLst>
          </p:cNvPr>
          <p:cNvSpPr txBox="1"/>
          <p:nvPr/>
        </p:nvSpPr>
        <p:spPr>
          <a:xfrm>
            <a:off x="349857" y="954539"/>
            <a:ext cx="12952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โหมด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78109A4F-2529-BE76-3789-A70737EB7BC6}"/>
              </a:ext>
            </a:extLst>
          </p:cNvPr>
          <p:cNvSpPr/>
          <p:nvPr/>
        </p:nvSpPr>
        <p:spPr>
          <a:xfrm>
            <a:off x="5067699" y="1829922"/>
            <a:ext cx="2056601" cy="46166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จำนวนจริง</a:t>
            </a:r>
            <a:endParaRPr lang="en-US" sz="2400" b="1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B4ACE06-6F10-B9FF-E43E-3911A5CF32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5218" y="676854"/>
            <a:ext cx="2886478" cy="847843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6A85889-B427-6708-FB6B-3F6FC5CA3790}"/>
              </a:ext>
            </a:extLst>
          </p:cNvPr>
          <p:cNvSpPr/>
          <p:nvPr/>
        </p:nvSpPr>
        <p:spPr>
          <a:xfrm>
            <a:off x="349857" y="1541826"/>
            <a:ext cx="11501484" cy="5236656"/>
          </a:xfrm>
          <a:prstGeom prst="roundRect">
            <a:avLst>
              <a:gd name="adj" fmla="val 3501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AA22455-1E66-CB7F-B05F-674C365396E8}"/>
              </a:ext>
            </a:extLst>
          </p:cNvPr>
          <p:cNvSpPr/>
          <p:nvPr/>
        </p:nvSpPr>
        <p:spPr>
          <a:xfrm>
            <a:off x="3423395" y="2967335"/>
            <a:ext cx="2056601" cy="46166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จำนวนตรรกยะ</a:t>
            </a:r>
            <a:endParaRPr lang="en-US" sz="2400" b="1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A5C0CBC5-4317-BCD4-6901-1F08354A4338}"/>
              </a:ext>
            </a:extLst>
          </p:cNvPr>
          <p:cNvSpPr/>
          <p:nvPr/>
        </p:nvSpPr>
        <p:spPr>
          <a:xfrm>
            <a:off x="6609067" y="2967334"/>
            <a:ext cx="2056601" cy="46166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จำนวนอตรรกยะ</a:t>
            </a:r>
            <a:endParaRPr lang="en-US" sz="2400" b="1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252F8AAA-2B77-94CA-006E-D42A6DB6DE07}"/>
              </a:ext>
            </a:extLst>
          </p:cNvPr>
          <p:cNvSpPr/>
          <p:nvPr/>
        </p:nvSpPr>
        <p:spPr>
          <a:xfrm>
            <a:off x="1980156" y="4104748"/>
            <a:ext cx="2056601" cy="46166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จำนวนเต็ม</a:t>
            </a:r>
            <a:endParaRPr lang="en-US" sz="2400" b="1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B938DBE4-2608-488C-60DF-CC9211CE17B4}"/>
              </a:ext>
            </a:extLst>
          </p:cNvPr>
          <p:cNvSpPr/>
          <p:nvPr/>
        </p:nvSpPr>
        <p:spPr>
          <a:xfrm>
            <a:off x="4768178" y="4104748"/>
            <a:ext cx="2439446" cy="46166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จำนวนที่ไม่ใช่จำนวนเต็ม</a:t>
            </a:r>
            <a:endParaRPr lang="en-US" sz="2400" b="1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935BF2FB-CB99-BAE9-740A-04D809B46DD1}"/>
              </a:ext>
            </a:extLst>
          </p:cNvPr>
          <p:cNvSpPr/>
          <p:nvPr/>
        </p:nvSpPr>
        <p:spPr>
          <a:xfrm>
            <a:off x="536917" y="5274671"/>
            <a:ext cx="1443239" cy="46166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จำนวนเต็มลบ</a:t>
            </a:r>
            <a:endParaRPr lang="en-US" sz="2400" b="1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D1E891BE-00FC-7261-78F4-BCA0EF0CCB53}"/>
              </a:ext>
            </a:extLst>
          </p:cNvPr>
          <p:cNvSpPr/>
          <p:nvPr/>
        </p:nvSpPr>
        <p:spPr>
          <a:xfrm>
            <a:off x="2167216" y="5274670"/>
            <a:ext cx="1567988" cy="46166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จำนวนเต็มศูนย์</a:t>
            </a:r>
            <a:endParaRPr lang="en-US" sz="2400" b="1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7426B56B-4099-DA74-19B8-1CC6EA71AE50}"/>
              </a:ext>
            </a:extLst>
          </p:cNvPr>
          <p:cNvSpPr/>
          <p:nvPr/>
        </p:nvSpPr>
        <p:spPr>
          <a:xfrm>
            <a:off x="3912008" y="5274670"/>
            <a:ext cx="1567988" cy="46166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จำนวนเต็มบวก</a:t>
            </a:r>
            <a:endParaRPr lang="en-US" sz="2400" b="1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41A583EE-8A71-5AD9-6A5B-639C683BDB3C}"/>
              </a:ext>
            </a:extLst>
          </p:cNvPr>
          <p:cNvCxnSpPr>
            <a:stCxn id="26" idx="2"/>
          </p:cNvCxnSpPr>
          <p:nvPr/>
        </p:nvCxnSpPr>
        <p:spPr>
          <a:xfrm flipH="1">
            <a:off x="6095999" y="2291587"/>
            <a:ext cx="1" cy="39782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62236002-8B41-ADB9-077D-79D56170E8C3}"/>
              </a:ext>
            </a:extLst>
          </p:cNvPr>
          <p:cNvCxnSpPr>
            <a:stCxn id="12" idx="0"/>
          </p:cNvCxnSpPr>
          <p:nvPr/>
        </p:nvCxnSpPr>
        <p:spPr>
          <a:xfrm flipH="1" flipV="1">
            <a:off x="4451695" y="2725271"/>
            <a:ext cx="1" cy="24206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7B1ABA48-A136-39E4-E3B6-4CB50BD78556}"/>
              </a:ext>
            </a:extLst>
          </p:cNvPr>
          <p:cNvCxnSpPr>
            <a:cxnSpLocks/>
            <a:stCxn id="14" idx="0"/>
          </p:cNvCxnSpPr>
          <p:nvPr/>
        </p:nvCxnSpPr>
        <p:spPr>
          <a:xfrm flipV="1">
            <a:off x="7637368" y="2725271"/>
            <a:ext cx="0" cy="24206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0E7EF9AF-5428-AE0F-A69B-5C3946769CC8}"/>
              </a:ext>
            </a:extLst>
          </p:cNvPr>
          <p:cNvCxnSpPr/>
          <p:nvPr/>
        </p:nvCxnSpPr>
        <p:spPr>
          <a:xfrm flipH="1">
            <a:off x="4451695" y="2725271"/>
            <a:ext cx="318567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18F1A20B-8413-DF7A-8CCC-581846E46BE9}"/>
              </a:ext>
            </a:extLst>
          </p:cNvPr>
          <p:cNvCxnSpPr>
            <a:cxnSpLocks/>
          </p:cNvCxnSpPr>
          <p:nvPr/>
        </p:nvCxnSpPr>
        <p:spPr>
          <a:xfrm>
            <a:off x="4455459" y="3421144"/>
            <a:ext cx="0" cy="41575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04BAD529-5DDD-E6A6-6E21-364A826320B9}"/>
              </a:ext>
            </a:extLst>
          </p:cNvPr>
          <p:cNvCxnSpPr>
            <a:cxnSpLocks/>
          </p:cNvCxnSpPr>
          <p:nvPr/>
        </p:nvCxnSpPr>
        <p:spPr>
          <a:xfrm flipH="1">
            <a:off x="2981486" y="3836900"/>
            <a:ext cx="311074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7AE0E9AD-47A6-83C5-DA76-A5BB2C8729A5}"/>
              </a:ext>
            </a:extLst>
          </p:cNvPr>
          <p:cNvCxnSpPr/>
          <p:nvPr/>
        </p:nvCxnSpPr>
        <p:spPr>
          <a:xfrm flipH="1" flipV="1">
            <a:off x="2999410" y="3845863"/>
            <a:ext cx="1" cy="24206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1E983A9F-47B3-5972-6DFF-CC491BC2438E}"/>
              </a:ext>
            </a:extLst>
          </p:cNvPr>
          <p:cNvCxnSpPr/>
          <p:nvPr/>
        </p:nvCxnSpPr>
        <p:spPr>
          <a:xfrm flipH="1" flipV="1">
            <a:off x="6092234" y="3836899"/>
            <a:ext cx="1" cy="24206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F3364917-8C24-43CD-AD96-BFAC069C49EB}"/>
              </a:ext>
            </a:extLst>
          </p:cNvPr>
          <p:cNvCxnSpPr>
            <a:cxnSpLocks/>
          </p:cNvCxnSpPr>
          <p:nvPr/>
        </p:nvCxnSpPr>
        <p:spPr>
          <a:xfrm flipV="1">
            <a:off x="1269223" y="4894736"/>
            <a:ext cx="0" cy="36757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D3DE062A-BDF6-D2A1-83D7-F9CB44510F48}"/>
              </a:ext>
            </a:extLst>
          </p:cNvPr>
          <p:cNvCxnSpPr>
            <a:cxnSpLocks/>
          </p:cNvCxnSpPr>
          <p:nvPr/>
        </p:nvCxnSpPr>
        <p:spPr>
          <a:xfrm flipV="1">
            <a:off x="2999412" y="4908767"/>
            <a:ext cx="0" cy="37146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8F399431-A158-8DF0-C67A-06F8261DFE43}"/>
              </a:ext>
            </a:extLst>
          </p:cNvPr>
          <p:cNvCxnSpPr>
            <a:cxnSpLocks/>
          </p:cNvCxnSpPr>
          <p:nvPr/>
        </p:nvCxnSpPr>
        <p:spPr>
          <a:xfrm flipV="1">
            <a:off x="4711671" y="4908767"/>
            <a:ext cx="0" cy="36250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34467DFE-5917-DEF0-945B-4027F72CA571}"/>
              </a:ext>
            </a:extLst>
          </p:cNvPr>
          <p:cNvCxnSpPr>
            <a:cxnSpLocks/>
          </p:cNvCxnSpPr>
          <p:nvPr/>
        </p:nvCxnSpPr>
        <p:spPr>
          <a:xfrm flipH="1">
            <a:off x="1269226" y="4894736"/>
            <a:ext cx="344244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9EC6236D-B012-D4E1-3FFB-1E3E80E9D73C}"/>
              </a:ext>
            </a:extLst>
          </p:cNvPr>
          <p:cNvCxnSpPr>
            <a:cxnSpLocks/>
            <a:endCxn id="16" idx="2"/>
          </p:cNvCxnSpPr>
          <p:nvPr/>
        </p:nvCxnSpPr>
        <p:spPr>
          <a:xfrm flipV="1">
            <a:off x="2999411" y="4566413"/>
            <a:ext cx="9046" cy="31937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6A18C455-0714-502E-4E20-8C4FC4293D27}"/>
              </a:ext>
            </a:extLst>
          </p:cNvPr>
          <p:cNvSpPr txBox="1"/>
          <p:nvPr/>
        </p:nvSpPr>
        <p:spPr>
          <a:xfrm>
            <a:off x="7799294" y="6074630"/>
            <a:ext cx="38931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แสดงระบบจำนวนจริงด้วยแผนภาพเวนน์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7F838D3D-74B4-A281-A6FE-4776843429E9}"/>
              </a:ext>
            </a:extLst>
          </p:cNvPr>
          <p:cNvSpPr/>
          <p:nvPr/>
        </p:nvSpPr>
        <p:spPr>
          <a:xfrm>
            <a:off x="7618875" y="6121684"/>
            <a:ext cx="295835" cy="29583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ACAAE037-1A4D-1B73-BA40-AFA3D38EBF93}"/>
              </a:ext>
            </a:extLst>
          </p:cNvPr>
          <p:cNvSpPr/>
          <p:nvPr/>
        </p:nvSpPr>
        <p:spPr>
          <a:xfrm>
            <a:off x="600635" y="1726866"/>
            <a:ext cx="11091816" cy="2049559"/>
          </a:xfrm>
          <a:prstGeom prst="roundRect">
            <a:avLst>
              <a:gd name="adj" fmla="val 3501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38F3CA27-CC42-90CC-DDBA-6C9AC2809586}"/>
                  </a:ext>
                </a:extLst>
              </p:cNvPr>
              <p:cNvSpPr txBox="1"/>
              <p:nvPr/>
            </p:nvSpPr>
            <p:spPr>
              <a:xfrm>
                <a:off x="659387" y="1841168"/>
                <a:ext cx="10402495" cy="11399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เซตของจำนวนตรรกยะ 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(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H Sarabun New" panose="020B0500040200020003" pitchFamily="34" charset="-34"/>
                      </a:rPr>
                      <m:t>ℚ</m:t>
                    </m:r>
                  </m:oMath>
                </a14:m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)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คือ เซตจำนวนที่สามารถเขียนอยู่ในรูปของ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th-TH" sz="2400" b="1" i="0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fPr>
                      <m:num>
                        <m:r>
                          <a:rPr lang="th-TH" sz="2400" b="1" i="0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𝐚</m:t>
                        </m:r>
                      </m:num>
                      <m:den>
                        <m:r>
                          <a:rPr lang="th-TH" sz="2400" b="1" i="0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𝐛</m:t>
                        </m:r>
                      </m:den>
                    </m:f>
                  </m:oMath>
                </a14:m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 โดยที่ 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a 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และ 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b 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เป็นจำนวนเต็ม และ 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b </a:t>
                </a:r>
                <a14:m>
                  <m:oMath xmlns:m="http://schemas.openxmlformats.org/officeDocument/2006/math">
                    <m:r>
                      <a:rPr lang="en-US" sz="1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H Sarabun New" panose="020B0500040200020003" pitchFamily="34" charset="-34"/>
                      </a:rPr>
                      <m:t>≠</m:t>
                    </m:r>
                  </m:oMath>
                </a14:m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0</a:t>
                </a:r>
              </a:p>
              <a:p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หรือเซตที่สมาชิกสามารถเขียนให้อยู่ในรูปเศษส่วนได้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เช่น 3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fPr>
                      <m:num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𝟏</m:t>
                        </m:r>
                      </m:num>
                      <m:den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𝟏𝟎</m:t>
                        </m:r>
                      </m:den>
                    </m:f>
                  </m:oMath>
                </a14:m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, -1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fPr>
                      <m:num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𝟑</m:t>
                        </m:r>
                      </m:num>
                      <m:den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𝟒</m:t>
                        </m:r>
                      </m:den>
                    </m:f>
                  </m:oMath>
                </a14:m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, 0.45, 1.595959…, …</a:t>
                </a:r>
              </a:p>
            </p:txBody>
          </p:sp>
        </mc:Choice>
        <mc:Fallback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38F3CA27-CC42-90CC-DDBA-6C9AC28095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387" y="1841168"/>
                <a:ext cx="10402495" cy="1139927"/>
              </a:xfrm>
              <a:prstGeom prst="rect">
                <a:avLst/>
              </a:prstGeom>
              <a:blipFill>
                <a:blip r:embed="rId3"/>
                <a:stretch>
                  <a:fillRect l="-879" b="-69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3" name="Picture 72">
            <a:extLst>
              <a:ext uri="{FF2B5EF4-FFF2-40B4-BE49-F238E27FC236}">
                <a16:creationId xmlns:a16="http://schemas.microsoft.com/office/drawing/2014/main" id="{51CD3607-1971-CB53-30A1-5B21059865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1884" y="1808306"/>
            <a:ext cx="571580" cy="504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27531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5E53E9-301C-1AEF-9FEF-1F54BDDABF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248D4FC-6114-A632-1AB4-EB2E3B96DF57}"/>
              </a:ext>
            </a:extLst>
          </p:cNvPr>
          <p:cNvSpPr/>
          <p:nvPr/>
        </p:nvSpPr>
        <p:spPr>
          <a:xfrm>
            <a:off x="0" y="0"/>
            <a:ext cx="12192000" cy="57807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DBEF946-DA63-517D-A270-F431794FA8E4}"/>
              </a:ext>
            </a:extLst>
          </p:cNvPr>
          <p:cNvSpPr txBox="1"/>
          <p:nvPr/>
        </p:nvSpPr>
        <p:spPr>
          <a:xfrm>
            <a:off x="349857" y="79515"/>
            <a:ext cx="67188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800" b="1" dirty="0">
                <a:solidFill>
                  <a:schemeClr val="bg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จำนวนจริง</a:t>
            </a:r>
            <a:endParaRPr lang="en-US" sz="2800" b="1" dirty="0">
              <a:solidFill>
                <a:schemeClr val="bg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93FBD65-24F6-ACDD-1787-A383C65DAEBA}"/>
              </a:ext>
            </a:extLst>
          </p:cNvPr>
          <p:cNvCxnSpPr/>
          <p:nvPr/>
        </p:nvCxnSpPr>
        <p:spPr>
          <a:xfrm>
            <a:off x="0" y="588395"/>
            <a:ext cx="12192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4A13141B-1073-A6EB-225F-AA4EA33F5F65}"/>
              </a:ext>
            </a:extLst>
          </p:cNvPr>
          <p:cNvSpPr txBox="1"/>
          <p:nvPr/>
        </p:nvSpPr>
        <p:spPr>
          <a:xfrm>
            <a:off x="349857" y="954539"/>
            <a:ext cx="12952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โหมด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A24647C2-B7F9-3FB2-A5DD-B87201054808}"/>
              </a:ext>
            </a:extLst>
          </p:cNvPr>
          <p:cNvSpPr/>
          <p:nvPr/>
        </p:nvSpPr>
        <p:spPr>
          <a:xfrm>
            <a:off x="5067699" y="1829922"/>
            <a:ext cx="2056601" cy="46166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จำนวนจริง</a:t>
            </a:r>
            <a:endParaRPr lang="en-US" sz="2400" b="1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ABC2776-C136-33FF-F603-DDC7485EFA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5218" y="676854"/>
            <a:ext cx="2886478" cy="847843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D252C7F-3307-1D09-4B30-DDDEB8C668B1}"/>
              </a:ext>
            </a:extLst>
          </p:cNvPr>
          <p:cNvSpPr/>
          <p:nvPr/>
        </p:nvSpPr>
        <p:spPr>
          <a:xfrm>
            <a:off x="349857" y="1541826"/>
            <a:ext cx="11501484" cy="5236656"/>
          </a:xfrm>
          <a:prstGeom prst="roundRect">
            <a:avLst>
              <a:gd name="adj" fmla="val 3501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B134A95-C686-4572-5771-831F21C6812C}"/>
              </a:ext>
            </a:extLst>
          </p:cNvPr>
          <p:cNvSpPr/>
          <p:nvPr/>
        </p:nvSpPr>
        <p:spPr>
          <a:xfrm>
            <a:off x="3423395" y="2967335"/>
            <a:ext cx="2056601" cy="46166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จำนวนตรรกยะ</a:t>
            </a:r>
            <a:endParaRPr lang="en-US" sz="2400" b="1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B36BB3B3-C22B-8C14-1EA5-D2515DA874EC}"/>
              </a:ext>
            </a:extLst>
          </p:cNvPr>
          <p:cNvSpPr/>
          <p:nvPr/>
        </p:nvSpPr>
        <p:spPr>
          <a:xfrm>
            <a:off x="6609067" y="2967334"/>
            <a:ext cx="2056601" cy="46166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จำนวนอตรรกยะ</a:t>
            </a:r>
            <a:endParaRPr lang="en-US" sz="2400" b="1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E90CCCC4-56EB-6C75-FBCD-BB1D4E5D07FB}"/>
              </a:ext>
            </a:extLst>
          </p:cNvPr>
          <p:cNvSpPr/>
          <p:nvPr/>
        </p:nvSpPr>
        <p:spPr>
          <a:xfrm>
            <a:off x="1980156" y="4104748"/>
            <a:ext cx="2056601" cy="46166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จำนวนเต็ม</a:t>
            </a:r>
            <a:endParaRPr lang="en-US" sz="2400" b="1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516F2252-B446-21CF-77E4-BDB052D5A637}"/>
              </a:ext>
            </a:extLst>
          </p:cNvPr>
          <p:cNvSpPr/>
          <p:nvPr/>
        </p:nvSpPr>
        <p:spPr>
          <a:xfrm>
            <a:off x="4768178" y="4104748"/>
            <a:ext cx="2439446" cy="46166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จำนวนที่ไม่ใช่จำนวนเต็ม</a:t>
            </a:r>
            <a:endParaRPr lang="en-US" sz="2400" b="1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9A8374EF-1854-4480-C4A4-363617BA3DFF}"/>
              </a:ext>
            </a:extLst>
          </p:cNvPr>
          <p:cNvSpPr/>
          <p:nvPr/>
        </p:nvSpPr>
        <p:spPr>
          <a:xfrm>
            <a:off x="536917" y="5274671"/>
            <a:ext cx="1443239" cy="46166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จำนวนเต็มลบ</a:t>
            </a:r>
            <a:endParaRPr lang="en-US" sz="2400" b="1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08B1CC22-FB3E-30C9-52E5-5A05203BE191}"/>
              </a:ext>
            </a:extLst>
          </p:cNvPr>
          <p:cNvSpPr/>
          <p:nvPr/>
        </p:nvSpPr>
        <p:spPr>
          <a:xfrm>
            <a:off x="2167216" y="5274670"/>
            <a:ext cx="1567988" cy="46166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จำนวนเต็มศูนย์</a:t>
            </a:r>
            <a:endParaRPr lang="en-US" sz="2400" b="1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8642BAB9-7BFE-7899-50C3-09EBBA70EA44}"/>
              </a:ext>
            </a:extLst>
          </p:cNvPr>
          <p:cNvSpPr/>
          <p:nvPr/>
        </p:nvSpPr>
        <p:spPr>
          <a:xfrm>
            <a:off x="3912008" y="5274670"/>
            <a:ext cx="1567988" cy="46166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จำนวนเต็มบวก</a:t>
            </a:r>
            <a:endParaRPr lang="en-US" sz="2400" b="1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55739923-D0CB-BFFF-ECD4-D877061564AF}"/>
              </a:ext>
            </a:extLst>
          </p:cNvPr>
          <p:cNvCxnSpPr>
            <a:stCxn id="26" idx="2"/>
          </p:cNvCxnSpPr>
          <p:nvPr/>
        </p:nvCxnSpPr>
        <p:spPr>
          <a:xfrm flipH="1">
            <a:off x="6095999" y="2291587"/>
            <a:ext cx="1" cy="39782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1BA4BA06-EE25-A6D7-B58F-33D5E0AC7382}"/>
              </a:ext>
            </a:extLst>
          </p:cNvPr>
          <p:cNvCxnSpPr>
            <a:stCxn id="12" idx="0"/>
          </p:cNvCxnSpPr>
          <p:nvPr/>
        </p:nvCxnSpPr>
        <p:spPr>
          <a:xfrm flipH="1" flipV="1">
            <a:off x="4451695" y="2725271"/>
            <a:ext cx="1" cy="24206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B28710AD-97F1-9601-2614-20281CDD4002}"/>
              </a:ext>
            </a:extLst>
          </p:cNvPr>
          <p:cNvCxnSpPr>
            <a:cxnSpLocks/>
            <a:stCxn id="14" idx="0"/>
          </p:cNvCxnSpPr>
          <p:nvPr/>
        </p:nvCxnSpPr>
        <p:spPr>
          <a:xfrm flipV="1">
            <a:off x="7637368" y="2725271"/>
            <a:ext cx="0" cy="24206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6A4E924D-1539-F51E-9B29-A388381118EB}"/>
              </a:ext>
            </a:extLst>
          </p:cNvPr>
          <p:cNvCxnSpPr/>
          <p:nvPr/>
        </p:nvCxnSpPr>
        <p:spPr>
          <a:xfrm flipH="1">
            <a:off x="4451695" y="2725271"/>
            <a:ext cx="318567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EAF6E93A-AB1E-B6F8-A427-2923BF30FE93}"/>
              </a:ext>
            </a:extLst>
          </p:cNvPr>
          <p:cNvCxnSpPr>
            <a:cxnSpLocks/>
          </p:cNvCxnSpPr>
          <p:nvPr/>
        </p:nvCxnSpPr>
        <p:spPr>
          <a:xfrm>
            <a:off x="4455459" y="3421144"/>
            <a:ext cx="0" cy="41575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C0E674F8-1E39-88CB-9503-0BBF25C93D21}"/>
              </a:ext>
            </a:extLst>
          </p:cNvPr>
          <p:cNvCxnSpPr>
            <a:cxnSpLocks/>
          </p:cNvCxnSpPr>
          <p:nvPr/>
        </p:nvCxnSpPr>
        <p:spPr>
          <a:xfrm flipH="1">
            <a:off x="2981486" y="3836900"/>
            <a:ext cx="311074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E3C5087E-F44C-FC31-15B5-10EC3BBDF197}"/>
              </a:ext>
            </a:extLst>
          </p:cNvPr>
          <p:cNvCxnSpPr/>
          <p:nvPr/>
        </p:nvCxnSpPr>
        <p:spPr>
          <a:xfrm flipH="1" flipV="1">
            <a:off x="2999410" y="3845863"/>
            <a:ext cx="1" cy="24206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DC21895B-A21D-56FC-6F73-FF90779AE50B}"/>
              </a:ext>
            </a:extLst>
          </p:cNvPr>
          <p:cNvCxnSpPr/>
          <p:nvPr/>
        </p:nvCxnSpPr>
        <p:spPr>
          <a:xfrm flipH="1" flipV="1">
            <a:off x="6092234" y="3836899"/>
            <a:ext cx="1" cy="24206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1C7A1C46-3099-94E4-331A-727E3B4C4614}"/>
              </a:ext>
            </a:extLst>
          </p:cNvPr>
          <p:cNvCxnSpPr>
            <a:cxnSpLocks/>
          </p:cNvCxnSpPr>
          <p:nvPr/>
        </p:nvCxnSpPr>
        <p:spPr>
          <a:xfrm flipV="1">
            <a:off x="1269223" y="4894736"/>
            <a:ext cx="0" cy="36757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CBDEEDAE-FFBC-205D-DF4A-F6AD7DE4131D}"/>
              </a:ext>
            </a:extLst>
          </p:cNvPr>
          <p:cNvCxnSpPr>
            <a:cxnSpLocks/>
          </p:cNvCxnSpPr>
          <p:nvPr/>
        </p:nvCxnSpPr>
        <p:spPr>
          <a:xfrm flipV="1">
            <a:off x="2999412" y="4908767"/>
            <a:ext cx="0" cy="37146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6FB0B7AC-003F-B005-BF60-C2584F90CFFA}"/>
              </a:ext>
            </a:extLst>
          </p:cNvPr>
          <p:cNvCxnSpPr>
            <a:cxnSpLocks/>
          </p:cNvCxnSpPr>
          <p:nvPr/>
        </p:nvCxnSpPr>
        <p:spPr>
          <a:xfrm flipV="1">
            <a:off x="4711671" y="4908767"/>
            <a:ext cx="0" cy="36250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C47F2759-7998-9ECA-F8D4-C3A5714AC164}"/>
              </a:ext>
            </a:extLst>
          </p:cNvPr>
          <p:cNvCxnSpPr>
            <a:cxnSpLocks/>
          </p:cNvCxnSpPr>
          <p:nvPr/>
        </p:nvCxnSpPr>
        <p:spPr>
          <a:xfrm flipH="1">
            <a:off x="1269226" y="4894736"/>
            <a:ext cx="344244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B7F7D0EF-F8A2-0AA0-8406-DED082AF14F7}"/>
              </a:ext>
            </a:extLst>
          </p:cNvPr>
          <p:cNvCxnSpPr>
            <a:cxnSpLocks/>
            <a:endCxn id="16" idx="2"/>
          </p:cNvCxnSpPr>
          <p:nvPr/>
        </p:nvCxnSpPr>
        <p:spPr>
          <a:xfrm flipV="1">
            <a:off x="2999411" y="4566413"/>
            <a:ext cx="9046" cy="31937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645CF85C-7095-306D-2D30-DB9E7B6C996C}"/>
              </a:ext>
            </a:extLst>
          </p:cNvPr>
          <p:cNvSpPr txBox="1"/>
          <p:nvPr/>
        </p:nvSpPr>
        <p:spPr>
          <a:xfrm>
            <a:off x="7799294" y="6074630"/>
            <a:ext cx="38931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แสดงระบบจำนวนจริงด้วยแผนภาพเวนน์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51BB893E-4387-6FFF-24A8-2F6C965EDDAD}"/>
              </a:ext>
            </a:extLst>
          </p:cNvPr>
          <p:cNvSpPr/>
          <p:nvPr/>
        </p:nvSpPr>
        <p:spPr>
          <a:xfrm>
            <a:off x="7618875" y="6121684"/>
            <a:ext cx="295835" cy="29583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76C5FCEF-A4F6-8654-0D8F-831304F77F8E}"/>
              </a:ext>
            </a:extLst>
          </p:cNvPr>
          <p:cNvSpPr/>
          <p:nvPr/>
        </p:nvSpPr>
        <p:spPr>
          <a:xfrm>
            <a:off x="600635" y="1726866"/>
            <a:ext cx="11091816" cy="2049559"/>
          </a:xfrm>
          <a:prstGeom prst="roundRect">
            <a:avLst>
              <a:gd name="adj" fmla="val 3501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385642E3-4C90-F094-C3FA-87590766CBCE}"/>
                  </a:ext>
                </a:extLst>
              </p:cNvPr>
              <p:cNvSpPr txBox="1"/>
              <p:nvPr/>
            </p:nvSpPr>
            <p:spPr>
              <a:xfrm>
                <a:off x="659387" y="1841168"/>
                <a:ext cx="10402495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เซตของจำนวนอตรรกยะ 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sSupPr>
                      <m:e>
                        <m: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H Sarabun New" panose="020B0500040200020003" pitchFamily="34" charset="-34"/>
                          </a:rPr>
                          <m:t>ℚ</m:t>
                        </m:r>
                      </m:e>
                      <m:sup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H Sarabun New" panose="020B0500040200020003" pitchFamily="34" charset="-34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)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คือ เซตที่ไม่ใช่จำนวนตรรกยะ หรือเซตที่สมาชิกไม่สามารถเขียนให้อยู่ในรูปเศษส่วนได้</a:t>
                </a:r>
                <a:endPara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endParaRPr>
              </a:p>
              <a:p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เช่น </a:t>
                </a:r>
                <a14:m>
                  <m:oMath xmlns:m="http://schemas.openxmlformats.org/officeDocument/2006/math">
                    <m:r>
                      <a:rPr lang="th-TH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H Sarabun New" panose="020B0500040200020003" pitchFamily="34" charset="-34"/>
                      </a:rPr>
                      <m:t>𝝅</m:t>
                    </m:r>
                  </m:oMath>
                </a14:m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, 1.3125…,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radPr>
                      <m:deg/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𝟐</m:t>
                        </m:r>
                      </m:e>
                    </m:rad>
                  </m:oMath>
                </a14:m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,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radPr>
                      <m:deg/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𝟓</m:t>
                        </m:r>
                      </m:e>
                    </m:rad>
                  </m:oMath>
                </a14:m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, … </a:t>
                </a:r>
              </a:p>
            </p:txBody>
          </p:sp>
        </mc:Choice>
        <mc:Fallback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385642E3-4C90-F094-C3FA-87590766CB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387" y="1841168"/>
                <a:ext cx="10402495" cy="830997"/>
              </a:xfrm>
              <a:prstGeom prst="rect">
                <a:avLst/>
              </a:prstGeom>
              <a:blipFill>
                <a:blip r:embed="rId3"/>
                <a:stretch>
                  <a:fillRect l="-879" t="-3676" b="-183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3" name="Picture 72">
            <a:extLst>
              <a:ext uri="{FF2B5EF4-FFF2-40B4-BE49-F238E27FC236}">
                <a16:creationId xmlns:a16="http://schemas.microsoft.com/office/drawing/2014/main" id="{43361964-74BD-A610-A67E-28CF259ACA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1884" y="1808306"/>
            <a:ext cx="571580" cy="504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27575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7B16A8-C68D-8FD7-E3B7-0A9A404F2C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6BA6F3D-320F-1CB9-4AE5-4A02387E5EEE}"/>
              </a:ext>
            </a:extLst>
          </p:cNvPr>
          <p:cNvSpPr/>
          <p:nvPr/>
        </p:nvSpPr>
        <p:spPr>
          <a:xfrm>
            <a:off x="0" y="0"/>
            <a:ext cx="12192000" cy="57807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42E969-476E-1D56-49A2-5616F92F6240}"/>
              </a:ext>
            </a:extLst>
          </p:cNvPr>
          <p:cNvSpPr txBox="1"/>
          <p:nvPr/>
        </p:nvSpPr>
        <p:spPr>
          <a:xfrm>
            <a:off x="349857" y="79515"/>
            <a:ext cx="67188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800" b="1" dirty="0">
                <a:solidFill>
                  <a:schemeClr val="bg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จำนวนจริง</a:t>
            </a:r>
            <a:endParaRPr lang="en-US" sz="2800" b="1" dirty="0">
              <a:solidFill>
                <a:schemeClr val="bg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C8175AE-3445-1469-7E3C-0D86187A4B61}"/>
              </a:ext>
            </a:extLst>
          </p:cNvPr>
          <p:cNvCxnSpPr/>
          <p:nvPr/>
        </p:nvCxnSpPr>
        <p:spPr>
          <a:xfrm>
            <a:off x="0" y="588395"/>
            <a:ext cx="12192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1EAF5436-2BF4-968F-3D13-0A65A8E00009}"/>
              </a:ext>
            </a:extLst>
          </p:cNvPr>
          <p:cNvSpPr txBox="1"/>
          <p:nvPr/>
        </p:nvSpPr>
        <p:spPr>
          <a:xfrm>
            <a:off x="349857" y="954539"/>
            <a:ext cx="12952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โหมด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FB3D31C7-72FD-AE21-8460-88A561062EEA}"/>
              </a:ext>
            </a:extLst>
          </p:cNvPr>
          <p:cNvSpPr/>
          <p:nvPr/>
        </p:nvSpPr>
        <p:spPr>
          <a:xfrm>
            <a:off x="5067699" y="1829922"/>
            <a:ext cx="2056601" cy="46166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จำนวนจริง</a:t>
            </a:r>
            <a:endParaRPr lang="en-US" sz="2400" b="1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0B5DA72-074C-BCE7-A757-5C59790467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5218" y="676854"/>
            <a:ext cx="2886478" cy="847843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9A65043-C40A-650B-2309-1C00ECA28021}"/>
              </a:ext>
            </a:extLst>
          </p:cNvPr>
          <p:cNvSpPr/>
          <p:nvPr/>
        </p:nvSpPr>
        <p:spPr>
          <a:xfrm>
            <a:off x="349857" y="1541826"/>
            <a:ext cx="11501484" cy="5236656"/>
          </a:xfrm>
          <a:prstGeom prst="roundRect">
            <a:avLst>
              <a:gd name="adj" fmla="val 3501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E39F3D2-A36D-A8FC-2E04-CC0BAA0513CB}"/>
              </a:ext>
            </a:extLst>
          </p:cNvPr>
          <p:cNvSpPr/>
          <p:nvPr/>
        </p:nvSpPr>
        <p:spPr>
          <a:xfrm>
            <a:off x="3423395" y="2967335"/>
            <a:ext cx="2056601" cy="46166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จำนวนตรรกยะ</a:t>
            </a:r>
            <a:endParaRPr lang="en-US" sz="2400" b="1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EA5CB5DA-9501-7A7F-099F-F278C3FDC77B}"/>
              </a:ext>
            </a:extLst>
          </p:cNvPr>
          <p:cNvSpPr/>
          <p:nvPr/>
        </p:nvSpPr>
        <p:spPr>
          <a:xfrm>
            <a:off x="6609067" y="2967334"/>
            <a:ext cx="2056601" cy="46166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จำนวนอตรรกยะ</a:t>
            </a:r>
            <a:endParaRPr lang="en-US" sz="2400" b="1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9ECF9CA1-F59B-F2A3-B018-2AF748B54759}"/>
              </a:ext>
            </a:extLst>
          </p:cNvPr>
          <p:cNvSpPr/>
          <p:nvPr/>
        </p:nvSpPr>
        <p:spPr>
          <a:xfrm>
            <a:off x="1980156" y="4104748"/>
            <a:ext cx="2056601" cy="46166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จำนวนเต็ม</a:t>
            </a:r>
            <a:endParaRPr lang="en-US" sz="2400" b="1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642906D3-DCA0-B085-4F08-F81587CF3C3A}"/>
              </a:ext>
            </a:extLst>
          </p:cNvPr>
          <p:cNvSpPr/>
          <p:nvPr/>
        </p:nvSpPr>
        <p:spPr>
          <a:xfrm>
            <a:off x="4768178" y="4104748"/>
            <a:ext cx="2439446" cy="46166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จำนวนที่ไม่ใช่จำนวนเต็ม</a:t>
            </a:r>
            <a:endParaRPr lang="en-US" sz="2400" b="1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86B85AFB-9C02-E32E-D25D-541A5F097284}"/>
              </a:ext>
            </a:extLst>
          </p:cNvPr>
          <p:cNvSpPr/>
          <p:nvPr/>
        </p:nvSpPr>
        <p:spPr>
          <a:xfrm>
            <a:off x="536917" y="5274671"/>
            <a:ext cx="1443239" cy="46166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จำนวนเต็มลบ</a:t>
            </a:r>
            <a:endParaRPr lang="en-US" sz="2400" b="1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CEB191FE-BB4D-9A49-B34E-105C82284F27}"/>
              </a:ext>
            </a:extLst>
          </p:cNvPr>
          <p:cNvSpPr/>
          <p:nvPr/>
        </p:nvSpPr>
        <p:spPr>
          <a:xfrm>
            <a:off x="2167216" y="5274670"/>
            <a:ext cx="1567988" cy="46166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จำนวนเต็มศูนย์</a:t>
            </a:r>
            <a:endParaRPr lang="en-US" sz="2400" b="1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4136FB9C-571D-E924-A417-066A96756528}"/>
              </a:ext>
            </a:extLst>
          </p:cNvPr>
          <p:cNvSpPr/>
          <p:nvPr/>
        </p:nvSpPr>
        <p:spPr>
          <a:xfrm>
            <a:off x="3912008" y="5274670"/>
            <a:ext cx="1567988" cy="46166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จำนวนเต็มบวก</a:t>
            </a:r>
            <a:endParaRPr lang="en-US" sz="2400" b="1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D0EC364E-6BFF-AB9E-5EA3-3ECDD35D9FA2}"/>
              </a:ext>
            </a:extLst>
          </p:cNvPr>
          <p:cNvCxnSpPr>
            <a:stCxn id="26" idx="2"/>
          </p:cNvCxnSpPr>
          <p:nvPr/>
        </p:nvCxnSpPr>
        <p:spPr>
          <a:xfrm flipH="1">
            <a:off x="6095999" y="2291587"/>
            <a:ext cx="1" cy="39782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0ABF55B-C49C-0536-CF60-F27202CDEE32}"/>
              </a:ext>
            </a:extLst>
          </p:cNvPr>
          <p:cNvCxnSpPr>
            <a:stCxn id="12" idx="0"/>
          </p:cNvCxnSpPr>
          <p:nvPr/>
        </p:nvCxnSpPr>
        <p:spPr>
          <a:xfrm flipH="1" flipV="1">
            <a:off x="4451695" y="2725271"/>
            <a:ext cx="1" cy="24206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DC2D0D11-69DE-C110-06A3-D2255DED639A}"/>
              </a:ext>
            </a:extLst>
          </p:cNvPr>
          <p:cNvCxnSpPr>
            <a:cxnSpLocks/>
            <a:stCxn id="14" idx="0"/>
          </p:cNvCxnSpPr>
          <p:nvPr/>
        </p:nvCxnSpPr>
        <p:spPr>
          <a:xfrm flipV="1">
            <a:off x="7637368" y="2725271"/>
            <a:ext cx="0" cy="24206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4AD6BA29-F8BE-C618-CAD4-39A32B9E4BE2}"/>
              </a:ext>
            </a:extLst>
          </p:cNvPr>
          <p:cNvCxnSpPr/>
          <p:nvPr/>
        </p:nvCxnSpPr>
        <p:spPr>
          <a:xfrm flipH="1">
            <a:off x="4451695" y="2725271"/>
            <a:ext cx="318567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CD0533D1-D1A3-9E21-A389-A098271DB797}"/>
              </a:ext>
            </a:extLst>
          </p:cNvPr>
          <p:cNvCxnSpPr>
            <a:cxnSpLocks/>
          </p:cNvCxnSpPr>
          <p:nvPr/>
        </p:nvCxnSpPr>
        <p:spPr>
          <a:xfrm>
            <a:off x="4455459" y="3421144"/>
            <a:ext cx="0" cy="41575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0403DADA-C822-8ABC-E945-C91710A84DDF}"/>
              </a:ext>
            </a:extLst>
          </p:cNvPr>
          <p:cNvCxnSpPr>
            <a:cxnSpLocks/>
          </p:cNvCxnSpPr>
          <p:nvPr/>
        </p:nvCxnSpPr>
        <p:spPr>
          <a:xfrm flipH="1">
            <a:off x="2981486" y="3836900"/>
            <a:ext cx="311074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D77BDAB7-6221-990D-8DEA-C6A990053E67}"/>
              </a:ext>
            </a:extLst>
          </p:cNvPr>
          <p:cNvCxnSpPr/>
          <p:nvPr/>
        </p:nvCxnSpPr>
        <p:spPr>
          <a:xfrm flipH="1" flipV="1">
            <a:off x="2999410" y="3845863"/>
            <a:ext cx="1" cy="24206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2BB23E26-0AA7-1D34-CD29-701F5431BC9B}"/>
              </a:ext>
            </a:extLst>
          </p:cNvPr>
          <p:cNvCxnSpPr/>
          <p:nvPr/>
        </p:nvCxnSpPr>
        <p:spPr>
          <a:xfrm flipH="1" flipV="1">
            <a:off x="6092234" y="3836899"/>
            <a:ext cx="1" cy="24206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CE4F8688-B403-FA91-F43C-D7E99EF58D1D}"/>
              </a:ext>
            </a:extLst>
          </p:cNvPr>
          <p:cNvCxnSpPr>
            <a:cxnSpLocks/>
          </p:cNvCxnSpPr>
          <p:nvPr/>
        </p:nvCxnSpPr>
        <p:spPr>
          <a:xfrm flipV="1">
            <a:off x="1269223" y="4894736"/>
            <a:ext cx="0" cy="36757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DEFF4C46-0652-4682-1152-1AC373E552B6}"/>
              </a:ext>
            </a:extLst>
          </p:cNvPr>
          <p:cNvCxnSpPr>
            <a:cxnSpLocks/>
          </p:cNvCxnSpPr>
          <p:nvPr/>
        </p:nvCxnSpPr>
        <p:spPr>
          <a:xfrm flipV="1">
            <a:off x="2999412" y="4908767"/>
            <a:ext cx="0" cy="37146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2E42346B-AB32-DA28-282A-6862810379A8}"/>
              </a:ext>
            </a:extLst>
          </p:cNvPr>
          <p:cNvCxnSpPr>
            <a:cxnSpLocks/>
          </p:cNvCxnSpPr>
          <p:nvPr/>
        </p:nvCxnSpPr>
        <p:spPr>
          <a:xfrm flipV="1">
            <a:off x="4711671" y="4908767"/>
            <a:ext cx="0" cy="36250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EDCC1AD9-1F5A-7C45-D654-A4D607AB7180}"/>
              </a:ext>
            </a:extLst>
          </p:cNvPr>
          <p:cNvCxnSpPr>
            <a:cxnSpLocks/>
          </p:cNvCxnSpPr>
          <p:nvPr/>
        </p:nvCxnSpPr>
        <p:spPr>
          <a:xfrm flipH="1">
            <a:off x="1269226" y="4894736"/>
            <a:ext cx="344244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5364A6C3-B194-6BD6-55CD-1E03610B2195}"/>
              </a:ext>
            </a:extLst>
          </p:cNvPr>
          <p:cNvCxnSpPr>
            <a:cxnSpLocks/>
            <a:endCxn id="16" idx="2"/>
          </p:cNvCxnSpPr>
          <p:nvPr/>
        </p:nvCxnSpPr>
        <p:spPr>
          <a:xfrm flipV="1">
            <a:off x="2999411" y="4566413"/>
            <a:ext cx="9046" cy="31937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2B4075AC-E5FB-AB63-7367-C176280E070C}"/>
              </a:ext>
            </a:extLst>
          </p:cNvPr>
          <p:cNvSpPr txBox="1"/>
          <p:nvPr/>
        </p:nvSpPr>
        <p:spPr>
          <a:xfrm>
            <a:off x="7799294" y="6074630"/>
            <a:ext cx="38931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แสดงระบบจำนวนจริงด้วยแผนภาพเวนน์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A570387A-FF92-882A-846B-60E1154EF9B5}"/>
              </a:ext>
            </a:extLst>
          </p:cNvPr>
          <p:cNvSpPr/>
          <p:nvPr/>
        </p:nvSpPr>
        <p:spPr>
          <a:xfrm>
            <a:off x="7618875" y="6121684"/>
            <a:ext cx="295835" cy="29583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32B8BFE3-470D-57F4-8E3C-04654035F2EB}"/>
              </a:ext>
            </a:extLst>
          </p:cNvPr>
          <p:cNvSpPr/>
          <p:nvPr/>
        </p:nvSpPr>
        <p:spPr>
          <a:xfrm>
            <a:off x="600635" y="1726866"/>
            <a:ext cx="11091816" cy="2049559"/>
          </a:xfrm>
          <a:prstGeom prst="roundRect">
            <a:avLst>
              <a:gd name="adj" fmla="val 3501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8D49D27B-12E9-A2F7-78EB-31D520F8E722}"/>
                  </a:ext>
                </a:extLst>
              </p:cNvPr>
              <p:cNvSpPr txBox="1"/>
              <p:nvPr/>
            </p:nvSpPr>
            <p:spPr>
              <a:xfrm>
                <a:off x="659387" y="1841168"/>
                <a:ext cx="10402495" cy="16012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เซตของจำนวนเต็ม 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(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H Sarabun New" panose="020B0500040200020003" pitchFamily="34" charset="-34"/>
                      </a:rPr>
                      <m:t>ℤ</m:t>
                    </m:r>
                  </m:oMath>
                </a14:m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)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คือ เซตที่ประกอบไปด้วย เซตของจำนวนเต็มลบ เซตของจำนวนเต็มศูนย์ </a:t>
                </a:r>
              </a:p>
              <a:p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และเซตของจำนวนเต็มบวก</a:t>
                </a:r>
                <a:endPara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endParaRPr>
              </a:p>
              <a:p>
                <a:endPara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endParaRPr>
              </a:p>
              <a:p>
                <a:pPr algn="ctr"/>
                <a14:m>
                  <m:oMath xmlns:m="http://schemas.openxmlformats.org/officeDocument/2006/math">
                    <m:r>
                      <a:rPr lang="en-US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H Sarabun New" panose="020B0500040200020003" pitchFamily="34" charset="-34"/>
                      </a:rPr>
                      <m:t>ℤ</m:t>
                    </m:r>
                    <m:r>
                      <a:rPr lang="en-US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H Sarabun New" panose="020B0500040200020003" pitchFamily="34" charset="-34"/>
                      </a:rPr>
                      <m:t> </m:t>
                    </m:r>
                  </m:oMath>
                </a14:m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= {…, -3, -2, -1, 0, 1, 2, 3, …}</a:t>
                </a:r>
              </a:p>
            </p:txBody>
          </p:sp>
        </mc:Choice>
        <mc:Fallback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8D49D27B-12E9-A2F7-78EB-31D520F8E7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387" y="1841168"/>
                <a:ext cx="10402495" cy="1601272"/>
              </a:xfrm>
              <a:prstGeom prst="rect">
                <a:avLst/>
              </a:prstGeom>
              <a:blipFill>
                <a:blip r:embed="rId3"/>
                <a:stretch>
                  <a:fillRect l="-879" t="-1901" b="-68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3" name="Picture 72">
            <a:extLst>
              <a:ext uri="{FF2B5EF4-FFF2-40B4-BE49-F238E27FC236}">
                <a16:creationId xmlns:a16="http://schemas.microsoft.com/office/drawing/2014/main" id="{EA22356B-C901-88DE-2609-8065E5AB9D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1884" y="1808306"/>
            <a:ext cx="571580" cy="504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16054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3C96E5-768F-2C61-AB03-85F4B6A8D4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1BC73CD-1D4B-22E1-50B2-F4E2665B3159}"/>
              </a:ext>
            </a:extLst>
          </p:cNvPr>
          <p:cNvSpPr/>
          <p:nvPr/>
        </p:nvSpPr>
        <p:spPr>
          <a:xfrm>
            <a:off x="0" y="0"/>
            <a:ext cx="12192000" cy="57807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C860C80-84AC-CE49-F107-612F4E42A48A}"/>
              </a:ext>
            </a:extLst>
          </p:cNvPr>
          <p:cNvSpPr txBox="1"/>
          <p:nvPr/>
        </p:nvSpPr>
        <p:spPr>
          <a:xfrm>
            <a:off x="349857" y="79515"/>
            <a:ext cx="67188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800" b="1" dirty="0">
                <a:solidFill>
                  <a:schemeClr val="bg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จำนวนจริง</a:t>
            </a:r>
            <a:endParaRPr lang="en-US" sz="2800" b="1" dirty="0">
              <a:solidFill>
                <a:schemeClr val="bg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CB2B9E8-5CDD-D4F0-765D-117F8DD1828B}"/>
              </a:ext>
            </a:extLst>
          </p:cNvPr>
          <p:cNvCxnSpPr/>
          <p:nvPr/>
        </p:nvCxnSpPr>
        <p:spPr>
          <a:xfrm>
            <a:off x="0" y="588395"/>
            <a:ext cx="12192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2E44FC30-A8D1-E0F0-4075-33D61A4A112D}"/>
              </a:ext>
            </a:extLst>
          </p:cNvPr>
          <p:cNvSpPr txBox="1"/>
          <p:nvPr/>
        </p:nvSpPr>
        <p:spPr>
          <a:xfrm>
            <a:off x="349857" y="954539"/>
            <a:ext cx="12952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โหมด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F789E447-73D9-D9D6-347C-849EE560929E}"/>
              </a:ext>
            </a:extLst>
          </p:cNvPr>
          <p:cNvSpPr/>
          <p:nvPr/>
        </p:nvSpPr>
        <p:spPr>
          <a:xfrm>
            <a:off x="5067699" y="1829922"/>
            <a:ext cx="2056601" cy="46166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จำนวนจริง</a:t>
            </a:r>
            <a:endParaRPr lang="en-US" sz="2400" b="1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208B401-A54B-F072-CD8A-A6B160AABC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5218" y="676854"/>
            <a:ext cx="2886478" cy="847843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726724C-B81A-C7AA-5D13-36131381B711}"/>
              </a:ext>
            </a:extLst>
          </p:cNvPr>
          <p:cNvSpPr/>
          <p:nvPr/>
        </p:nvSpPr>
        <p:spPr>
          <a:xfrm>
            <a:off x="349857" y="1541826"/>
            <a:ext cx="11501484" cy="5236656"/>
          </a:xfrm>
          <a:prstGeom prst="roundRect">
            <a:avLst>
              <a:gd name="adj" fmla="val 3501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0A0B39A-06E5-7FE1-DCDF-09C67B8D667C}"/>
              </a:ext>
            </a:extLst>
          </p:cNvPr>
          <p:cNvSpPr/>
          <p:nvPr/>
        </p:nvSpPr>
        <p:spPr>
          <a:xfrm>
            <a:off x="3423395" y="2967335"/>
            <a:ext cx="2056601" cy="46166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จำนวนตรรกยะ</a:t>
            </a:r>
            <a:endParaRPr lang="en-US" sz="2400" b="1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5410868-CD0C-7599-BCD0-1ED51838B160}"/>
              </a:ext>
            </a:extLst>
          </p:cNvPr>
          <p:cNvSpPr/>
          <p:nvPr/>
        </p:nvSpPr>
        <p:spPr>
          <a:xfrm>
            <a:off x="6609067" y="2967334"/>
            <a:ext cx="2056601" cy="46166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จำนวนอตรรกยะ</a:t>
            </a:r>
            <a:endParaRPr lang="en-US" sz="2400" b="1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F6861D6F-7867-1487-3B5F-37D41DBDC4A8}"/>
              </a:ext>
            </a:extLst>
          </p:cNvPr>
          <p:cNvSpPr/>
          <p:nvPr/>
        </p:nvSpPr>
        <p:spPr>
          <a:xfrm>
            <a:off x="1980156" y="4104748"/>
            <a:ext cx="2056601" cy="46166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จำนวนเต็ม</a:t>
            </a:r>
            <a:endParaRPr lang="en-US" sz="2400" b="1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ECA7000E-7414-6271-41A6-BAF92A70B2DF}"/>
              </a:ext>
            </a:extLst>
          </p:cNvPr>
          <p:cNvSpPr/>
          <p:nvPr/>
        </p:nvSpPr>
        <p:spPr>
          <a:xfrm>
            <a:off x="4768178" y="4104748"/>
            <a:ext cx="2439446" cy="46166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จำนวนที่ไม่ใช่จำนวนเต็ม</a:t>
            </a:r>
            <a:endParaRPr lang="en-US" sz="2400" b="1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3692D862-C0C3-1F8F-7825-E75A16770A2C}"/>
              </a:ext>
            </a:extLst>
          </p:cNvPr>
          <p:cNvSpPr/>
          <p:nvPr/>
        </p:nvSpPr>
        <p:spPr>
          <a:xfrm>
            <a:off x="536917" y="5274671"/>
            <a:ext cx="1443239" cy="46166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จำนวนเต็มลบ</a:t>
            </a:r>
            <a:endParaRPr lang="en-US" sz="2400" b="1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F15BC0D9-6182-AC86-4E8A-9748D638D18E}"/>
              </a:ext>
            </a:extLst>
          </p:cNvPr>
          <p:cNvSpPr/>
          <p:nvPr/>
        </p:nvSpPr>
        <p:spPr>
          <a:xfrm>
            <a:off x="2167216" y="5274670"/>
            <a:ext cx="1567988" cy="46166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จำนวนเต็มศูนย์</a:t>
            </a:r>
            <a:endParaRPr lang="en-US" sz="2400" b="1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BC305026-5B98-2C9E-7843-F2F272CA78B4}"/>
              </a:ext>
            </a:extLst>
          </p:cNvPr>
          <p:cNvSpPr/>
          <p:nvPr/>
        </p:nvSpPr>
        <p:spPr>
          <a:xfrm>
            <a:off x="3912008" y="5274670"/>
            <a:ext cx="1567988" cy="46166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จำนวนเต็มบวก</a:t>
            </a:r>
            <a:endParaRPr lang="en-US" sz="2400" b="1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20D83D7F-F42A-5240-0B03-BC1C19CD82AA}"/>
              </a:ext>
            </a:extLst>
          </p:cNvPr>
          <p:cNvCxnSpPr>
            <a:stCxn id="26" idx="2"/>
          </p:cNvCxnSpPr>
          <p:nvPr/>
        </p:nvCxnSpPr>
        <p:spPr>
          <a:xfrm flipH="1">
            <a:off x="6095999" y="2291587"/>
            <a:ext cx="1" cy="39782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09FEABBF-406F-9109-D890-B09A53AA53DB}"/>
              </a:ext>
            </a:extLst>
          </p:cNvPr>
          <p:cNvCxnSpPr>
            <a:stCxn id="12" idx="0"/>
          </p:cNvCxnSpPr>
          <p:nvPr/>
        </p:nvCxnSpPr>
        <p:spPr>
          <a:xfrm flipH="1" flipV="1">
            <a:off x="4451695" y="2725271"/>
            <a:ext cx="1" cy="24206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4703F222-1754-8832-BBBC-8C868CB3FF01}"/>
              </a:ext>
            </a:extLst>
          </p:cNvPr>
          <p:cNvCxnSpPr>
            <a:cxnSpLocks/>
            <a:stCxn id="14" idx="0"/>
          </p:cNvCxnSpPr>
          <p:nvPr/>
        </p:nvCxnSpPr>
        <p:spPr>
          <a:xfrm flipV="1">
            <a:off x="7637368" y="2725271"/>
            <a:ext cx="0" cy="24206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60777FE0-1AB4-EDFB-9800-12B6C87C99C9}"/>
              </a:ext>
            </a:extLst>
          </p:cNvPr>
          <p:cNvCxnSpPr/>
          <p:nvPr/>
        </p:nvCxnSpPr>
        <p:spPr>
          <a:xfrm flipH="1">
            <a:off x="4451695" y="2725271"/>
            <a:ext cx="318567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6F150F7A-42C3-B594-D539-68BAB1F492F4}"/>
              </a:ext>
            </a:extLst>
          </p:cNvPr>
          <p:cNvCxnSpPr>
            <a:cxnSpLocks/>
          </p:cNvCxnSpPr>
          <p:nvPr/>
        </p:nvCxnSpPr>
        <p:spPr>
          <a:xfrm>
            <a:off x="4455459" y="3421144"/>
            <a:ext cx="0" cy="41575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CB834F61-616E-38B3-4C8A-07DFFDAF65AE}"/>
              </a:ext>
            </a:extLst>
          </p:cNvPr>
          <p:cNvCxnSpPr>
            <a:cxnSpLocks/>
          </p:cNvCxnSpPr>
          <p:nvPr/>
        </p:nvCxnSpPr>
        <p:spPr>
          <a:xfrm flipH="1">
            <a:off x="2981486" y="3836900"/>
            <a:ext cx="311074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47B8B988-F6CE-13EB-B33C-332C473E5DE6}"/>
              </a:ext>
            </a:extLst>
          </p:cNvPr>
          <p:cNvCxnSpPr/>
          <p:nvPr/>
        </p:nvCxnSpPr>
        <p:spPr>
          <a:xfrm flipH="1" flipV="1">
            <a:off x="2999410" y="3845863"/>
            <a:ext cx="1" cy="24206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D1D7A7E7-9604-647E-BC57-EB2C308C93BB}"/>
              </a:ext>
            </a:extLst>
          </p:cNvPr>
          <p:cNvCxnSpPr/>
          <p:nvPr/>
        </p:nvCxnSpPr>
        <p:spPr>
          <a:xfrm flipH="1" flipV="1">
            <a:off x="6092234" y="3836899"/>
            <a:ext cx="1" cy="24206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AF602B9E-4647-7907-8B1A-BD945FDBF26E}"/>
              </a:ext>
            </a:extLst>
          </p:cNvPr>
          <p:cNvCxnSpPr>
            <a:cxnSpLocks/>
          </p:cNvCxnSpPr>
          <p:nvPr/>
        </p:nvCxnSpPr>
        <p:spPr>
          <a:xfrm flipV="1">
            <a:off x="1269223" y="4894736"/>
            <a:ext cx="0" cy="36757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50563A0B-2B13-DAB3-C9DD-53A07576E1DF}"/>
              </a:ext>
            </a:extLst>
          </p:cNvPr>
          <p:cNvCxnSpPr>
            <a:cxnSpLocks/>
          </p:cNvCxnSpPr>
          <p:nvPr/>
        </p:nvCxnSpPr>
        <p:spPr>
          <a:xfrm flipV="1">
            <a:off x="2999412" y="4908767"/>
            <a:ext cx="0" cy="37146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80503C45-C321-3A28-2D8E-5804E935CF1D}"/>
              </a:ext>
            </a:extLst>
          </p:cNvPr>
          <p:cNvCxnSpPr>
            <a:cxnSpLocks/>
          </p:cNvCxnSpPr>
          <p:nvPr/>
        </p:nvCxnSpPr>
        <p:spPr>
          <a:xfrm flipV="1">
            <a:off x="4711671" y="4908767"/>
            <a:ext cx="0" cy="36250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2FCE49C8-9082-F282-78B1-497A3ACD00D2}"/>
              </a:ext>
            </a:extLst>
          </p:cNvPr>
          <p:cNvCxnSpPr>
            <a:cxnSpLocks/>
          </p:cNvCxnSpPr>
          <p:nvPr/>
        </p:nvCxnSpPr>
        <p:spPr>
          <a:xfrm flipH="1">
            <a:off x="1269226" y="4894736"/>
            <a:ext cx="344244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B3BECF7C-F928-A6C8-C98F-E6B98D68DAA9}"/>
              </a:ext>
            </a:extLst>
          </p:cNvPr>
          <p:cNvCxnSpPr>
            <a:cxnSpLocks/>
            <a:endCxn id="16" idx="2"/>
          </p:cNvCxnSpPr>
          <p:nvPr/>
        </p:nvCxnSpPr>
        <p:spPr>
          <a:xfrm flipV="1">
            <a:off x="2999411" y="4566413"/>
            <a:ext cx="9046" cy="31937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D32D3EF6-73E9-89C2-0CF4-83441CA77464}"/>
              </a:ext>
            </a:extLst>
          </p:cNvPr>
          <p:cNvSpPr txBox="1"/>
          <p:nvPr/>
        </p:nvSpPr>
        <p:spPr>
          <a:xfrm>
            <a:off x="7799294" y="6074630"/>
            <a:ext cx="38931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แสดงระบบจำนวนจริงด้วยแผนภาพเวนน์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39F74E77-F4BF-DF59-82E3-2656F856D6A4}"/>
              </a:ext>
            </a:extLst>
          </p:cNvPr>
          <p:cNvSpPr/>
          <p:nvPr/>
        </p:nvSpPr>
        <p:spPr>
          <a:xfrm>
            <a:off x="7618875" y="6121684"/>
            <a:ext cx="295835" cy="29583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6347A7E8-F4C4-9C4F-E481-8A5DCCFB7A7B}"/>
              </a:ext>
            </a:extLst>
          </p:cNvPr>
          <p:cNvSpPr/>
          <p:nvPr/>
        </p:nvSpPr>
        <p:spPr>
          <a:xfrm>
            <a:off x="600635" y="1726866"/>
            <a:ext cx="11091816" cy="2049559"/>
          </a:xfrm>
          <a:prstGeom prst="roundRect">
            <a:avLst>
              <a:gd name="adj" fmla="val 3501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AA25305B-9EDA-FFAA-F4A9-02DE907B45E4}"/>
                  </a:ext>
                </a:extLst>
              </p:cNvPr>
              <p:cNvSpPr txBox="1"/>
              <p:nvPr/>
            </p:nvSpPr>
            <p:spPr>
              <a:xfrm>
                <a:off x="659387" y="1841168"/>
                <a:ext cx="10402495" cy="6473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เซตของจำนวนที่ไม่ใช่เต็ม คือ เซตที่สมาชิกไม่ใช่จำนวนเต็ม เช่น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fPr>
                      <m:num>
                        <m:r>
                          <a:rPr lang="en-US" sz="2400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𝟏</m:t>
                        </m:r>
                      </m:num>
                      <m:den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𝟐</m:t>
                        </m:r>
                      </m:den>
                    </m:f>
                  </m:oMath>
                </a14:m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, -1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fPr>
                      <m:num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𝟓</m:t>
                        </m:r>
                      </m:num>
                      <m:den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𝟔</m:t>
                        </m:r>
                      </m:den>
                    </m:f>
                  </m:oMath>
                </a14:m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, 0.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67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, 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5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.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33333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…, …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</a:t>
                </a:r>
              </a:p>
            </p:txBody>
          </p:sp>
        </mc:Choice>
        <mc:Fallback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AA25305B-9EDA-FFAA-F4A9-02DE907B45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387" y="1841168"/>
                <a:ext cx="10402495" cy="647357"/>
              </a:xfrm>
              <a:prstGeom prst="rect">
                <a:avLst/>
              </a:prstGeom>
              <a:blipFill>
                <a:blip r:embed="rId3"/>
                <a:stretch>
                  <a:fillRect l="-879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3" name="Picture 72">
            <a:extLst>
              <a:ext uri="{FF2B5EF4-FFF2-40B4-BE49-F238E27FC236}">
                <a16:creationId xmlns:a16="http://schemas.microsoft.com/office/drawing/2014/main" id="{6892EEF7-56CF-FFC9-0DA8-597DF1E2EB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1884" y="1808306"/>
            <a:ext cx="571580" cy="504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99472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D0744C-F8E8-114E-96D7-3BC4767D4B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B953CFC-47FA-7937-82A0-3FAD23C3A826}"/>
              </a:ext>
            </a:extLst>
          </p:cNvPr>
          <p:cNvSpPr/>
          <p:nvPr/>
        </p:nvSpPr>
        <p:spPr>
          <a:xfrm>
            <a:off x="0" y="0"/>
            <a:ext cx="12192000" cy="57807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1B1398-26F0-33E8-6085-8502576AE742}"/>
              </a:ext>
            </a:extLst>
          </p:cNvPr>
          <p:cNvSpPr txBox="1"/>
          <p:nvPr/>
        </p:nvSpPr>
        <p:spPr>
          <a:xfrm>
            <a:off x="349857" y="79515"/>
            <a:ext cx="67188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800" b="1" dirty="0">
                <a:solidFill>
                  <a:schemeClr val="bg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จำนวนจริง</a:t>
            </a:r>
            <a:endParaRPr lang="en-US" sz="2800" b="1" dirty="0">
              <a:solidFill>
                <a:schemeClr val="bg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9464BD1-8347-9B63-42E0-113EC562159F}"/>
              </a:ext>
            </a:extLst>
          </p:cNvPr>
          <p:cNvCxnSpPr/>
          <p:nvPr/>
        </p:nvCxnSpPr>
        <p:spPr>
          <a:xfrm>
            <a:off x="0" y="588395"/>
            <a:ext cx="12192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61A536AB-774D-6542-D7A3-02BFF73CAF9A}"/>
              </a:ext>
            </a:extLst>
          </p:cNvPr>
          <p:cNvSpPr txBox="1"/>
          <p:nvPr/>
        </p:nvSpPr>
        <p:spPr>
          <a:xfrm>
            <a:off x="349857" y="954539"/>
            <a:ext cx="12952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โหมด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FCC0EB93-E2AE-6C4D-48EB-9C5C3F8810CA}"/>
              </a:ext>
            </a:extLst>
          </p:cNvPr>
          <p:cNvSpPr/>
          <p:nvPr/>
        </p:nvSpPr>
        <p:spPr>
          <a:xfrm>
            <a:off x="5067699" y="1829922"/>
            <a:ext cx="2056601" cy="46166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จำนวนจริง</a:t>
            </a:r>
            <a:endParaRPr lang="en-US" sz="2400" b="1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1DB566D-4856-6A7B-8BF4-AD3CBE5A67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5218" y="676854"/>
            <a:ext cx="2886478" cy="847843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7D45C62-1253-E132-0C37-77183ABA9BF8}"/>
              </a:ext>
            </a:extLst>
          </p:cNvPr>
          <p:cNvSpPr/>
          <p:nvPr/>
        </p:nvSpPr>
        <p:spPr>
          <a:xfrm>
            <a:off x="349857" y="1541826"/>
            <a:ext cx="11501484" cy="5236656"/>
          </a:xfrm>
          <a:prstGeom prst="roundRect">
            <a:avLst>
              <a:gd name="adj" fmla="val 3501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2BA7BB3-FE98-CA2D-D019-31AD61E9A2D6}"/>
              </a:ext>
            </a:extLst>
          </p:cNvPr>
          <p:cNvSpPr/>
          <p:nvPr/>
        </p:nvSpPr>
        <p:spPr>
          <a:xfrm>
            <a:off x="3423395" y="2967335"/>
            <a:ext cx="2056601" cy="46166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จำนวนตรรกยะ</a:t>
            </a:r>
            <a:endParaRPr lang="en-US" sz="2400" b="1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49234B75-9C47-5F4C-7275-2DA6A102FD2E}"/>
              </a:ext>
            </a:extLst>
          </p:cNvPr>
          <p:cNvSpPr/>
          <p:nvPr/>
        </p:nvSpPr>
        <p:spPr>
          <a:xfrm>
            <a:off x="6609067" y="2967334"/>
            <a:ext cx="2056601" cy="46166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จำนวนอตรรกยะ</a:t>
            </a:r>
            <a:endParaRPr lang="en-US" sz="2400" b="1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BF85FB73-3247-001A-2A72-4A7CE922D16A}"/>
              </a:ext>
            </a:extLst>
          </p:cNvPr>
          <p:cNvSpPr/>
          <p:nvPr/>
        </p:nvSpPr>
        <p:spPr>
          <a:xfrm>
            <a:off x="1980156" y="4104748"/>
            <a:ext cx="2056601" cy="46166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จำนวนเต็ม</a:t>
            </a:r>
            <a:endParaRPr lang="en-US" sz="2400" b="1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9F2BFC2A-FF02-6840-38AF-39007E949F09}"/>
              </a:ext>
            </a:extLst>
          </p:cNvPr>
          <p:cNvSpPr/>
          <p:nvPr/>
        </p:nvSpPr>
        <p:spPr>
          <a:xfrm>
            <a:off x="4768178" y="4104748"/>
            <a:ext cx="2439446" cy="46166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จำนวนที่ไม่ใช่จำนวนเต็ม</a:t>
            </a:r>
            <a:endParaRPr lang="en-US" sz="2400" b="1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96CBF607-781F-4EDB-9A23-98FB1C337665}"/>
              </a:ext>
            </a:extLst>
          </p:cNvPr>
          <p:cNvSpPr/>
          <p:nvPr/>
        </p:nvSpPr>
        <p:spPr>
          <a:xfrm>
            <a:off x="536917" y="5274671"/>
            <a:ext cx="1443239" cy="46166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จำนวนเต็มลบ</a:t>
            </a:r>
            <a:endParaRPr lang="en-US" sz="2400" b="1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3D2AA060-D642-E545-D6B4-3AC5354F106B}"/>
              </a:ext>
            </a:extLst>
          </p:cNvPr>
          <p:cNvSpPr/>
          <p:nvPr/>
        </p:nvSpPr>
        <p:spPr>
          <a:xfrm>
            <a:off x="2167216" y="5274670"/>
            <a:ext cx="1567988" cy="46166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จำนวนเต็มศูนย์</a:t>
            </a:r>
            <a:endParaRPr lang="en-US" sz="2400" b="1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231503FF-9F73-1DDA-3B65-851B2462FA64}"/>
              </a:ext>
            </a:extLst>
          </p:cNvPr>
          <p:cNvSpPr/>
          <p:nvPr/>
        </p:nvSpPr>
        <p:spPr>
          <a:xfrm>
            <a:off x="3912008" y="5274670"/>
            <a:ext cx="1567988" cy="46166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จำนวนเต็มบวก</a:t>
            </a:r>
            <a:endParaRPr lang="en-US" sz="2400" b="1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180C843C-28CC-653F-C0E7-91EE05183B0C}"/>
              </a:ext>
            </a:extLst>
          </p:cNvPr>
          <p:cNvCxnSpPr>
            <a:stCxn id="26" idx="2"/>
          </p:cNvCxnSpPr>
          <p:nvPr/>
        </p:nvCxnSpPr>
        <p:spPr>
          <a:xfrm flipH="1">
            <a:off x="6095999" y="2291587"/>
            <a:ext cx="1" cy="39782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CFFAA788-3673-D984-32E8-CE6611156237}"/>
              </a:ext>
            </a:extLst>
          </p:cNvPr>
          <p:cNvCxnSpPr>
            <a:stCxn id="12" idx="0"/>
          </p:cNvCxnSpPr>
          <p:nvPr/>
        </p:nvCxnSpPr>
        <p:spPr>
          <a:xfrm flipH="1" flipV="1">
            <a:off x="4451695" y="2725271"/>
            <a:ext cx="1" cy="24206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767EBFB9-89C4-8575-4DDA-B890A80D6782}"/>
              </a:ext>
            </a:extLst>
          </p:cNvPr>
          <p:cNvCxnSpPr>
            <a:cxnSpLocks/>
            <a:stCxn id="14" idx="0"/>
          </p:cNvCxnSpPr>
          <p:nvPr/>
        </p:nvCxnSpPr>
        <p:spPr>
          <a:xfrm flipV="1">
            <a:off x="7637368" y="2725271"/>
            <a:ext cx="0" cy="24206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E0BC6422-45B8-073E-4A24-80B85BB08B62}"/>
              </a:ext>
            </a:extLst>
          </p:cNvPr>
          <p:cNvCxnSpPr/>
          <p:nvPr/>
        </p:nvCxnSpPr>
        <p:spPr>
          <a:xfrm flipH="1">
            <a:off x="4451695" y="2725271"/>
            <a:ext cx="318567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5328E75E-5AB3-9FBE-63C5-902CBA911342}"/>
              </a:ext>
            </a:extLst>
          </p:cNvPr>
          <p:cNvCxnSpPr>
            <a:cxnSpLocks/>
          </p:cNvCxnSpPr>
          <p:nvPr/>
        </p:nvCxnSpPr>
        <p:spPr>
          <a:xfrm>
            <a:off x="4455459" y="3421144"/>
            <a:ext cx="0" cy="41575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6FC8DD9A-9C88-D352-4ED2-9138244E94D9}"/>
              </a:ext>
            </a:extLst>
          </p:cNvPr>
          <p:cNvCxnSpPr>
            <a:cxnSpLocks/>
          </p:cNvCxnSpPr>
          <p:nvPr/>
        </p:nvCxnSpPr>
        <p:spPr>
          <a:xfrm flipH="1">
            <a:off x="2981486" y="3836900"/>
            <a:ext cx="311074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C3DD176F-BE6A-22EB-1346-2113F7EDEB2B}"/>
              </a:ext>
            </a:extLst>
          </p:cNvPr>
          <p:cNvCxnSpPr/>
          <p:nvPr/>
        </p:nvCxnSpPr>
        <p:spPr>
          <a:xfrm flipH="1" flipV="1">
            <a:off x="2999410" y="3845863"/>
            <a:ext cx="1" cy="24206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FEF678C8-8602-E0EE-D6EA-DEF4ACAD3EB4}"/>
              </a:ext>
            </a:extLst>
          </p:cNvPr>
          <p:cNvCxnSpPr/>
          <p:nvPr/>
        </p:nvCxnSpPr>
        <p:spPr>
          <a:xfrm flipH="1" flipV="1">
            <a:off x="6092234" y="3836899"/>
            <a:ext cx="1" cy="24206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CFCFBC7E-CED1-E3DD-01E7-B505E5766AB3}"/>
              </a:ext>
            </a:extLst>
          </p:cNvPr>
          <p:cNvCxnSpPr>
            <a:cxnSpLocks/>
          </p:cNvCxnSpPr>
          <p:nvPr/>
        </p:nvCxnSpPr>
        <p:spPr>
          <a:xfrm flipV="1">
            <a:off x="1269223" y="4894736"/>
            <a:ext cx="0" cy="36757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46889568-96CE-9B82-0198-E4E2FCBA1E3D}"/>
              </a:ext>
            </a:extLst>
          </p:cNvPr>
          <p:cNvCxnSpPr>
            <a:cxnSpLocks/>
          </p:cNvCxnSpPr>
          <p:nvPr/>
        </p:nvCxnSpPr>
        <p:spPr>
          <a:xfrm flipV="1">
            <a:off x="2999412" y="4908767"/>
            <a:ext cx="0" cy="37146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0BA7EDAD-26DC-1771-6398-D1667D89DA71}"/>
              </a:ext>
            </a:extLst>
          </p:cNvPr>
          <p:cNvCxnSpPr>
            <a:cxnSpLocks/>
          </p:cNvCxnSpPr>
          <p:nvPr/>
        </p:nvCxnSpPr>
        <p:spPr>
          <a:xfrm flipV="1">
            <a:off x="4711671" y="4908767"/>
            <a:ext cx="0" cy="36250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1BFCF4AF-E7AF-9D6E-2899-08618E886F57}"/>
              </a:ext>
            </a:extLst>
          </p:cNvPr>
          <p:cNvCxnSpPr>
            <a:cxnSpLocks/>
          </p:cNvCxnSpPr>
          <p:nvPr/>
        </p:nvCxnSpPr>
        <p:spPr>
          <a:xfrm flipH="1">
            <a:off x="1269226" y="4894736"/>
            <a:ext cx="344244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FEBB7B17-0F09-FCAF-E583-42797F6FEC72}"/>
              </a:ext>
            </a:extLst>
          </p:cNvPr>
          <p:cNvCxnSpPr>
            <a:cxnSpLocks/>
            <a:endCxn id="16" idx="2"/>
          </p:cNvCxnSpPr>
          <p:nvPr/>
        </p:nvCxnSpPr>
        <p:spPr>
          <a:xfrm flipV="1">
            <a:off x="2999411" y="4566413"/>
            <a:ext cx="9046" cy="31937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313FCBD4-7F2F-5A4E-C26B-51173866D4F7}"/>
              </a:ext>
            </a:extLst>
          </p:cNvPr>
          <p:cNvSpPr txBox="1"/>
          <p:nvPr/>
        </p:nvSpPr>
        <p:spPr>
          <a:xfrm>
            <a:off x="7799294" y="6074630"/>
            <a:ext cx="38931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แสดงระบบจำนวนจริงด้วยแผนภาพเวนน์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7D0716BA-F27C-4FC4-5895-CB4F38BAF4BD}"/>
              </a:ext>
            </a:extLst>
          </p:cNvPr>
          <p:cNvSpPr/>
          <p:nvPr/>
        </p:nvSpPr>
        <p:spPr>
          <a:xfrm>
            <a:off x="7618875" y="6121684"/>
            <a:ext cx="295835" cy="29583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06EE5482-3579-04EE-4B58-BDBC25EF1B3D}"/>
              </a:ext>
            </a:extLst>
          </p:cNvPr>
          <p:cNvSpPr/>
          <p:nvPr/>
        </p:nvSpPr>
        <p:spPr>
          <a:xfrm>
            <a:off x="600635" y="1726866"/>
            <a:ext cx="11091816" cy="2049559"/>
          </a:xfrm>
          <a:prstGeom prst="roundRect">
            <a:avLst>
              <a:gd name="adj" fmla="val 3501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CBC2B87F-D7B9-E720-DE11-254ABA9044D3}"/>
                  </a:ext>
                </a:extLst>
              </p:cNvPr>
              <p:cNvSpPr txBox="1"/>
              <p:nvPr/>
            </p:nvSpPr>
            <p:spPr>
              <a:xfrm>
                <a:off x="659387" y="1841168"/>
                <a:ext cx="10402495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เซตของจำนวนเต็มลบ 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sSupPr>
                      <m:e>
                        <m: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H Sarabun New" panose="020B0500040200020003" pitchFamily="34" charset="-34"/>
                          </a:rPr>
                          <m:t>ℤ</m:t>
                        </m:r>
                      </m:e>
                      <m:sup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H Sarabun New" panose="020B0500040200020003" pitchFamily="34" charset="-34"/>
                          </a:rPr>
                          <m:t>−</m:t>
                        </m:r>
                      </m:sup>
                    </m:sSup>
                  </m:oMath>
                </a14:m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)</a:t>
                </a:r>
              </a:p>
              <a:p>
                <a:endParaRPr lang="th-TH" sz="2400" b="1" dirty="0">
                  <a:latin typeface="TH Sarabun New" panose="020B0500040200020003" pitchFamily="34" charset="-34"/>
                  <a:cs typeface="TH Sarabun New" panose="020B0500040200020003" pitchFamily="34" charset="-34"/>
                </a:endParaRPr>
              </a:p>
              <a:p>
                <a:pPr algn="ctr"/>
                <a14:m>
                  <m:oMath xmlns:m="http://schemas.openxmlformats.org/officeDocument/2006/math">
                    <m:sSup>
                      <m:sSupPr>
                        <m:ctrlP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sSupPr>
                      <m:e>
                        <m: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H Sarabun New" panose="020B0500040200020003" pitchFamily="34" charset="-34"/>
                          </a:rPr>
                          <m:t>ℤ</m:t>
                        </m:r>
                      </m:e>
                      <m:sup>
                        <m: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H Sarabun New" panose="020B0500040200020003" pitchFamily="34" charset="-34"/>
                          </a:rPr>
                          <m:t>−</m:t>
                        </m:r>
                      </m:sup>
                    </m:sSup>
                  </m:oMath>
                </a14:m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= {…, -3, -2, -1}</a:t>
                </a:r>
              </a:p>
            </p:txBody>
          </p:sp>
        </mc:Choice>
        <mc:Fallback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CBC2B87F-D7B9-E720-DE11-254ABA9044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387" y="1841168"/>
                <a:ext cx="10402495" cy="1200329"/>
              </a:xfrm>
              <a:prstGeom prst="rect">
                <a:avLst/>
              </a:prstGeom>
              <a:blipFill>
                <a:blip r:embed="rId3"/>
                <a:stretch>
                  <a:fillRect l="-879" t="-2538" b="-121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3" name="Picture 72">
            <a:extLst>
              <a:ext uri="{FF2B5EF4-FFF2-40B4-BE49-F238E27FC236}">
                <a16:creationId xmlns:a16="http://schemas.microsoft.com/office/drawing/2014/main" id="{00D58C92-8139-4D36-811F-BAF54C2834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1884" y="1808306"/>
            <a:ext cx="571580" cy="504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26088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16E2ED-0215-069C-3C79-AC8B00E927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3B266A5-3550-BB49-A4B0-52673A33A497}"/>
              </a:ext>
            </a:extLst>
          </p:cNvPr>
          <p:cNvSpPr/>
          <p:nvPr/>
        </p:nvSpPr>
        <p:spPr>
          <a:xfrm>
            <a:off x="0" y="0"/>
            <a:ext cx="12192000" cy="57807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A4D7AB6-EC87-6CD2-6818-B85701F3C681}"/>
              </a:ext>
            </a:extLst>
          </p:cNvPr>
          <p:cNvSpPr txBox="1"/>
          <p:nvPr/>
        </p:nvSpPr>
        <p:spPr>
          <a:xfrm>
            <a:off x="349857" y="79515"/>
            <a:ext cx="67188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800" b="1" dirty="0">
                <a:solidFill>
                  <a:schemeClr val="bg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จำนวนจริง</a:t>
            </a:r>
            <a:endParaRPr lang="en-US" sz="2800" b="1" dirty="0">
              <a:solidFill>
                <a:schemeClr val="bg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A3804BC-2F8E-334E-8E9A-507BBA82BF0D}"/>
              </a:ext>
            </a:extLst>
          </p:cNvPr>
          <p:cNvCxnSpPr/>
          <p:nvPr/>
        </p:nvCxnSpPr>
        <p:spPr>
          <a:xfrm>
            <a:off x="0" y="588395"/>
            <a:ext cx="12192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77C5E21D-E748-2877-0844-7DE9F9FB85EF}"/>
              </a:ext>
            </a:extLst>
          </p:cNvPr>
          <p:cNvSpPr txBox="1"/>
          <p:nvPr/>
        </p:nvSpPr>
        <p:spPr>
          <a:xfrm>
            <a:off x="349857" y="954539"/>
            <a:ext cx="12952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โหมด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73975E8B-20B4-FCAC-B412-704735587FBC}"/>
              </a:ext>
            </a:extLst>
          </p:cNvPr>
          <p:cNvSpPr/>
          <p:nvPr/>
        </p:nvSpPr>
        <p:spPr>
          <a:xfrm>
            <a:off x="5067699" y="1829922"/>
            <a:ext cx="2056601" cy="46166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จำนวนจริง</a:t>
            </a:r>
            <a:endParaRPr lang="en-US" sz="2400" b="1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ACCF592-AFBE-CF5F-9363-CD8DD6EF00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5218" y="676854"/>
            <a:ext cx="2886478" cy="847843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C7DF9C6-3760-E625-3B8B-7F357ED91AA3}"/>
              </a:ext>
            </a:extLst>
          </p:cNvPr>
          <p:cNvSpPr/>
          <p:nvPr/>
        </p:nvSpPr>
        <p:spPr>
          <a:xfrm>
            <a:off x="349857" y="1541826"/>
            <a:ext cx="11501484" cy="5236656"/>
          </a:xfrm>
          <a:prstGeom prst="roundRect">
            <a:avLst>
              <a:gd name="adj" fmla="val 3501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22E5BC4-0D71-54C1-CB3B-E1801DC1899E}"/>
              </a:ext>
            </a:extLst>
          </p:cNvPr>
          <p:cNvSpPr/>
          <p:nvPr/>
        </p:nvSpPr>
        <p:spPr>
          <a:xfrm>
            <a:off x="3423395" y="2967335"/>
            <a:ext cx="2056601" cy="46166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จำนวนตรรกยะ</a:t>
            </a:r>
            <a:endParaRPr lang="en-US" sz="2400" b="1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B19609DE-D68B-EF76-CEC3-DDEE341CAAE6}"/>
              </a:ext>
            </a:extLst>
          </p:cNvPr>
          <p:cNvSpPr/>
          <p:nvPr/>
        </p:nvSpPr>
        <p:spPr>
          <a:xfrm>
            <a:off x="6609067" y="2967334"/>
            <a:ext cx="2056601" cy="46166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จำนวนอตรรกยะ</a:t>
            </a:r>
            <a:endParaRPr lang="en-US" sz="2400" b="1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E03EAF62-3232-C7C7-03AF-10F4D3A04673}"/>
              </a:ext>
            </a:extLst>
          </p:cNvPr>
          <p:cNvSpPr/>
          <p:nvPr/>
        </p:nvSpPr>
        <p:spPr>
          <a:xfrm>
            <a:off x="1980156" y="4104748"/>
            <a:ext cx="2056601" cy="46166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จำนวนเต็ม</a:t>
            </a:r>
            <a:endParaRPr lang="en-US" sz="2400" b="1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34C7951E-A5AB-F155-D8EC-0EA75DEB8C38}"/>
              </a:ext>
            </a:extLst>
          </p:cNvPr>
          <p:cNvSpPr/>
          <p:nvPr/>
        </p:nvSpPr>
        <p:spPr>
          <a:xfrm>
            <a:off x="4768178" y="4104748"/>
            <a:ext cx="2439446" cy="46166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จำนวนที่ไม่ใช่จำนวนเต็ม</a:t>
            </a:r>
            <a:endParaRPr lang="en-US" sz="2400" b="1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4D80BB40-45D4-94C5-96FD-6FDF715CDF30}"/>
              </a:ext>
            </a:extLst>
          </p:cNvPr>
          <p:cNvSpPr/>
          <p:nvPr/>
        </p:nvSpPr>
        <p:spPr>
          <a:xfrm>
            <a:off x="536917" y="5274671"/>
            <a:ext cx="1443239" cy="46166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จำนวนเต็มลบ</a:t>
            </a:r>
            <a:endParaRPr lang="en-US" sz="2400" b="1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5A39BD88-7024-AFDD-506F-A109C0AE4F45}"/>
              </a:ext>
            </a:extLst>
          </p:cNvPr>
          <p:cNvSpPr/>
          <p:nvPr/>
        </p:nvSpPr>
        <p:spPr>
          <a:xfrm>
            <a:off x="2167216" y="5274670"/>
            <a:ext cx="1567988" cy="46166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จำนวนเต็มศูนย์</a:t>
            </a:r>
            <a:endParaRPr lang="en-US" sz="2400" b="1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03E2B3D8-2080-A11E-AF52-AA317DB7D782}"/>
              </a:ext>
            </a:extLst>
          </p:cNvPr>
          <p:cNvSpPr/>
          <p:nvPr/>
        </p:nvSpPr>
        <p:spPr>
          <a:xfrm>
            <a:off x="3912008" y="5274670"/>
            <a:ext cx="1567988" cy="46166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จำนวนเต็มบวก</a:t>
            </a:r>
            <a:endParaRPr lang="en-US" sz="2400" b="1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F7DF134A-5849-5A19-7F60-6388002F20F2}"/>
              </a:ext>
            </a:extLst>
          </p:cNvPr>
          <p:cNvCxnSpPr>
            <a:stCxn id="26" idx="2"/>
          </p:cNvCxnSpPr>
          <p:nvPr/>
        </p:nvCxnSpPr>
        <p:spPr>
          <a:xfrm flipH="1">
            <a:off x="6095999" y="2291587"/>
            <a:ext cx="1" cy="39782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FA0B9ACB-A1F3-35E4-158F-B2BD2379758A}"/>
              </a:ext>
            </a:extLst>
          </p:cNvPr>
          <p:cNvCxnSpPr>
            <a:stCxn id="12" idx="0"/>
          </p:cNvCxnSpPr>
          <p:nvPr/>
        </p:nvCxnSpPr>
        <p:spPr>
          <a:xfrm flipH="1" flipV="1">
            <a:off x="4451695" y="2725271"/>
            <a:ext cx="1" cy="24206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72DC14C1-B0AE-D2A0-0622-1C853AD3FD4B}"/>
              </a:ext>
            </a:extLst>
          </p:cNvPr>
          <p:cNvCxnSpPr>
            <a:cxnSpLocks/>
            <a:stCxn id="14" idx="0"/>
          </p:cNvCxnSpPr>
          <p:nvPr/>
        </p:nvCxnSpPr>
        <p:spPr>
          <a:xfrm flipV="1">
            <a:off x="7637368" y="2725271"/>
            <a:ext cx="0" cy="24206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BDF2CB8F-84FC-8407-93D2-B5FC71D8F9F4}"/>
              </a:ext>
            </a:extLst>
          </p:cNvPr>
          <p:cNvCxnSpPr/>
          <p:nvPr/>
        </p:nvCxnSpPr>
        <p:spPr>
          <a:xfrm flipH="1">
            <a:off x="4451695" y="2725271"/>
            <a:ext cx="318567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B1D7ABF7-33F2-F46B-25A6-6B15F8D72FA5}"/>
              </a:ext>
            </a:extLst>
          </p:cNvPr>
          <p:cNvCxnSpPr>
            <a:cxnSpLocks/>
          </p:cNvCxnSpPr>
          <p:nvPr/>
        </p:nvCxnSpPr>
        <p:spPr>
          <a:xfrm>
            <a:off x="4455459" y="3421144"/>
            <a:ext cx="0" cy="41575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2680F788-4757-4713-2FB4-FE6D93E78C43}"/>
              </a:ext>
            </a:extLst>
          </p:cNvPr>
          <p:cNvCxnSpPr>
            <a:cxnSpLocks/>
          </p:cNvCxnSpPr>
          <p:nvPr/>
        </p:nvCxnSpPr>
        <p:spPr>
          <a:xfrm flipH="1">
            <a:off x="2981486" y="3836900"/>
            <a:ext cx="311074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89D5BE43-8012-F76E-A77A-B000D7176FDB}"/>
              </a:ext>
            </a:extLst>
          </p:cNvPr>
          <p:cNvCxnSpPr/>
          <p:nvPr/>
        </p:nvCxnSpPr>
        <p:spPr>
          <a:xfrm flipH="1" flipV="1">
            <a:off x="2999410" y="3845863"/>
            <a:ext cx="1" cy="24206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87728477-D632-C6BD-72EC-7BE7B0E498AD}"/>
              </a:ext>
            </a:extLst>
          </p:cNvPr>
          <p:cNvCxnSpPr/>
          <p:nvPr/>
        </p:nvCxnSpPr>
        <p:spPr>
          <a:xfrm flipH="1" flipV="1">
            <a:off x="6092234" y="3836899"/>
            <a:ext cx="1" cy="24206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A8103867-8767-43FA-F873-F475C5DD8B5C}"/>
              </a:ext>
            </a:extLst>
          </p:cNvPr>
          <p:cNvCxnSpPr>
            <a:cxnSpLocks/>
          </p:cNvCxnSpPr>
          <p:nvPr/>
        </p:nvCxnSpPr>
        <p:spPr>
          <a:xfrm flipV="1">
            <a:off x="1269223" y="4894736"/>
            <a:ext cx="0" cy="36757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868951C9-2481-7128-2596-589D18C346FF}"/>
              </a:ext>
            </a:extLst>
          </p:cNvPr>
          <p:cNvCxnSpPr>
            <a:cxnSpLocks/>
          </p:cNvCxnSpPr>
          <p:nvPr/>
        </p:nvCxnSpPr>
        <p:spPr>
          <a:xfrm flipV="1">
            <a:off x="2999412" y="4908767"/>
            <a:ext cx="0" cy="37146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E6693B44-126A-0A44-F358-28150C6FD6B9}"/>
              </a:ext>
            </a:extLst>
          </p:cNvPr>
          <p:cNvCxnSpPr>
            <a:cxnSpLocks/>
          </p:cNvCxnSpPr>
          <p:nvPr/>
        </p:nvCxnSpPr>
        <p:spPr>
          <a:xfrm flipV="1">
            <a:off x="4711671" y="4908767"/>
            <a:ext cx="0" cy="36250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D43B6730-C0D5-2739-9E43-827A295A4D9B}"/>
              </a:ext>
            </a:extLst>
          </p:cNvPr>
          <p:cNvCxnSpPr>
            <a:cxnSpLocks/>
          </p:cNvCxnSpPr>
          <p:nvPr/>
        </p:nvCxnSpPr>
        <p:spPr>
          <a:xfrm flipH="1">
            <a:off x="1269226" y="4894736"/>
            <a:ext cx="344244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F65176B1-F973-6878-8056-64DF7C5B8563}"/>
              </a:ext>
            </a:extLst>
          </p:cNvPr>
          <p:cNvCxnSpPr>
            <a:cxnSpLocks/>
            <a:endCxn id="16" idx="2"/>
          </p:cNvCxnSpPr>
          <p:nvPr/>
        </p:nvCxnSpPr>
        <p:spPr>
          <a:xfrm flipV="1">
            <a:off x="2999411" y="4566413"/>
            <a:ext cx="9046" cy="31937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4080017C-9555-FAE2-847B-EFFCF43898BD}"/>
              </a:ext>
            </a:extLst>
          </p:cNvPr>
          <p:cNvSpPr txBox="1"/>
          <p:nvPr/>
        </p:nvSpPr>
        <p:spPr>
          <a:xfrm>
            <a:off x="7799294" y="6074630"/>
            <a:ext cx="38931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แสดงระบบจำนวนจริงด้วยแผนภาพเวนน์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D6FFF3D9-C0A8-0169-E3A5-EEE562D15C95}"/>
              </a:ext>
            </a:extLst>
          </p:cNvPr>
          <p:cNvSpPr/>
          <p:nvPr/>
        </p:nvSpPr>
        <p:spPr>
          <a:xfrm>
            <a:off x="7618875" y="6121684"/>
            <a:ext cx="295835" cy="29583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649F963F-E0CB-E710-94EA-AA5723CAD28C}"/>
              </a:ext>
            </a:extLst>
          </p:cNvPr>
          <p:cNvSpPr/>
          <p:nvPr/>
        </p:nvSpPr>
        <p:spPr>
          <a:xfrm>
            <a:off x="600635" y="1726866"/>
            <a:ext cx="11091816" cy="2049559"/>
          </a:xfrm>
          <a:prstGeom prst="roundRect">
            <a:avLst>
              <a:gd name="adj" fmla="val 3501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A78D601B-F5FC-C533-142F-E687C806DDA3}"/>
                  </a:ext>
                </a:extLst>
              </p:cNvPr>
              <p:cNvSpPr txBox="1"/>
              <p:nvPr/>
            </p:nvSpPr>
            <p:spPr>
              <a:xfrm>
                <a:off x="659387" y="1841168"/>
                <a:ext cx="10402495" cy="12170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เซตของจำนวนเต็มลบ 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sSupPr>
                      <m:e>
                        <m: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H Sarabun New" panose="020B0500040200020003" pitchFamily="34" charset="-34"/>
                          </a:rPr>
                          <m:t>ℤ</m:t>
                        </m:r>
                      </m:e>
                      <m:sup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H Sarabun New" panose="020B0500040200020003" pitchFamily="34" charset="-34"/>
                          </a:rPr>
                          <m:t>𝟎</m:t>
                        </m:r>
                      </m:sup>
                    </m:sSup>
                  </m:oMath>
                </a14:m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)</a:t>
                </a:r>
              </a:p>
              <a:p>
                <a:endParaRPr lang="th-TH" sz="2400" b="1" dirty="0">
                  <a:latin typeface="TH Sarabun New" panose="020B0500040200020003" pitchFamily="34" charset="-34"/>
                  <a:cs typeface="TH Sarabun New" panose="020B0500040200020003" pitchFamily="34" charset="-34"/>
                </a:endParaRPr>
              </a:p>
              <a:p>
                <a:pPr algn="ctr"/>
                <a14:m>
                  <m:oMath xmlns:m="http://schemas.openxmlformats.org/officeDocument/2006/math">
                    <m:sSup>
                      <m:sSupPr>
                        <m:ctrlP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sSupPr>
                      <m:e>
                        <m: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H Sarabun New" panose="020B0500040200020003" pitchFamily="34" charset="-34"/>
                          </a:rPr>
                          <m:t>ℤ</m:t>
                        </m:r>
                      </m:e>
                      <m:sup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H Sarabun New" panose="020B0500040200020003" pitchFamily="34" charset="-34"/>
                          </a:rPr>
                          <m:t>𝟎</m:t>
                        </m:r>
                      </m:sup>
                    </m:sSup>
                  </m:oMath>
                </a14:m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= {0}</a:t>
                </a:r>
              </a:p>
            </p:txBody>
          </p:sp>
        </mc:Choice>
        <mc:Fallback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A78D601B-F5FC-C533-142F-E687C806DD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387" y="1841168"/>
                <a:ext cx="10402495" cy="1217000"/>
              </a:xfrm>
              <a:prstGeom prst="rect">
                <a:avLst/>
              </a:prstGeom>
              <a:blipFill>
                <a:blip r:embed="rId3"/>
                <a:stretch>
                  <a:fillRect l="-879" t="-2000" b="-1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3" name="Picture 72">
            <a:extLst>
              <a:ext uri="{FF2B5EF4-FFF2-40B4-BE49-F238E27FC236}">
                <a16:creationId xmlns:a16="http://schemas.microsoft.com/office/drawing/2014/main" id="{D14A10F8-1C4E-0CA0-32FF-09CDF58AC1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1884" y="1808306"/>
            <a:ext cx="571580" cy="504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5747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BDF90C-DD17-01FD-F56F-DEBF8CC916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D7D5C3C-A951-F2F2-A70C-8F97D08E8E17}"/>
              </a:ext>
            </a:extLst>
          </p:cNvPr>
          <p:cNvSpPr/>
          <p:nvPr/>
        </p:nvSpPr>
        <p:spPr>
          <a:xfrm>
            <a:off x="0" y="0"/>
            <a:ext cx="12192000" cy="57807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7ED53A-E2ED-A865-E30D-CA9B893DBA79}"/>
              </a:ext>
            </a:extLst>
          </p:cNvPr>
          <p:cNvSpPr txBox="1"/>
          <p:nvPr/>
        </p:nvSpPr>
        <p:spPr>
          <a:xfrm>
            <a:off x="349857" y="79515"/>
            <a:ext cx="67188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800" b="1" dirty="0">
                <a:solidFill>
                  <a:schemeClr val="bg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จำนวนจริง</a:t>
            </a:r>
            <a:endParaRPr lang="en-US" sz="2800" b="1" dirty="0">
              <a:solidFill>
                <a:schemeClr val="bg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6714371-3BBC-7102-C1A9-50E07BCC6ACA}"/>
              </a:ext>
            </a:extLst>
          </p:cNvPr>
          <p:cNvCxnSpPr/>
          <p:nvPr/>
        </p:nvCxnSpPr>
        <p:spPr>
          <a:xfrm>
            <a:off x="0" y="588395"/>
            <a:ext cx="12192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095721D5-6BE1-2864-4A49-07958B85E3CC}"/>
              </a:ext>
            </a:extLst>
          </p:cNvPr>
          <p:cNvSpPr txBox="1"/>
          <p:nvPr/>
        </p:nvSpPr>
        <p:spPr>
          <a:xfrm>
            <a:off x="349857" y="954539"/>
            <a:ext cx="12952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โหมด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620401CB-4B35-7109-0E84-6916927F9007}"/>
              </a:ext>
            </a:extLst>
          </p:cNvPr>
          <p:cNvSpPr/>
          <p:nvPr/>
        </p:nvSpPr>
        <p:spPr>
          <a:xfrm>
            <a:off x="5067699" y="1829922"/>
            <a:ext cx="2056601" cy="46166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จำนวนจริง</a:t>
            </a:r>
            <a:endParaRPr lang="en-US" sz="2400" b="1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337B08C-1F70-C973-6EE0-DC3667D617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5218" y="676854"/>
            <a:ext cx="2886478" cy="847843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30A41B0-0FE0-302E-6341-446709E53690}"/>
              </a:ext>
            </a:extLst>
          </p:cNvPr>
          <p:cNvSpPr/>
          <p:nvPr/>
        </p:nvSpPr>
        <p:spPr>
          <a:xfrm>
            <a:off x="349857" y="1541826"/>
            <a:ext cx="11501484" cy="5236656"/>
          </a:xfrm>
          <a:prstGeom prst="roundRect">
            <a:avLst>
              <a:gd name="adj" fmla="val 3501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F745411-6A74-B932-0DBB-0DD3069AD255}"/>
              </a:ext>
            </a:extLst>
          </p:cNvPr>
          <p:cNvSpPr/>
          <p:nvPr/>
        </p:nvSpPr>
        <p:spPr>
          <a:xfrm>
            <a:off x="3423395" y="2967335"/>
            <a:ext cx="2056601" cy="46166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จำนวนตรรกยะ</a:t>
            </a:r>
            <a:endParaRPr lang="en-US" sz="2400" b="1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A7C111B-7EC4-6A37-8AF2-9DCEECE0C1F8}"/>
              </a:ext>
            </a:extLst>
          </p:cNvPr>
          <p:cNvSpPr/>
          <p:nvPr/>
        </p:nvSpPr>
        <p:spPr>
          <a:xfrm>
            <a:off x="6609067" y="2967334"/>
            <a:ext cx="2056601" cy="46166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จำนวนอตรรกยะ</a:t>
            </a:r>
            <a:endParaRPr lang="en-US" sz="2400" b="1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554D6991-3C9A-C81D-9398-620A6A96FA2E}"/>
              </a:ext>
            </a:extLst>
          </p:cNvPr>
          <p:cNvSpPr/>
          <p:nvPr/>
        </p:nvSpPr>
        <p:spPr>
          <a:xfrm>
            <a:off x="1980156" y="4104748"/>
            <a:ext cx="2056601" cy="46166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จำนวนเต็ม</a:t>
            </a:r>
            <a:endParaRPr lang="en-US" sz="2400" b="1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35D8A432-5E16-227B-F2A4-DB23E12AB4A3}"/>
              </a:ext>
            </a:extLst>
          </p:cNvPr>
          <p:cNvSpPr/>
          <p:nvPr/>
        </p:nvSpPr>
        <p:spPr>
          <a:xfrm>
            <a:off x="4768178" y="4104748"/>
            <a:ext cx="2439446" cy="46166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จำนวนที่ไม่ใช่จำนวนเต็ม</a:t>
            </a:r>
            <a:endParaRPr lang="en-US" sz="2400" b="1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0DCA62F7-7F01-4568-ED2A-807A14165D09}"/>
              </a:ext>
            </a:extLst>
          </p:cNvPr>
          <p:cNvSpPr/>
          <p:nvPr/>
        </p:nvSpPr>
        <p:spPr>
          <a:xfrm>
            <a:off x="536917" y="5274671"/>
            <a:ext cx="1443239" cy="46166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จำนวนเต็มลบ</a:t>
            </a:r>
            <a:endParaRPr lang="en-US" sz="2400" b="1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4F01BFD-1510-DE9A-BC16-4513C7616F7B}"/>
              </a:ext>
            </a:extLst>
          </p:cNvPr>
          <p:cNvSpPr/>
          <p:nvPr/>
        </p:nvSpPr>
        <p:spPr>
          <a:xfrm>
            <a:off x="2167216" y="5274670"/>
            <a:ext cx="1567988" cy="46166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จำนวนเต็มศูนย์</a:t>
            </a:r>
            <a:endParaRPr lang="en-US" sz="2400" b="1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F07DAF26-A021-A030-6D57-12C2C880C4AB}"/>
              </a:ext>
            </a:extLst>
          </p:cNvPr>
          <p:cNvSpPr/>
          <p:nvPr/>
        </p:nvSpPr>
        <p:spPr>
          <a:xfrm>
            <a:off x="3912008" y="5274670"/>
            <a:ext cx="1567988" cy="46166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จำนวนเต็มบวก</a:t>
            </a:r>
            <a:endParaRPr lang="en-US" sz="2400" b="1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C0ADFAB9-6D07-9A89-63DC-F3E0998206CD}"/>
              </a:ext>
            </a:extLst>
          </p:cNvPr>
          <p:cNvCxnSpPr>
            <a:stCxn id="26" idx="2"/>
          </p:cNvCxnSpPr>
          <p:nvPr/>
        </p:nvCxnSpPr>
        <p:spPr>
          <a:xfrm flipH="1">
            <a:off x="6095999" y="2291587"/>
            <a:ext cx="1" cy="39782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4131AE6C-8E1C-D505-0CCF-483EF13CB962}"/>
              </a:ext>
            </a:extLst>
          </p:cNvPr>
          <p:cNvCxnSpPr>
            <a:stCxn id="12" idx="0"/>
          </p:cNvCxnSpPr>
          <p:nvPr/>
        </p:nvCxnSpPr>
        <p:spPr>
          <a:xfrm flipH="1" flipV="1">
            <a:off x="4451695" y="2725271"/>
            <a:ext cx="1" cy="24206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5D3B595C-E713-E0E3-30B8-7D4E05333F38}"/>
              </a:ext>
            </a:extLst>
          </p:cNvPr>
          <p:cNvCxnSpPr>
            <a:cxnSpLocks/>
            <a:stCxn id="14" idx="0"/>
          </p:cNvCxnSpPr>
          <p:nvPr/>
        </p:nvCxnSpPr>
        <p:spPr>
          <a:xfrm flipV="1">
            <a:off x="7637368" y="2725271"/>
            <a:ext cx="0" cy="24206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92A96E93-7E48-4AB2-2238-DF47D9D491BB}"/>
              </a:ext>
            </a:extLst>
          </p:cNvPr>
          <p:cNvCxnSpPr/>
          <p:nvPr/>
        </p:nvCxnSpPr>
        <p:spPr>
          <a:xfrm flipH="1">
            <a:off x="4451695" y="2725271"/>
            <a:ext cx="318567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4CF68409-D6E8-88A9-4A6D-8894B1D855BC}"/>
              </a:ext>
            </a:extLst>
          </p:cNvPr>
          <p:cNvCxnSpPr>
            <a:cxnSpLocks/>
          </p:cNvCxnSpPr>
          <p:nvPr/>
        </p:nvCxnSpPr>
        <p:spPr>
          <a:xfrm>
            <a:off x="4455459" y="3421144"/>
            <a:ext cx="0" cy="41575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25521D40-11E8-639A-5B78-C76DB0CC974C}"/>
              </a:ext>
            </a:extLst>
          </p:cNvPr>
          <p:cNvCxnSpPr>
            <a:cxnSpLocks/>
          </p:cNvCxnSpPr>
          <p:nvPr/>
        </p:nvCxnSpPr>
        <p:spPr>
          <a:xfrm flipH="1">
            <a:off x="2981486" y="3836900"/>
            <a:ext cx="311074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6DABE66B-37FD-9FCD-D415-FFEA4E1DF3D2}"/>
              </a:ext>
            </a:extLst>
          </p:cNvPr>
          <p:cNvCxnSpPr/>
          <p:nvPr/>
        </p:nvCxnSpPr>
        <p:spPr>
          <a:xfrm flipH="1" flipV="1">
            <a:off x="2999410" y="3845863"/>
            <a:ext cx="1" cy="24206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38AA0CB0-FD41-701E-EE00-520099A3429E}"/>
              </a:ext>
            </a:extLst>
          </p:cNvPr>
          <p:cNvCxnSpPr/>
          <p:nvPr/>
        </p:nvCxnSpPr>
        <p:spPr>
          <a:xfrm flipH="1" flipV="1">
            <a:off x="6092234" y="3836899"/>
            <a:ext cx="1" cy="24206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7648C1CD-1D4F-59E4-F764-1F2B3972EDC4}"/>
              </a:ext>
            </a:extLst>
          </p:cNvPr>
          <p:cNvCxnSpPr>
            <a:cxnSpLocks/>
          </p:cNvCxnSpPr>
          <p:nvPr/>
        </p:nvCxnSpPr>
        <p:spPr>
          <a:xfrm flipV="1">
            <a:off x="1269223" y="4894736"/>
            <a:ext cx="0" cy="36757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0B456A8A-B6CE-ECB6-6BC3-6FF14402D8F2}"/>
              </a:ext>
            </a:extLst>
          </p:cNvPr>
          <p:cNvCxnSpPr>
            <a:cxnSpLocks/>
          </p:cNvCxnSpPr>
          <p:nvPr/>
        </p:nvCxnSpPr>
        <p:spPr>
          <a:xfrm flipV="1">
            <a:off x="2999412" y="4908767"/>
            <a:ext cx="0" cy="37146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76B63B4C-2D18-ACB6-0B98-7AC804003D1A}"/>
              </a:ext>
            </a:extLst>
          </p:cNvPr>
          <p:cNvCxnSpPr>
            <a:cxnSpLocks/>
          </p:cNvCxnSpPr>
          <p:nvPr/>
        </p:nvCxnSpPr>
        <p:spPr>
          <a:xfrm flipV="1">
            <a:off x="4711671" y="4908767"/>
            <a:ext cx="0" cy="36250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65C55EE2-BADA-489A-135A-A23245C9E417}"/>
              </a:ext>
            </a:extLst>
          </p:cNvPr>
          <p:cNvCxnSpPr>
            <a:cxnSpLocks/>
          </p:cNvCxnSpPr>
          <p:nvPr/>
        </p:nvCxnSpPr>
        <p:spPr>
          <a:xfrm flipH="1">
            <a:off x="1269226" y="4894736"/>
            <a:ext cx="344244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EA9CE7A9-A629-18AC-0045-E5DD9EE9D20E}"/>
              </a:ext>
            </a:extLst>
          </p:cNvPr>
          <p:cNvCxnSpPr>
            <a:cxnSpLocks/>
            <a:endCxn id="16" idx="2"/>
          </p:cNvCxnSpPr>
          <p:nvPr/>
        </p:nvCxnSpPr>
        <p:spPr>
          <a:xfrm flipV="1">
            <a:off x="2999411" y="4566413"/>
            <a:ext cx="9046" cy="31937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92D450E2-9EA6-3D2A-17BA-0A34DE0FB51B}"/>
              </a:ext>
            </a:extLst>
          </p:cNvPr>
          <p:cNvSpPr txBox="1"/>
          <p:nvPr/>
        </p:nvSpPr>
        <p:spPr>
          <a:xfrm>
            <a:off x="7799294" y="6074630"/>
            <a:ext cx="38931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แสดงระบบจำนวนจริงด้วยแผนภาพเวนน์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C4CAC4C1-D6ED-5D4F-F541-955BEB2AFA18}"/>
              </a:ext>
            </a:extLst>
          </p:cNvPr>
          <p:cNvSpPr/>
          <p:nvPr/>
        </p:nvSpPr>
        <p:spPr>
          <a:xfrm>
            <a:off x="7618875" y="6121684"/>
            <a:ext cx="295835" cy="29583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B1E0BEBA-DF61-E5F3-0E44-39885E767D7C}"/>
              </a:ext>
            </a:extLst>
          </p:cNvPr>
          <p:cNvSpPr/>
          <p:nvPr/>
        </p:nvSpPr>
        <p:spPr>
          <a:xfrm>
            <a:off x="600635" y="1726866"/>
            <a:ext cx="11091816" cy="2049559"/>
          </a:xfrm>
          <a:prstGeom prst="roundRect">
            <a:avLst>
              <a:gd name="adj" fmla="val 3501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B28E6B73-D290-B175-5C4A-FD630A20B408}"/>
                  </a:ext>
                </a:extLst>
              </p:cNvPr>
              <p:cNvSpPr txBox="1"/>
              <p:nvPr/>
            </p:nvSpPr>
            <p:spPr>
              <a:xfrm>
                <a:off x="659387" y="1841168"/>
                <a:ext cx="10402495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เซตของจำนวนเต็มบวก 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sSupPr>
                      <m:e>
                        <m: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H Sarabun New" panose="020B0500040200020003" pitchFamily="34" charset="-34"/>
                          </a:rPr>
                          <m:t>ℤ</m:t>
                        </m:r>
                      </m:e>
                      <m:sup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H Sarabun New" panose="020B0500040200020003" pitchFamily="34" charset="-34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)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หรือจำนวนธรรมชาติ 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(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H Sarabun New" panose="020B0500040200020003" pitchFamily="34" charset="-34"/>
                      </a:rPr>
                      <m:t>ℕ</m:t>
                    </m:r>
                  </m:oMath>
                </a14:m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)</a:t>
                </a:r>
              </a:p>
              <a:p>
                <a:endParaRPr lang="th-TH" sz="2400" b="1" dirty="0">
                  <a:latin typeface="TH Sarabun New" panose="020B0500040200020003" pitchFamily="34" charset="-34"/>
                  <a:cs typeface="TH Sarabun New" panose="020B0500040200020003" pitchFamily="34" charset="-34"/>
                </a:endParaRPr>
              </a:p>
              <a:p>
                <a:pPr algn="ctr"/>
                <a14:m>
                  <m:oMath xmlns:m="http://schemas.openxmlformats.org/officeDocument/2006/math">
                    <m:sSup>
                      <m:sSupPr>
                        <m:ctrlP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sSupPr>
                      <m:e>
                        <m: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H Sarabun New" panose="020B0500040200020003" pitchFamily="34" charset="-34"/>
                          </a:rPr>
                          <m:t>ℤ</m:t>
                        </m:r>
                      </m:e>
                      <m:sup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H Sarabun New" panose="020B0500040200020003" pitchFamily="34" charset="-34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= {1, 2, 3, …}</a:t>
                </a:r>
              </a:p>
            </p:txBody>
          </p:sp>
        </mc:Choice>
        <mc:Fallback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B28E6B73-D290-B175-5C4A-FD630A20B4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387" y="1841168"/>
                <a:ext cx="10402495" cy="1200329"/>
              </a:xfrm>
              <a:prstGeom prst="rect">
                <a:avLst/>
              </a:prstGeom>
              <a:blipFill>
                <a:blip r:embed="rId3"/>
                <a:stretch>
                  <a:fillRect l="-879" t="-2538" b="-121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3" name="Picture 72">
            <a:extLst>
              <a:ext uri="{FF2B5EF4-FFF2-40B4-BE49-F238E27FC236}">
                <a16:creationId xmlns:a16="http://schemas.microsoft.com/office/drawing/2014/main" id="{BCA57352-58A6-DEBF-8D20-4BDB02349D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1884" y="1808306"/>
            <a:ext cx="571580" cy="504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81008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591343-5570-C709-99BB-A41C6C6BB4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0704A93-C6B8-A257-24F7-BE7F35067B41}"/>
              </a:ext>
            </a:extLst>
          </p:cNvPr>
          <p:cNvSpPr/>
          <p:nvPr/>
        </p:nvSpPr>
        <p:spPr>
          <a:xfrm>
            <a:off x="0" y="0"/>
            <a:ext cx="12192000" cy="57807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B2B0E8-EB08-D9C9-3ED6-1009817C0F11}"/>
              </a:ext>
            </a:extLst>
          </p:cNvPr>
          <p:cNvSpPr txBox="1"/>
          <p:nvPr/>
        </p:nvSpPr>
        <p:spPr>
          <a:xfrm>
            <a:off x="349857" y="79515"/>
            <a:ext cx="67188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800" b="1" dirty="0">
                <a:solidFill>
                  <a:schemeClr val="bg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จำนวนจริง</a:t>
            </a:r>
            <a:endParaRPr lang="en-US" sz="2800" b="1" dirty="0">
              <a:solidFill>
                <a:schemeClr val="bg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F88732C-F727-9FA7-09E4-B5B2DBC99657}"/>
              </a:ext>
            </a:extLst>
          </p:cNvPr>
          <p:cNvCxnSpPr/>
          <p:nvPr/>
        </p:nvCxnSpPr>
        <p:spPr>
          <a:xfrm>
            <a:off x="0" y="588395"/>
            <a:ext cx="12192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7D4E5C33-3C1C-E227-2A15-E83EDC4C2E08}"/>
              </a:ext>
            </a:extLst>
          </p:cNvPr>
          <p:cNvSpPr txBox="1"/>
          <p:nvPr/>
        </p:nvSpPr>
        <p:spPr>
          <a:xfrm>
            <a:off x="349857" y="954539"/>
            <a:ext cx="12952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โหมด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B209A7F2-B995-1404-181C-7D722347F02A}"/>
              </a:ext>
            </a:extLst>
          </p:cNvPr>
          <p:cNvSpPr/>
          <p:nvPr/>
        </p:nvSpPr>
        <p:spPr>
          <a:xfrm>
            <a:off x="5067699" y="1829922"/>
            <a:ext cx="2056601" cy="46166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จำนวนจริง</a:t>
            </a:r>
            <a:endParaRPr lang="en-US" sz="2400" b="1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92044E5-34B1-8D41-8012-4DB3849667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5218" y="676854"/>
            <a:ext cx="2886478" cy="847843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54132C8-FB77-7EA1-591D-C92E3AE10531}"/>
              </a:ext>
            </a:extLst>
          </p:cNvPr>
          <p:cNvSpPr/>
          <p:nvPr/>
        </p:nvSpPr>
        <p:spPr>
          <a:xfrm>
            <a:off x="349857" y="1541826"/>
            <a:ext cx="11501484" cy="5236656"/>
          </a:xfrm>
          <a:prstGeom prst="roundRect">
            <a:avLst>
              <a:gd name="adj" fmla="val 3501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B891C81-D0D5-4388-C12A-7BA8740CE1A7}"/>
              </a:ext>
            </a:extLst>
          </p:cNvPr>
          <p:cNvSpPr/>
          <p:nvPr/>
        </p:nvSpPr>
        <p:spPr>
          <a:xfrm>
            <a:off x="3423395" y="2967335"/>
            <a:ext cx="2056601" cy="46166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จำนวนตรรกยะ</a:t>
            </a:r>
            <a:endParaRPr lang="en-US" sz="2400" b="1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720FB39-9FC8-CEE4-43C2-46DDF2F0928D}"/>
              </a:ext>
            </a:extLst>
          </p:cNvPr>
          <p:cNvSpPr/>
          <p:nvPr/>
        </p:nvSpPr>
        <p:spPr>
          <a:xfrm>
            <a:off x="6609067" y="2967334"/>
            <a:ext cx="2056601" cy="46166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จำนวนอตรรกยะ</a:t>
            </a:r>
            <a:endParaRPr lang="en-US" sz="2400" b="1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54A54A0-85C9-090E-57B8-07862606863D}"/>
              </a:ext>
            </a:extLst>
          </p:cNvPr>
          <p:cNvSpPr/>
          <p:nvPr/>
        </p:nvSpPr>
        <p:spPr>
          <a:xfrm>
            <a:off x="1980156" y="4104748"/>
            <a:ext cx="2056601" cy="46166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จำนวนเต็ม</a:t>
            </a:r>
            <a:endParaRPr lang="en-US" sz="2400" b="1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02123EAF-E3FA-5B9C-12F9-82D36642F53E}"/>
              </a:ext>
            </a:extLst>
          </p:cNvPr>
          <p:cNvSpPr/>
          <p:nvPr/>
        </p:nvSpPr>
        <p:spPr>
          <a:xfrm>
            <a:off x="4768178" y="4104748"/>
            <a:ext cx="2439446" cy="46166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จำนวนที่ไม่ใช่จำนวนเต็ม</a:t>
            </a:r>
            <a:endParaRPr lang="en-US" sz="2400" b="1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3C385A19-E844-F426-D898-1A56EA7CCA00}"/>
              </a:ext>
            </a:extLst>
          </p:cNvPr>
          <p:cNvSpPr/>
          <p:nvPr/>
        </p:nvSpPr>
        <p:spPr>
          <a:xfrm>
            <a:off x="536917" y="5274671"/>
            <a:ext cx="1443239" cy="46166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จำนวนเต็มลบ</a:t>
            </a:r>
            <a:endParaRPr lang="en-US" sz="2400" b="1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A3912DA6-5EB8-A18D-1089-194FD6764FE4}"/>
              </a:ext>
            </a:extLst>
          </p:cNvPr>
          <p:cNvSpPr/>
          <p:nvPr/>
        </p:nvSpPr>
        <p:spPr>
          <a:xfrm>
            <a:off x="2167216" y="5274670"/>
            <a:ext cx="1567988" cy="46166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จำนวนเต็มศูนย์</a:t>
            </a:r>
            <a:endParaRPr lang="en-US" sz="2400" b="1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8D7BA873-E929-1EE6-9030-80584BA29B33}"/>
              </a:ext>
            </a:extLst>
          </p:cNvPr>
          <p:cNvSpPr/>
          <p:nvPr/>
        </p:nvSpPr>
        <p:spPr>
          <a:xfrm>
            <a:off x="3912008" y="5274670"/>
            <a:ext cx="1567988" cy="46166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จำนวนเต็มบวก</a:t>
            </a:r>
            <a:endParaRPr lang="en-US" sz="2400" b="1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19D8709-3463-5AC6-7070-7AB4C9C9DE39}"/>
              </a:ext>
            </a:extLst>
          </p:cNvPr>
          <p:cNvCxnSpPr>
            <a:stCxn id="26" idx="2"/>
          </p:cNvCxnSpPr>
          <p:nvPr/>
        </p:nvCxnSpPr>
        <p:spPr>
          <a:xfrm flipH="1">
            <a:off x="6095999" y="2291587"/>
            <a:ext cx="1" cy="39782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2312F4E0-B5A6-1607-BE2A-ED04F0AAC957}"/>
              </a:ext>
            </a:extLst>
          </p:cNvPr>
          <p:cNvCxnSpPr>
            <a:stCxn id="12" idx="0"/>
          </p:cNvCxnSpPr>
          <p:nvPr/>
        </p:nvCxnSpPr>
        <p:spPr>
          <a:xfrm flipH="1" flipV="1">
            <a:off x="4451695" y="2725271"/>
            <a:ext cx="1" cy="24206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D1F32537-ECC4-F6A5-E2BB-8A778A4431AC}"/>
              </a:ext>
            </a:extLst>
          </p:cNvPr>
          <p:cNvCxnSpPr>
            <a:cxnSpLocks/>
            <a:stCxn id="14" idx="0"/>
          </p:cNvCxnSpPr>
          <p:nvPr/>
        </p:nvCxnSpPr>
        <p:spPr>
          <a:xfrm flipV="1">
            <a:off x="7637368" y="2725271"/>
            <a:ext cx="0" cy="24206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C3DA4F76-ED18-48AD-BC54-6F4D897AD440}"/>
              </a:ext>
            </a:extLst>
          </p:cNvPr>
          <p:cNvCxnSpPr/>
          <p:nvPr/>
        </p:nvCxnSpPr>
        <p:spPr>
          <a:xfrm flipH="1">
            <a:off x="4451695" y="2725271"/>
            <a:ext cx="318567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EAA5F7A8-223F-8562-31CB-9AD00435A2B2}"/>
              </a:ext>
            </a:extLst>
          </p:cNvPr>
          <p:cNvCxnSpPr>
            <a:cxnSpLocks/>
          </p:cNvCxnSpPr>
          <p:nvPr/>
        </p:nvCxnSpPr>
        <p:spPr>
          <a:xfrm>
            <a:off x="4455459" y="3421144"/>
            <a:ext cx="0" cy="41575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A84CDB08-BA04-589F-07F5-4D2C8E99F1A6}"/>
              </a:ext>
            </a:extLst>
          </p:cNvPr>
          <p:cNvCxnSpPr>
            <a:cxnSpLocks/>
          </p:cNvCxnSpPr>
          <p:nvPr/>
        </p:nvCxnSpPr>
        <p:spPr>
          <a:xfrm flipH="1">
            <a:off x="2981486" y="3836900"/>
            <a:ext cx="311074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FD25BABC-DDB6-C757-68EE-F6B6F549EC00}"/>
              </a:ext>
            </a:extLst>
          </p:cNvPr>
          <p:cNvCxnSpPr/>
          <p:nvPr/>
        </p:nvCxnSpPr>
        <p:spPr>
          <a:xfrm flipH="1" flipV="1">
            <a:off x="2999410" y="3845863"/>
            <a:ext cx="1" cy="24206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17FD085E-D9D5-E39B-263F-19F971CF1E30}"/>
              </a:ext>
            </a:extLst>
          </p:cNvPr>
          <p:cNvCxnSpPr/>
          <p:nvPr/>
        </p:nvCxnSpPr>
        <p:spPr>
          <a:xfrm flipH="1" flipV="1">
            <a:off x="6092234" y="3836899"/>
            <a:ext cx="1" cy="24206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69CF3D8D-4C69-1F0B-BCC6-242FFEDD5F71}"/>
              </a:ext>
            </a:extLst>
          </p:cNvPr>
          <p:cNvCxnSpPr>
            <a:cxnSpLocks/>
          </p:cNvCxnSpPr>
          <p:nvPr/>
        </p:nvCxnSpPr>
        <p:spPr>
          <a:xfrm flipV="1">
            <a:off x="1269223" y="4894736"/>
            <a:ext cx="0" cy="36757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610173D9-7279-3AB5-02A6-C467D4848E1A}"/>
              </a:ext>
            </a:extLst>
          </p:cNvPr>
          <p:cNvCxnSpPr>
            <a:cxnSpLocks/>
          </p:cNvCxnSpPr>
          <p:nvPr/>
        </p:nvCxnSpPr>
        <p:spPr>
          <a:xfrm flipV="1">
            <a:off x="2999412" y="4908767"/>
            <a:ext cx="0" cy="37146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76235E25-F701-C311-6557-8F68B5D17125}"/>
              </a:ext>
            </a:extLst>
          </p:cNvPr>
          <p:cNvCxnSpPr>
            <a:cxnSpLocks/>
          </p:cNvCxnSpPr>
          <p:nvPr/>
        </p:nvCxnSpPr>
        <p:spPr>
          <a:xfrm flipV="1">
            <a:off x="4711671" y="4908767"/>
            <a:ext cx="0" cy="36250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051AEA2D-79C1-C36E-F8FD-3E8F4613B3AD}"/>
              </a:ext>
            </a:extLst>
          </p:cNvPr>
          <p:cNvCxnSpPr>
            <a:cxnSpLocks/>
          </p:cNvCxnSpPr>
          <p:nvPr/>
        </p:nvCxnSpPr>
        <p:spPr>
          <a:xfrm flipH="1">
            <a:off x="1269226" y="4894736"/>
            <a:ext cx="344244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3D8200FC-B6B2-C53B-4573-A0FB8D95C06F}"/>
              </a:ext>
            </a:extLst>
          </p:cNvPr>
          <p:cNvCxnSpPr>
            <a:cxnSpLocks/>
            <a:endCxn id="16" idx="2"/>
          </p:cNvCxnSpPr>
          <p:nvPr/>
        </p:nvCxnSpPr>
        <p:spPr>
          <a:xfrm flipV="1">
            <a:off x="2999411" y="4566413"/>
            <a:ext cx="9046" cy="31937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BD052FF8-8DCB-5D10-075D-2AB5DAC2E841}"/>
              </a:ext>
            </a:extLst>
          </p:cNvPr>
          <p:cNvSpPr txBox="1"/>
          <p:nvPr/>
        </p:nvSpPr>
        <p:spPr>
          <a:xfrm>
            <a:off x="7799294" y="6074630"/>
            <a:ext cx="38931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แสดงระบบจำนวนจริงด้วยแผนภาพเวนน์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06C41179-B576-46B3-E1DE-353DDA113DA9}"/>
              </a:ext>
            </a:extLst>
          </p:cNvPr>
          <p:cNvSpPr/>
          <p:nvPr/>
        </p:nvSpPr>
        <p:spPr>
          <a:xfrm>
            <a:off x="7618875" y="6121684"/>
            <a:ext cx="295835" cy="29583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E867DA71-8FB3-8DC4-11E1-42BF747D1B89}"/>
              </a:ext>
            </a:extLst>
          </p:cNvPr>
          <p:cNvSpPr/>
          <p:nvPr/>
        </p:nvSpPr>
        <p:spPr>
          <a:xfrm>
            <a:off x="439271" y="1726866"/>
            <a:ext cx="11253180" cy="4330635"/>
          </a:xfrm>
          <a:prstGeom prst="roundRect">
            <a:avLst>
              <a:gd name="adj" fmla="val 3501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pic>
        <p:nvPicPr>
          <p:cNvPr id="73" name="Picture 72">
            <a:extLst>
              <a:ext uri="{FF2B5EF4-FFF2-40B4-BE49-F238E27FC236}">
                <a16:creationId xmlns:a16="http://schemas.microsoft.com/office/drawing/2014/main" id="{6D367C1D-5781-E99C-BDAE-B00389865C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1884" y="1808306"/>
            <a:ext cx="571580" cy="504895"/>
          </a:xfrm>
          <a:prstGeom prst="rect">
            <a:avLst/>
          </a:prstGeom>
        </p:spPr>
      </p:pic>
      <p:pic>
        <p:nvPicPr>
          <p:cNvPr id="5" name="Graphic 4" descr="Checkmark">
            <a:extLst>
              <a:ext uri="{FF2B5EF4-FFF2-40B4-BE49-F238E27FC236}">
                <a16:creationId xmlns:a16="http://schemas.microsoft.com/office/drawing/2014/main" id="{1FB48F70-D46D-5D70-F522-0EE73C647DD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18875" y="6155819"/>
            <a:ext cx="295835" cy="295835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18B58689-DBC7-6F7A-1652-BB50C5F2A8B7}"/>
              </a:ext>
            </a:extLst>
          </p:cNvPr>
          <p:cNvSpPr/>
          <p:nvPr/>
        </p:nvSpPr>
        <p:spPr>
          <a:xfrm>
            <a:off x="2209084" y="1808306"/>
            <a:ext cx="7611019" cy="418168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A8590B0-32C4-94D4-AEAB-C90C17C2CEBF}"/>
                  </a:ext>
                </a:extLst>
              </p:cNvPr>
              <p:cNvSpPr txBox="1"/>
              <p:nvPr/>
            </p:nvSpPr>
            <p:spPr>
              <a:xfrm>
                <a:off x="2949021" y="1805292"/>
                <a:ext cx="1233772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H Sarabun New" panose="020B0500040200020003" pitchFamily="34" charset="-34"/>
                        </a:rPr>
                        <m:t>ℝ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A8590B0-32C4-94D4-AEAB-C90C17C2CE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9021" y="1805292"/>
                <a:ext cx="1233772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Oval 12">
            <a:extLst>
              <a:ext uri="{FF2B5EF4-FFF2-40B4-BE49-F238E27FC236}">
                <a16:creationId xmlns:a16="http://schemas.microsoft.com/office/drawing/2014/main" id="{8B8C20DF-1529-50B8-A17B-4CF7AC72449D}"/>
              </a:ext>
            </a:extLst>
          </p:cNvPr>
          <p:cNvSpPr/>
          <p:nvPr/>
        </p:nvSpPr>
        <p:spPr>
          <a:xfrm>
            <a:off x="3080332" y="2308716"/>
            <a:ext cx="3286279" cy="3286279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595F92FF-98F2-07EB-4FA8-FF712111B85C}"/>
              </a:ext>
            </a:extLst>
          </p:cNvPr>
          <p:cNvSpPr/>
          <p:nvPr/>
        </p:nvSpPr>
        <p:spPr>
          <a:xfrm>
            <a:off x="6709674" y="2773316"/>
            <a:ext cx="2645882" cy="2387158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99B4BEB0-1171-3218-CCF3-A46AFE017C7B}"/>
                  </a:ext>
                </a:extLst>
              </p:cNvPr>
              <p:cNvSpPr txBox="1"/>
              <p:nvPr/>
            </p:nvSpPr>
            <p:spPr>
              <a:xfrm>
                <a:off x="2733507" y="2765034"/>
                <a:ext cx="72205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H Sarabun New" panose="020B0500040200020003" pitchFamily="34" charset="-34"/>
                        </a:rPr>
                        <m:t>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99B4BEB0-1171-3218-CCF3-A46AFE017C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3507" y="2765034"/>
                <a:ext cx="722050" cy="461665"/>
              </a:xfrm>
              <a:prstGeom prst="rect">
                <a:avLst/>
              </a:prstGeom>
              <a:blipFill>
                <a:blip r:embed="rId6"/>
                <a:stretch>
                  <a:fillRect b="-1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890BEC1-871A-F4CB-A9C1-8B80092BDB3E}"/>
                  </a:ext>
                </a:extLst>
              </p:cNvPr>
              <p:cNvSpPr txBox="1"/>
              <p:nvPr/>
            </p:nvSpPr>
            <p:spPr>
              <a:xfrm>
                <a:off x="7553881" y="2291904"/>
                <a:ext cx="721658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H Sarabun New" panose="020B0500040200020003" pitchFamily="34" charset="-34"/>
                            </a:rPr>
                          </m:ctrlPr>
                        </m:sSup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H Sarabun New" panose="020B0500040200020003" pitchFamily="34" charset="-34"/>
                            </a:rPr>
                            <m:t>ℚ</m:t>
                          </m:r>
                        </m:e>
                        <m:sup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H Sarabun New" panose="020B0500040200020003" pitchFamily="34" charset="-34"/>
                            </a:rPr>
                            <m:t>′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890BEC1-871A-F4CB-A9C1-8B80092BDB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3881" y="2291904"/>
                <a:ext cx="721658" cy="461665"/>
              </a:xfrm>
              <a:prstGeom prst="rect">
                <a:avLst/>
              </a:prstGeom>
              <a:blipFill>
                <a:blip r:embed="rId7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Oval 28">
            <a:extLst>
              <a:ext uri="{FF2B5EF4-FFF2-40B4-BE49-F238E27FC236}">
                <a16:creationId xmlns:a16="http://schemas.microsoft.com/office/drawing/2014/main" id="{BA8AB111-125F-C07A-5144-1B80B71CD9D1}"/>
              </a:ext>
            </a:extLst>
          </p:cNvPr>
          <p:cNvSpPr/>
          <p:nvPr/>
        </p:nvSpPr>
        <p:spPr>
          <a:xfrm>
            <a:off x="3370359" y="2619942"/>
            <a:ext cx="2693906" cy="269390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01052C9A-77F2-0900-1119-24CD17ECBAAE}"/>
                  </a:ext>
                </a:extLst>
              </p:cNvPr>
              <p:cNvSpPr txBox="1"/>
              <p:nvPr/>
            </p:nvSpPr>
            <p:spPr>
              <a:xfrm>
                <a:off x="5252461" y="2592503"/>
                <a:ext cx="872943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H Sarabun New" panose="020B0500040200020003" pitchFamily="34" charset="-34"/>
                        </a:rPr>
                        <m:t>ℤ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01052C9A-77F2-0900-1119-24CD17ECBA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2461" y="2592503"/>
                <a:ext cx="872943" cy="46166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Oval 34">
            <a:extLst>
              <a:ext uri="{FF2B5EF4-FFF2-40B4-BE49-F238E27FC236}">
                <a16:creationId xmlns:a16="http://schemas.microsoft.com/office/drawing/2014/main" id="{9F35F4CE-544B-C09A-560B-0D46FA66D4E7}"/>
              </a:ext>
            </a:extLst>
          </p:cNvPr>
          <p:cNvSpPr/>
          <p:nvPr/>
        </p:nvSpPr>
        <p:spPr>
          <a:xfrm>
            <a:off x="3854824" y="3139306"/>
            <a:ext cx="1592459" cy="49811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8563CE36-DCC6-9EC3-F78C-005D9ACB7EEA}"/>
              </a:ext>
            </a:extLst>
          </p:cNvPr>
          <p:cNvSpPr/>
          <p:nvPr/>
        </p:nvSpPr>
        <p:spPr>
          <a:xfrm>
            <a:off x="3863790" y="3784763"/>
            <a:ext cx="1592459" cy="49811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02414D86-391C-1546-47BB-6F132052381C}"/>
              </a:ext>
            </a:extLst>
          </p:cNvPr>
          <p:cNvSpPr/>
          <p:nvPr/>
        </p:nvSpPr>
        <p:spPr>
          <a:xfrm>
            <a:off x="3863789" y="4421261"/>
            <a:ext cx="1592459" cy="49811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F271AC8B-22EA-A270-9172-49F2BF46644D}"/>
                  </a:ext>
                </a:extLst>
              </p:cNvPr>
              <p:cNvSpPr txBox="1"/>
              <p:nvPr/>
            </p:nvSpPr>
            <p:spPr>
              <a:xfrm>
                <a:off x="4200683" y="4447107"/>
                <a:ext cx="1005270" cy="45313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 xmlns:m="http://schemas.openxmlformats.org/officeDocument/2006/math">
                    <m:sSup>
                      <m:sSupPr>
                        <m:ctrlP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sSupPr>
                      <m:e>
                        <m: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H Sarabun New" panose="020B0500040200020003" pitchFamily="34" charset="-34"/>
                          </a:rPr>
                          <m:t>ℤ</m:t>
                        </m:r>
                      </m:e>
                      <m:sup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H Sarabun New" panose="020B0500040200020003" pitchFamily="34" charset="-34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H Sarabun New" panose="020B0500040200020003" pitchFamily="34" charset="-34"/>
                      </a:rPr>
                      <m:t>ℕ</m:t>
                    </m:r>
                  </m:oMath>
                </a14:m>
                <a:r>
                  <a:rPr lang="en-US" b="1" dirty="0">
                    <a:ea typeface="Cambria Math" panose="02040503050406030204" pitchFamily="18" charset="0"/>
                    <a:cs typeface="TH Sarabun New" panose="020B0500040200020003" pitchFamily="34" charset="-34"/>
                  </a:rPr>
                  <a:t> </a:t>
                </a:r>
                <a:endParaRPr lang="en-US" dirty="0"/>
              </a:p>
            </p:txBody>
          </p:sp>
        </mc:Choice>
        <mc:Fallback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F271AC8B-22EA-A270-9172-49F2BF4664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0683" y="4447107"/>
                <a:ext cx="1005270" cy="453137"/>
              </a:xfrm>
              <a:prstGeom prst="rect">
                <a:avLst/>
              </a:prstGeom>
              <a:blipFill>
                <a:blip r:embed="rId9"/>
                <a:stretch>
                  <a:fillRect l="-1212" b="-216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83223853-D4D4-4BE2-8BDB-96C929B3731F}"/>
                  </a:ext>
                </a:extLst>
              </p:cNvPr>
              <p:cNvSpPr txBox="1"/>
              <p:nvPr/>
            </p:nvSpPr>
            <p:spPr>
              <a:xfrm>
                <a:off x="4255281" y="3817815"/>
                <a:ext cx="830121" cy="470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H Sarabun New" panose="020B0500040200020003" pitchFamily="34" charset="-34"/>
                            </a:rPr>
                          </m:ctrlPr>
                        </m:sSup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H Sarabun New" panose="020B0500040200020003" pitchFamily="34" charset="-34"/>
                            </a:rPr>
                            <m:t>ℤ</m:t>
                          </m:r>
                        </m:e>
                        <m:sup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H Sarabun New" panose="020B0500040200020003" pitchFamily="34" charset="-34"/>
                            </a:rPr>
                            <m:t>𝟎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83223853-D4D4-4BE2-8BDB-96C929B373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5281" y="3817815"/>
                <a:ext cx="830121" cy="47000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3C390BE4-FA30-0A50-A793-6374FC8D2972}"/>
                  </a:ext>
                </a:extLst>
              </p:cNvPr>
              <p:cNvSpPr txBox="1"/>
              <p:nvPr/>
            </p:nvSpPr>
            <p:spPr>
              <a:xfrm>
                <a:off x="4291586" y="3148885"/>
                <a:ext cx="903429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H Sarabun New" panose="020B0500040200020003" pitchFamily="34" charset="-34"/>
                            </a:rPr>
                          </m:ctrlPr>
                        </m:sSup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H Sarabun New" panose="020B0500040200020003" pitchFamily="34" charset="-34"/>
                            </a:rPr>
                            <m:t>ℤ</m:t>
                          </m:r>
                        </m:e>
                        <m:sup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H Sarabun New" panose="020B0500040200020003" pitchFamily="34" charset="-34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3C390BE4-FA30-0A50-A793-6374FC8D29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1586" y="3148885"/>
                <a:ext cx="903429" cy="46166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959037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E6C4DD-7C92-D89F-C5FF-F275CF13DC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639D347-88FB-CD7F-D735-FE850472D1D4}"/>
              </a:ext>
            </a:extLst>
          </p:cNvPr>
          <p:cNvSpPr/>
          <p:nvPr/>
        </p:nvSpPr>
        <p:spPr>
          <a:xfrm>
            <a:off x="0" y="0"/>
            <a:ext cx="12192000" cy="57807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188E42-B7F8-A532-039D-10798F9462BE}"/>
              </a:ext>
            </a:extLst>
          </p:cNvPr>
          <p:cNvSpPr txBox="1"/>
          <p:nvPr/>
        </p:nvSpPr>
        <p:spPr>
          <a:xfrm>
            <a:off x="349857" y="79515"/>
            <a:ext cx="67188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800" b="1" dirty="0">
                <a:solidFill>
                  <a:schemeClr val="bg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จำนวนจริง</a:t>
            </a:r>
            <a:endParaRPr lang="en-US" sz="2800" b="1" dirty="0">
              <a:solidFill>
                <a:schemeClr val="bg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90AA66F-ACCB-6947-A2CC-5EE3B32270C7}"/>
              </a:ext>
            </a:extLst>
          </p:cNvPr>
          <p:cNvCxnSpPr/>
          <p:nvPr/>
        </p:nvCxnSpPr>
        <p:spPr>
          <a:xfrm>
            <a:off x="0" y="588395"/>
            <a:ext cx="12192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8DE566F7-A4EF-C9B5-B239-6D44E6F1A23A}"/>
              </a:ext>
            </a:extLst>
          </p:cNvPr>
          <p:cNvSpPr txBox="1"/>
          <p:nvPr/>
        </p:nvSpPr>
        <p:spPr>
          <a:xfrm>
            <a:off x="349857" y="954539"/>
            <a:ext cx="12952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โหมด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69A8A97-58BE-D7E1-CD96-F2BB6EB32E81}"/>
              </a:ext>
            </a:extLst>
          </p:cNvPr>
          <p:cNvSpPr/>
          <p:nvPr/>
        </p:nvSpPr>
        <p:spPr>
          <a:xfrm>
            <a:off x="349857" y="1541826"/>
            <a:ext cx="11501484" cy="5236656"/>
          </a:xfrm>
          <a:prstGeom prst="roundRect">
            <a:avLst>
              <a:gd name="adj" fmla="val 3501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0427204-9330-1607-085A-A51EE82491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889" y="687873"/>
            <a:ext cx="2819794" cy="752580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DE567506-A136-5D29-1A6F-0FC2B0DEC25A}"/>
              </a:ext>
            </a:extLst>
          </p:cNvPr>
          <p:cNvSpPr txBox="1"/>
          <p:nvPr/>
        </p:nvSpPr>
        <p:spPr>
          <a:xfrm>
            <a:off x="645459" y="1893630"/>
            <a:ext cx="102466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ระบุชนิดของจำนวนต่อไปนี้ให้ถูกต้อง (ตอบได้มากกว่า 1 ชนิด)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DA240263-061A-E408-7D26-B3FBC23FBE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0696" y="5941977"/>
            <a:ext cx="2991267" cy="781159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E19945D7-2042-D675-2226-588F0E8802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3851" y="2427659"/>
            <a:ext cx="8437706" cy="3247000"/>
          </a:xfrm>
          <a:prstGeom prst="rect">
            <a:avLst/>
          </a:prstGeom>
        </p:spPr>
      </p:pic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7EDF0655-DF41-3E8E-238F-06B1C8C67340}"/>
              </a:ext>
            </a:extLst>
          </p:cNvPr>
          <p:cNvSpPr/>
          <p:nvPr/>
        </p:nvSpPr>
        <p:spPr>
          <a:xfrm>
            <a:off x="6490447" y="1694329"/>
            <a:ext cx="1398494" cy="660966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8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สุ่ม</a:t>
            </a:r>
            <a:endParaRPr lang="en-US" sz="28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1698290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7fb0ce85-f7c3-4498-8b94-0d9a3229af8b}" enabled="0" method="" siteId="{7fb0ce85-f7c3-4498-8b94-0d9a3229af8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598</TotalTime>
  <Words>622</Words>
  <Application>Microsoft Office PowerPoint</Application>
  <PresentationFormat>Widescreen</PresentationFormat>
  <Paragraphs>140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</vt:lpstr>
      <vt:lpstr>Aptos Display</vt:lpstr>
      <vt:lpstr>Arial</vt:lpstr>
      <vt:lpstr>Cambria Math</vt:lpstr>
      <vt:lpstr>TH Sarabun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Nattanun Tangpeerasit (Maths) Lap</dc:creator>
  <cp:lastModifiedBy>ณัฐนันท์ ตั้งพีระสิทธิ์</cp:lastModifiedBy>
  <cp:revision>56</cp:revision>
  <dcterms:created xsi:type="dcterms:W3CDTF">2026-09-18T13:51:45Z</dcterms:created>
  <dcterms:modified xsi:type="dcterms:W3CDTF">2026-10-23T07:44:27Z</dcterms:modified>
</cp:coreProperties>
</file>