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6" r:id="rId3"/>
    <p:sldId id="288" r:id="rId4"/>
    <p:sldId id="287" r:id="rId5"/>
    <p:sldId id="289" r:id="rId6"/>
    <p:sldId id="290" r:id="rId7"/>
    <p:sldId id="291" r:id="rId8"/>
    <p:sldId id="310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295" r:id="rId20"/>
    <p:sldId id="296" r:id="rId21"/>
    <p:sldId id="293" r:id="rId22"/>
    <p:sldId id="294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285" r:id="rId31"/>
    <p:sldId id="305" r:id="rId32"/>
    <p:sldId id="306" r:id="rId33"/>
    <p:sldId id="309" r:id="rId34"/>
    <p:sldId id="30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C024-7D17-66ED-AD09-0B69DD6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D8544C-0F95-9887-74A0-5BEF8DEADD7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7301-8C6A-9181-E0BC-0BBA6B4FB98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817CF-21AE-BE10-EFDF-5B703AA1F5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4E8EF72-0276-A1C9-CA09-347890751DD8}"/>
              </a:ext>
            </a:extLst>
          </p:cNvPr>
          <p:cNvSpPr/>
          <p:nvPr/>
        </p:nvSpPr>
        <p:spPr>
          <a:xfrm>
            <a:off x="379155" y="1822761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1.สมบัติการสะท้อน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CECA6B-7599-D682-3960-2E9DB8609CA5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C1766C-185E-9790-DCDD-1B214A604B2B}"/>
              </a:ext>
            </a:extLst>
          </p:cNvPr>
          <p:cNvSpPr/>
          <p:nvPr/>
        </p:nvSpPr>
        <p:spPr>
          <a:xfrm>
            <a:off x="388121" y="2835774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.สมบัติการสมมาตร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4E9BFE-3F0E-F1FB-8061-2B903ACBE5F7}"/>
              </a:ext>
            </a:extLst>
          </p:cNvPr>
          <p:cNvSpPr/>
          <p:nvPr/>
        </p:nvSpPr>
        <p:spPr>
          <a:xfrm>
            <a:off x="379155" y="3848787"/>
            <a:ext cx="6227832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.สมบัติการถ่ายทอด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c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92B1EF7-8D1A-F22B-8B18-5D5E1F7D52E1}"/>
              </a:ext>
            </a:extLst>
          </p:cNvPr>
          <p:cNvSpPr/>
          <p:nvPr/>
        </p:nvSpPr>
        <p:spPr>
          <a:xfrm>
            <a:off x="379155" y="4861800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.สมบัติการบวกด้วยจำนวนที่เท่ากัน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b + c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6A9BED-CC3C-ED9C-CFDF-F08251570D19}"/>
              </a:ext>
            </a:extLst>
          </p:cNvPr>
          <p:cNvSpPr/>
          <p:nvPr/>
        </p:nvSpPr>
        <p:spPr>
          <a:xfrm>
            <a:off x="370189" y="5844988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.สมบัติการคูณด้วยจำนวนที่เท่ากัน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ac =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9A69F5-3994-DB95-C692-C1779DBB1353}"/>
              </a:ext>
            </a:extLst>
          </p:cNvPr>
          <p:cNvSpPr txBox="1"/>
          <p:nvPr/>
        </p:nvSpPr>
        <p:spPr>
          <a:xfrm>
            <a:off x="340660" y="1373365"/>
            <a:ext cx="2725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7DAE56-5B19-38A6-1FA9-098EB76C26F1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0C0C6DF-A22D-EB1F-EFC8-B3E1C2EB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4EBAEC9-7FC4-7C1F-9547-80DB89280D42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0280E6D-7F6D-A78B-F577-E5C4749EF6C9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สมบัติการเท่ากัน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10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5ED9-D454-AD2C-ACDC-5F7F1B72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4FCC86-B739-5764-8941-1BE15B56774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5D2D2-722A-FDC2-A5EE-DC41EDEA0A8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F94B07-1986-86A8-D2EC-8EB53BE039C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2D6513-E0E7-3E78-A0D8-3A7E183D1133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2AF484-E5A4-216C-BF27-AB55B283E703}"/>
              </a:ext>
            </a:extLst>
          </p:cNvPr>
          <p:cNvSpPr txBox="1"/>
          <p:nvPr/>
        </p:nvSpPr>
        <p:spPr>
          <a:xfrm>
            <a:off x="340660" y="1373365"/>
            <a:ext cx="2725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AF08DB-ADF6-7807-24C4-62842CD675FA}"/>
                  </a:ext>
                </a:extLst>
              </p:cNvPr>
              <p:cNvSpPr txBox="1"/>
              <p:nvPr/>
            </p:nvSpPr>
            <p:spPr>
              <a:xfrm>
                <a:off x="6956613" y="2015112"/>
                <a:ext cx="4742328" cy="162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</a:t>
                </a:r>
              </a:p>
              <a:p>
                <a:pPr marL="457200" indent="-457200">
                  <a:buAutoNum type="arabicParenR"/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3 = 3</a:t>
                </a:r>
              </a:p>
              <a:p>
                <a:pPr marL="457200" indent="-457200">
                  <a:buAutoNum type="arabicParenR"/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+ 1 = x + 1</a:t>
                </a:r>
              </a:p>
              <a:p>
                <a:pPr marL="457200" indent="-457200">
                  <a:buAutoNum type="arabicParenR"/>
                </a:pP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5 -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radPr>
                      <m:deg/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𝟕</m:t>
                        </m:r>
                      </m:e>
                    </m:rad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5 -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radPr>
                      <m:deg/>
                      <m:e>
                        <m:r>
                          <a:rPr lang="en-US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𝟕</m:t>
                        </m:r>
                      </m:e>
                    </m:rad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AF08DB-ADF6-7807-24C4-62842CD67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613" y="2015112"/>
                <a:ext cx="4742328" cy="1621598"/>
              </a:xfrm>
              <a:prstGeom prst="rect">
                <a:avLst/>
              </a:prstGeom>
              <a:blipFill>
                <a:blip r:embed="rId2"/>
                <a:stretch>
                  <a:fillRect l="-2314" t="-3008" b="-6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FFA287-2ECB-55CC-F577-CCF8CBA68A67}"/>
              </a:ext>
            </a:extLst>
          </p:cNvPr>
          <p:cNvSpPr/>
          <p:nvPr/>
        </p:nvSpPr>
        <p:spPr>
          <a:xfrm>
            <a:off x="379155" y="1822761"/>
            <a:ext cx="6227831" cy="9043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1.สมบัติการสะท้อน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0B9F88-874B-EF1F-5057-65A01C3403D7}"/>
              </a:ext>
            </a:extLst>
          </p:cNvPr>
          <p:cNvSpPr/>
          <p:nvPr/>
        </p:nvSpPr>
        <p:spPr>
          <a:xfrm>
            <a:off x="388121" y="2835774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.สมบัติการสมมาตร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A187CF-8979-587B-C427-321AD5207BAF}"/>
              </a:ext>
            </a:extLst>
          </p:cNvPr>
          <p:cNvSpPr/>
          <p:nvPr/>
        </p:nvSpPr>
        <p:spPr>
          <a:xfrm>
            <a:off x="379155" y="3848787"/>
            <a:ext cx="6227832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.สมบัติการถ่ายทอด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c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B74AC86-9E2E-5CAA-D1BC-EFE9BD57F956}"/>
              </a:ext>
            </a:extLst>
          </p:cNvPr>
          <p:cNvSpPr/>
          <p:nvPr/>
        </p:nvSpPr>
        <p:spPr>
          <a:xfrm>
            <a:off x="379155" y="4861800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.สมบัติการบวกด้วยจำนวนที่เท่ากัน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b + c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2AA614-1754-EE58-4DFD-15EB0BAE4967}"/>
              </a:ext>
            </a:extLst>
          </p:cNvPr>
          <p:cNvSpPr/>
          <p:nvPr/>
        </p:nvSpPr>
        <p:spPr>
          <a:xfrm>
            <a:off x="370189" y="5844988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.สมบัติการคูณด้วยจำนวนที่เท่ากัน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ac =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3DF7FA-9C1A-8AFD-2DC1-F545E94C7FC5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160EDDA-94D4-B40B-5D32-F46C4B7F6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8560091-6711-115D-6921-55EF047A09D8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สมบัติการเท่ากัน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E2814E-1734-46B7-590D-0C6682291430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2850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42D76-B302-50D8-EF85-4D0BE0E1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0000B0-ED52-D38A-6830-C8F951A6DDC2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F53DF-9313-7D1A-5250-6B848E21A6B5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F6D61F-E51C-63D1-4BFA-0360128E2A9A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841B02-A19C-451C-F9D3-E555E5DE40EF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F36575-76E8-EE56-7007-7A54BAE6F2EF}"/>
              </a:ext>
            </a:extLst>
          </p:cNvPr>
          <p:cNvSpPr txBox="1"/>
          <p:nvPr/>
        </p:nvSpPr>
        <p:spPr>
          <a:xfrm>
            <a:off x="340660" y="1373365"/>
            <a:ext cx="2725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EC10D-2927-C4A2-10ED-6376176EA645}"/>
              </a:ext>
            </a:extLst>
          </p:cNvPr>
          <p:cNvSpPr txBox="1"/>
          <p:nvPr/>
        </p:nvSpPr>
        <p:spPr>
          <a:xfrm>
            <a:off x="6956613" y="2015112"/>
            <a:ext cx="4742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= 7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 = x</a:t>
            </a: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8 + 1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9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9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8 + 1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y = 2t + s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2t + s = 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0BC421-E44B-8140-EE4D-5BEEA591F8DD}"/>
              </a:ext>
            </a:extLst>
          </p:cNvPr>
          <p:cNvSpPr/>
          <p:nvPr/>
        </p:nvSpPr>
        <p:spPr>
          <a:xfrm>
            <a:off x="379155" y="1822761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1.สมบัติการสะท้อน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4370F6-18D9-7405-00DC-96167F5D28F2}"/>
              </a:ext>
            </a:extLst>
          </p:cNvPr>
          <p:cNvSpPr/>
          <p:nvPr/>
        </p:nvSpPr>
        <p:spPr>
          <a:xfrm>
            <a:off x="388121" y="2835774"/>
            <a:ext cx="6227831" cy="9043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.สมบัติการสมมาตร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378A01-CA8D-87F5-0CFD-C27B7E2C404E}"/>
              </a:ext>
            </a:extLst>
          </p:cNvPr>
          <p:cNvSpPr/>
          <p:nvPr/>
        </p:nvSpPr>
        <p:spPr>
          <a:xfrm>
            <a:off x="379155" y="3848787"/>
            <a:ext cx="6227832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.สมบัติการถ่ายทอด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84A68F-F2C8-9B0A-9D04-CEDE128B7733}"/>
              </a:ext>
            </a:extLst>
          </p:cNvPr>
          <p:cNvSpPr/>
          <p:nvPr/>
        </p:nvSpPr>
        <p:spPr>
          <a:xfrm>
            <a:off x="379155" y="4861800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.สมบัติการบวกด้วยจำนวนที่เท่ากัน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b + c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C514896-67FB-3E68-17F1-EA26862C0DFD}"/>
              </a:ext>
            </a:extLst>
          </p:cNvPr>
          <p:cNvSpPr/>
          <p:nvPr/>
        </p:nvSpPr>
        <p:spPr>
          <a:xfrm>
            <a:off x="370189" y="5844988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.สมบัติการคูณด้วยจำนวนที่เท่ากัน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ac =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5C96CD-0B39-62FC-4B43-DE53C216AB16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9AEAFD1-2944-9A0C-58AC-9B0EF869E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E2F3B9A-113A-935A-3608-BCF7CEB7C45E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สมบัติการเท่ากัน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6F6697-E394-6372-0BD8-429176AA6300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8399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003B7-605A-BDBD-413F-E559BF48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A4D96E-DC6D-C282-A5FB-DE52F942D312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2B770-367B-15A1-75A7-503C28991E12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85F024-8B39-FBF0-0225-E3ABE580DA7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5D4420-F475-0382-D90B-E2A4EB869E21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F95538-3BA5-BC1D-21AF-C08987A95E08}"/>
              </a:ext>
            </a:extLst>
          </p:cNvPr>
          <p:cNvSpPr txBox="1"/>
          <p:nvPr/>
        </p:nvSpPr>
        <p:spPr>
          <a:xfrm>
            <a:off x="340660" y="1373365"/>
            <a:ext cx="2725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94AD7F-26EC-6467-6CFF-5596A4AB8A2B}"/>
                  </a:ext>
                </a:extLst>
              </p:cNvPr>
              <p:cNvSpPr txBox="1"/>
              <p:nvPr/>
            </p:nvSpPr>
            <p:spPr>
              <a:xfrm>
                <a:off x="6943165" y="1947437"/>
                <a:ext cx="4908176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ถ้า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 = 4 + 3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และ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4 + 3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 7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แล้ว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 = 7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FontTx/>
                  <a:buAutoNum type="arabicParenR"/>
                </a:pP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ถ้า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s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s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h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แล้ว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h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AutoNum type="arabicParenR"/>
                </a:pP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ถ้า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3 = 2f + 3g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และ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2f + 3g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9</m:t>
                        </m:r>
                      </m:e>
                    </m:rad>
                  </m:oMath>
                </a14:m>
                <a:r>
                  <a:rPr lang="en-US" sz="18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แล้ว 3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radPr>
                      <m:deg/>
                      <m:e>
                        <m:r>
                          <a:rPr lang="en-US" sz="18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𝟗</m:t>
                        </m:r>
                      </m:e>
                    </m:rad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94AD7F-26EC-6467-6CFF-5596A4AB8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165" y="1947437"/>
                <a:ext cx="4908176" cy="1569660"/>
              </a:xfrm>
              <a:prstGeom prst="rect">
                <a:avLst/>
              </a:prstGeom>
              <a:blipFill>
                <a:blip r:embed="rId2"/>
                <a:stretch>
                  <a:fillRect l="-2236" t="-3101" b="-10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52F018D-4B95-5BD6-C068-68BEEFCEF7E8}"/>
              </a:ext>
            </a:extLst>
          </p:cNvPr>
          <p:cNvSpPr/>
          <p:nvPr/>
        </p:nvSpPr>
        <p:spPr>
          <a:xfrm>
            <a:off x="379155" y="1822761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1.สมบัติการสะท้อน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0D956C8-37C7-2311-70D7-46C1854DE02B}"/>
              </a:ext>
            </a:extLst>
          </p:cNvPr>
          <p:cNvSpPr/>
          <p:nvPr/>
        </p:nvSpPr>
        <p:spPr>
          <a:xfrm>
            <a:off x="388121" y="2835774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.สมบัติการสมมาตร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278AED-E79A-9D11-4C0F-F29DA6EBA034}"/>
              </a:ext>
            </a:extLst>
          </p:cNvPr>
          <p:cNvSpPr/>
          <p:nvPr/>
        </p:nvSpPr>
        <p:spPr>
          <a:xfrm>
            <a:off x="379155" y="3848787"/>
            <a:ext cx="6227832" cy="9043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.สมบัติการถ่ายทอด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D6F71D2-662F-CEAF-E6B5-0C814BF8F245}"/>
              </a:ext>
            </a:extLst>
          </p:cNvPr>
          <p:cNvSpPr/>
          <p:nvPr/>
        </p:nvSpPr>
        <p:spPr>
          <a:xfrm>
            <a:off x="379155" y="4861800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.สมบัติการบวกด้วยจำนวนที่เท่ากัน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b + c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9B91288-C51A-B999-60DF-509C9F65AACD}"/>
              </a:ext>
            </a:extLst>
          </p:cNvPr>
          <p:cNvSpPr/>
          <p:nvPr/>
        </p:nvSpPr>
        <p:spPr>
          <a:xfrm>
            <a:off x="370189" y="5844988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.สมบัติการคูณด้วยจำนวนที่เท่ากัน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ac =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1ECC33-DC39-F761-3AFC-1036DA5F6CF8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0341AD9-92A0-08CB-8E59-1127B5C48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D99A836-C112-2819-EF62-12F59AEA6FBE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สมบัติการเท่ากัน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DD02DB-3D4D-FA74-DF0E-C59D57A1CA66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178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511C-0595-C457-793D-8FDED790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8201A2-B4D5-77BE-2241-FD8A774452E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35A44-3599-E64F-858E-AA604EE30CE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BE62A2-FC33-283E-D87D-F99894FA39B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C6B55C-5DFE-1348-7B8F-FA67C0A30C31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87E838-FB59-AAB2-2938-982B096A7A1A}"/>
              </a:ext>
            </a:extLst>
          </p:cNvPr>
          <p:cNvSpPr txBox="1"/>
          <p:nvPr/>
        </p:nvSpPr>
        <p:spPr>
          <a:xfrm>
            <a:off x="340660" y="1373365"/>
            <a:ext cx="2725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F4A03-A096-90FF-FE5C-2F1E56D97877}"/>
              </a:ext>
            </a:extLst>
          </p:cNvPr>
          <p:cNvSpPr txBox="1"/>
          <p:nvPr/>
        </p:nvSpPr>
        <p:spPr>
          <a:xfrm>
            <a:off x="6943165" y="1947437"/>
            <a:ext cx="500230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= 7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+ 3 = 7 + 3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+ 3 = 10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- 7 = 2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(x – 7) + 16 = 2 + 16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+ 9 = 18 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 = m - 1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 + 4 = (m – 1) + 4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 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k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m + 3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DE747-02A9-5357-13EA-980F40E6C139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351EDF-A81F-0D2E-774B-5DBA1F8B1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A163CD-7B81-1E78-6268-544207790428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สมบัติการเท่ากัน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E56C2E-959F-AD5A-B0E4-1E1DFAA5C6EF}"/>
              </a:ext>
            </a:extLst>
          </p:cNvPr>
          <p:cNvSpPr/>
          <p:nvPr/>
        </p:nvSpPr>
        <p:spPr>
          <a:xfrm>
            <a:off x="379155" y="1822761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1.สมบัติการสะท้อน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966D01D-A939-3998-C30F-B64D66CBE369}"/>
              </a:ext>
            </a:extLst>
          </p:cNvPr>
          <p:cNvSpPr/>
          <p:nvPr/>
        </p:nvSpPr>
        <p:spPr>
          <a:xfrm>
            <a:off x="388121" y="2835774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.สมบัติการสมมาตร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a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4F48B9-CAB9-5FE0-AE62-9410AAF4E9ED}"/>
              </a:ext>
            </a:extLst>
          </p:cNvPr>
          <p:cNvSpPr/>
          <p:nvPr/>
        </p:nvSpPr>
        <p:spPr>
          <a:xfrm>
            <a:off x="379155" y="3848787"/>
            <a:ext cx="6227832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.สมบัติการถ่ายทอด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c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2D47F95-6469-FF16-A3B8-BD46F198342B}"/>
              </a:ext>
            </a:extLst>
          </p:cNvPr>
          <p:cNvSpPr/>
          <p:nvPr/>
        </p:nvSpPr>
        <p:spPr>
          <a:xfrm>
            <a:off x="379155" y="4861800"/>
            <a:ext cx="6236798" cy="9043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.สมบัติการบวกด้วยจำนวนที่เท่ากัน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b + c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BB14000-C9A6-BCD1-6F44-87C052B0D15D}"/>
              </a:ext>
            </a:extLst>
          </p:cNvPr>
          <p:cNvSpPr/>
          <p:nvPr/>
        </p:nvSpPr>
        <p:spPr>
          <a:xfrm>
            <a:off x="370189" y="5844988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.สมบัติการคูณด้วยจำนวนที่เท่ากัน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ac =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524ED3-3380-AE4B-0054-208D0E0E027C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9695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1E6A-74A6-450B-F83E-CE1EBA72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99F768-D714-20FE-FEAD-2073A451BA7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34B95-6232-FFB4-D8D0-13781AD7BAC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EEAD50-1167-5E90-6B5C-147E3A96C08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0CB557-1070-7742-A0C2-27EB0541AF89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06349D-3028-388F-1B2A-DD9F2C3CFE12}"/>
              </a:ext>
            </a:extLst>
          </p:cNvPr>
          <p:cNvSpPr txBox="1"/>
          <p:nvPr/>
        </p:nvSpPr>
        <p:spPr>
          <a:xfrm>
            <a:off x="340660" y="1373365"/>
            <a:ext cx="2725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F17B3-F7AB-4C76-1CEA-F491883BC970}"/>
              </a:ext>
            </a:extLst>
          </p:cNvPr>
          <p:cNvSpPr txBox="1"/>
          <p:nvPr/>
        </p:nvSpPr>
        <p:spPr>
          <a:xfrm>
            <a:off x="6943165" y="1947437"/>
            <a:ext cx="48607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 = 5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แล้ว 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 = 3(5)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3n = 15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2t = 3k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-3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(2t) = -3(3k)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-6t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-9k 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y = 5x + 8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แล้ว 2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y 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(5x + 8)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2y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10x + 16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A59573-CF9E-EBA3-11CF-435FB421D084}"/>
              </a:ext>
            </a:extLst>
          </p:cNvPr>
          <p:cNvSpPr/>
          <p:nvPr/>
        </p:nvSpPr>
        <p:spPr>
          <a:xfrm>
            <a:off x="379155" y="1822761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1.สมบัติการสะท้อน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C3FCD7-BF66-9A9A-38D3-BFA3066A716A}"/>
              </a:ext>
            </a:extLst>
          </p:cNvPr>
          <p:cNvSpPr/>
          <p:nvPr/>
        </p:nvSpPr>
        <p:spPr>
          <a:xfrm>
            <a:off x="388121" y="2835774"/>
            <a:ext cx="6227831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.สมบัติการสมมาตร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3DDCA57-13EE-D1BA-CF50-8E549678BE86}"/>
              </a:ext>
            </a:extLst>
          </p:cNvPr>
          <p:cNvSpPr/>
          <p:nvPr/>
        </p:nvSpPr>
        <p:spPr>
          <a:xfrm>
            <a:off x="379155" y="3848787"/>
            <a:ext cx="6227832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.สมบัติการถ่ายทอด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EB6375-6A78-BB2F-ADBD-30F78757F328}"/>
              </a:ext>
            </a:extLst>
          </p:cNvPr>
          <p:cNvSpPr/>
          <p:nvPr/>
        </p:nvSpPr>
        <p:spPr>
          <a:xfrm>
            <a:off x="379155" y="4861800"/>
            <a:ext cx="6236798" cy="9043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.สมบัติการบวกด้วยจำนวนที่เท่ากัน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b + c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110E54-C221-B55D-3281-25943D52D49D}"/>
              </a:ext>
            </a:extLst>
          </p:cNvPr>
          <p:cNvSpPr/>
          <p:nvPr/>
        </p:nvSpPr>
        <p:spPr>
          <a:xfrm>
            <a:off x="370189" y="5844988"/>
            <a:ext cx="6236798" cy="9043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.สมบัติการคูณด้วยจำนวนที่เท่ากัน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ac =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3AC48-3675-A978-0E4B-EABA26B78A5D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87D744-870E-CF46-1046-82094E038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7FEB52-00E2-008F-7653-AF00A5083C62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สมบัติการเท่ากัน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CBCDD2-587C-C956-A41A-391889436A10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9625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1D8A8-D367-3038-5362-9AAFAED7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1A0B0A-82F7-A418-A20A-C1050BB0CB3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EF31EF-4B87-2642-01CE-D6967D5FF45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FEC0D8-28DB-AD7D-9788-49851490D36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B3AF6E-591A-AEEE-03E1-E874E809E3F5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7633BC-C4FC-5353-46E2-861E7B77FA2D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DF4212E-F4AA-7F26-43CC-11EBBD042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E2C0750-3635-BCF9-BDFA-80B5C46CE0DC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F9994AE-2D05-98F0-AEBB-4E1B8460F3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6126922"/>
                  </p:ext>
                </p:extLst>
              </p:nvPr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F9994AE-2D05-98F0-AEBB-4E1B8460F3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6126922"/>
                  </p:ext>
                </p:extLst>
              </p:nvPr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1B3D30C-C11A-9BAF-5AAF-9DB0E2BE505B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100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44856-D4CC-FD9C-2262-B4377258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89E1E6-A798-7161-2F13-B28B84932D2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875EF-8686-EA6C-8AEF-471E71951896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CD64DE-6F4C-CFBC-D8AA-964F353742E2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9BA9A3-ECB9-A7FA-FB77-6FAE4E18BD52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5EC07A-EE17-293E-7F5E-8FDB6A716BE8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D88107A-7866-066C-4C66-EC7A31233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96C4B29-1664-3653-AEFB-3860F530AD05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F3A408B-5E33-5884-C8CF-E9F35207B2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F3A408B-5E33-5884-C8CF-E9F35207B2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1644DCA-E21C-5090-A9E6-3B8C08A9DA2C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35FB8A-AF98-29ED-45D2-61CB1D9582AB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สมบัติปิดการบวก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โดยที่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13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7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+ b = 13 + 7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	  = 20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 20 เป็นจำนวนจริง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8BFD37-882F-7FB7-C89D-29B873D54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39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C58A-80FC-2662-F05E-1DA530B8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DE0F1A-91D3-6460-A47F-BE01F60716A1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FB860-DA47-BCFE-F06A-288943F99FA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F32D87-0F42-CF1B-73E1-AB2EE20BF56F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51563E-4973-1483-CFC9-CD8DE3B1CBF0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28738B-D9F5-E3F6-CE08-D33C25B3B26A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8E33D6C-0EC2-34E7-9E4C-B21E86E84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BA283D7-B491-A5E6-A0DE-91564EFA39E4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58125A0-CBE3-F3E0-A075-537D6E0574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58125A0-CBE3-F3E0-A075-537D6E0574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161567F-CEBF-69AB-C106-66F7FE3FD418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D4B222-B7F5-D13A-DB08-0616E05D0CBB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 สมบัติสลับที่การบวก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+ b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 10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b + a = 8 + 2 = 10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+ b = b + 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B64F53-0452-A8FB-71EE-8321BE20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6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D3DF-11CA-44B2-0A6C-E8180423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B4E4CC-C9A8-5578-9891-A0A83A321BB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4A2AF-AB0E-EAD5-19DA-E5B290A0714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C66469-2193-ED65-0DB5-1F3D7FC3F7C5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7DB0143-4962-334F-27A4-4ACE9CE75441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BD8EDC-5239-3263-18D2-154F32E72C12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10C2188-CB00-6F6D-35FC-A6D26CDE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8161F41-406B-7BED-C7BE-8FDC602AD680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A85580-A0F1-21C0-C94E-8BE71CBD17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A85580-A0F1-21C0-C94E-8BE71CBD17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14E7D7A-6642-4958-08C0-8DA222C4314C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9477CF-4A49-92EC-AA00-E014B330AF8B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3. สมบัติการเปลี่ยนกลุ่มการบวก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b = 7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9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(a + b) + c = (5 + 7) + 9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 12 + 9 = 21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+ (b + c) = 5 + (7 + 9)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 5 + 16 = 21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(a + b) + c = a + (b + c)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75067D-066F-9AE2-002F-069D3EC95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40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DC2BF-8ED8-CF4C-3D08-D236ACDC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3C8CD7-982C-209B-4FD3-82EC20902A2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16F7E-8148-6CB9-7E25-46A4AF89F99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40C407-C7B8-A2B7-A2FF-25CBB1834782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F5117FF-668C-C513-98A2-1F42513DB6C6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E2AD44-6636-58E0-0730-7BA9BF49ED8E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08B98D9-1D7C-3CFE-C2A2-D6990CF1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B8C1233-D4EE-143C-AAC0-E959C2285E2D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5C55646-7C37-0116-620F-7CF311D5F7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5C55646-7C37-0116-620F-7CF311D5F7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0B8F642-7BA6-70D9-1C97-329C626A7E85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43A4F5-811E-F053-A42F-4C7FD9A67FCE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4. สมบัติการมีเอกลักษณ์การบวก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จะมี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ที่ทำให้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 + 0 = 8 	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0 + 8 = 8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เป็นเอกลักษณ์การบวก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8C93EA-45AE-FB01-7BA0-A1387F89C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52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CC887-9468-57FD-7A4B-3F8A1597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A4552C-49D4-EF81-1984-7EB43E5A1B1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E2F83-C324-B321-7559-344125A197ED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27AA11-3C8F-52C2-2E59-B92C38DE2DE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A289E95-2D06-1E1E-CBBC-4DF8A9F416F3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D2B696-9A9B-4BF7-3F21-2CC410CC495D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E301DF6-8831-514A-85BC-FECC86D9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3F640CB-DCDC-5116-90BE-C458E44D4968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5D06E38-D2F0-6B3B-5752-58B021A54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5D06E38-D2F0-6B3B-5752-58B021A54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7298AB3-2DEF-E372-F9A3-9CD621DC8843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2C7AC9-2818-27AE-1543-D20519CE9AF7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5. สมบัติการมีผกผันการบวก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จะมี -6 ที่ทำให้ 6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+ (-6) = 0 	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(-6) + 6 = 0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-6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เป็นผกผันการบวกของ 6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B3406-4672-1C9F-69F1-AE58826CC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39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4340-EA0E-E043-14AC-9D3DA3A9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644F36-FFCD-F3E8-2D5E-033F76B9A32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8D965-096D-331D-E32E-BBFAE7B81808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EADC7B-B1E2-2618-F64A-BD191D89D7E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5A01E49-BD72-9568-671D-EE3E8C5ED2AE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B6F4AE-4392-8C59-3EC4-AF647957183E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5F699F-869D-B670-14C8-A9F73D02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13AE1E9-A03D-170F-10A4-713FE35E104B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37BB228-C8DD-AD97-1E16-B129089AFE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37BB228-C8DD-AD97-1E16-B129089AFE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61C0F18-DE8B-E592-311E-9E7FB1F70C02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D130D5-821F-171E-AFCF-7C6AA1D86D1E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6. สมบัติปิดการคูณ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โดยที่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-2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12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ab = (-2)(12)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            = -24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-24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เป็นจำนวนจริง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99836C-C3C5-1210-918B-35192384C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51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8201-418E-6887-ABD5-78E7F161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F1BF75-BED7-A592-79C7-7AD72FFECC81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D2B8F-D450-9730-F7F4-EE3B277604F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B348CE-96BE-75BC-0D3F-C66344E2F85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47F4CAE-81A1-983C-7825-15BD081E4AA7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26F709-A6BB-9EB7-EB3F-A4F1C34B5368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83FD20A-23D9-0B00-11E7-ACA9C71B6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4F69885-0371-39E4-4B93-0693D372F69B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A819BB1-6E3D-677C-4411-1BC9C953BCF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A819BB1-6E3D-677C-4411-1BC9C953BCF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4B7864B-AB38-A14D-EFAA-11A5C8B33207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1AF336-79A4-ED5F-F77B-BA8E06B9CB39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7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 สมบัติสลับที่การคูณ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ab = (5)(4)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 20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ba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= (4)(5)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 20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ab =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ba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AB7DF4-0637-4D0B-BAD5-A89B201DC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53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46DE4-9FE2-1967-58A2-B06656A3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4FE680-13C4-B868-1608-782049EBB80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E6A1B-4DA1-E1B4-61B3-F9F7D94CA155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5F162-195D-A2FC-4782-64483AFB2ED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4CEC635-B441-0B45-0C23-28C263B2026A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118F37-33A8-7B46-B7FC-639CD9267632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D0C1BAE-82AC-3EE5-6324-83B12B08F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974C400-E514-C184-1F6B-5E104769F134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A4F181D-7F35-A0E1-7CD0-C629549EEF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A4F181D-7F35-A0E1-7CD0-C629549EEF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E0EE496-DE74-2B9D-4756-D5B25F49BDDE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04F7BD-7D09-E4A5-7A6D-2F91459436E4}"/>
              </a:ext>
            </a:extLst>
          </p:cNvPr>
          <p:cNvSpPr/>
          <p:nvPr/>
        </p:nvSpPr>
        <p:spPr>
          <a:xfrm>
            <a:off x="442261" y="3386666"/>
            <a:ext cx="9499599" cy="2010087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. สมบัติการเปลี่ยนกลุ่มการคูณ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b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(ab)c = [(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)(2)](8)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 (2)(8) = 16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a(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= (1)[(2)(8)]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= (1)(16) = 16 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(ab)c = a(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9DAD40-59D1-FF79-C467-BC78E4539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097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880F-CAAD-DFEF-EA0F-58B08DC1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1D8B21-C833-E536-7D74-14489BE8AA6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5DF2B-4873-BED0-FB44-43380312387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84DD10-8212-8622-3BED-4307CB131F89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A50D001-5BAE-9D19-CF2E-6903BA9BEE9D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F77710-452A-B8F8-4509-5FD5212E71BD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BE9DB3C-51B4-CBEC-B391-12769422A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1D2E3B6-E2C1-5437-3CB9-64AD9F6E2D29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47DF97-F4A4-A170-E5F9-78FA304F03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47DF97-F4A4-A170-E5F9-78FA304F03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B920F90-EA4F-C5EA-F581-76523AC1E6E8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232EAEAA-EA87-E4EB-0425-BEDA490AE96A}"/>
                  </a:ext>
                </a:extLst>
              </p:cNvPr>
              <p:cNvSpPr/>
              <p:nvPr/>
            </p:nvSpPr>
            <p:spPr>
              <a:xfrm>
                <a:off x="442261" y="3386666"/>
                <a:ext cx="9499599" cy="2010087"/>
              </a:xfrm>
              <a:prstGeom prst="roundRect">
                <a:avLst>
                  <a:gd name="adj" fmla="val 1704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9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. สมบัติการมีเอกลักษณ์การคูณ</a:t>
                </a: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a =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4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จะมี 1 ที่ทำให้ 4 </a:t>
                </a:r>
                <a14:m>
                  <m:oMath xmlns:m="http://schemas.openxmlformats.org/officeDocument/2006/math">
                    <m:r>
                      <a:rPr lang="th-TH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×</m:t>
                    </m:r>
                  </m:oMath>
                </a14:m>
                <a:r>
                  <a:rPr lang="th-TH" sz="2400" b="1" dirty="0">
                    <a:solidFill>
                      <a:schemeClr val="tx1"/>
                    </a:solidFill>
                    <a:cs typeface="TH Sarabun New" panose="020B0500040200020003" pitchFamily="34" charset="-34"/>
                  </a:rPr>
                  <a:t> 1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4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	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×</m:t>
                    </m:r>
                  </m:oMath>
                </a14:m>
                <a:r>
                  <a:rPr lang="th-TH" sz="2400" b="1" dirty="0">
                    <a:solidFill>
                      <a:schemeClr val="tx1"/>
                    </a:solidFill>
                    <a:cs typeface="TH Sarabun New" panose="020B0500040200020003" pitchFamily="34" charset="-34"/>
                  </a:rPr>
                  <a:t> 4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4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1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เป็นเอกลักษณ์การคูณ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232EAEAA-EA87-E4EB-0425-BEDA490AE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1" y="3386666"/>
                <a:ext cx="9499599" cy="2010087"/>
              </a:xfrm>
              <a:prstGeom prst="roundRect">
                <a:avLst>
                  <a:gd name="adj" fmla="val 1704"/>
                </a:avLst>
              </a:prstGeom>
              <a:blipFill>
                <a:blip r:embed="rId4"/>
                <a:stretch>
                  <a:fillRect l="-833" t="-1807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581AA08-C907-2CA0-D9DB-18D0CA337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94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E973-F8E1-6594-B0E6-B4BBBECFB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F101B9-4F88-CFCB-655E-80CDE88449F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122F8-A253-5114-0091-11BF6735DEA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DAF79A-1D93-FC79-9C03-147D90AE0C5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7F05E79-A9E3-EBE7-70A0-AA8DE3674837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F03BD3-F1B9-0561-7826-C2DA188935A7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50AE898-1997-3FAF-2439-38914D4C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E9B9A30-9F3D-FDF1-FCC7-E6CA73F7E9CF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BBF6E6E-1DDE-1B5B-7935-C269FCCFA9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BBF6E6E-1DDE-1B5B-7935-C269FCCFA9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465FADA-4214-33ED-2149-8C9C1DC75568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DF71BE7-6F10-24F5-BC9F-38F40C63E2C7}"/>
                  </a:ext>
                </a:extLst>
              </p:cNvPr>
              <p:cNvSpPr/>
              <p:nvPr/>
            </p:nvSpPr>
            <p:spPr>
              <a:xfrm>
                <a:off x="442261" y="3386666"/>
                <a:ext cx="9499599" cy="2097969"/>
              </a:xfrm>
              <a:prstGeom prst="roundRect">
                <a:avLst>
                  <a:gd name="adj" fmla="val 1704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10. สมบัติการมีผกผันการคูณ</a:t>
                </a: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a =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จะมี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num>
                      <m:den>
                        <m:r>
                          <a:rPr lang="th-TH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den>
                    </m:f>
                  </m:oMath>
                </a14:m>
                <a:r>
                  <a:rPr lang="th-TH" sz="16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ที่ทำให้ 2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	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เป็นผกผันการบวกของ 2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DF71BE7-6F10-24F5-BC9F-38F40C63E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1" y="3386666"/>
                <a:ext cx="9499599" cy="2097969"/>
              </a:xfrm>
              <a:prstGeom prst="roundRect">
                <a:avLst>
                  <a:gd name="adj" fmla="val 1704"/>
                </a:avLst>
              </a:prstGeom>
              <a:blipFill>
                <a:blip r:embed="rId4"/>
                <a:stretch>
                  <a:fillRect l="-833" t="-1729" b="-4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8D5E444-4048-5CBD-CADF-769E4E57B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43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4DF85-8E21-9F24-0B5C-A6736EB4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4884D5-17FC-22CD-AF37-40A619883D1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2FC65-2413-D832-76CD-D8918B0A2F09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526678-33D2-BE0B-62E2-8C79D20DB4F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2D72540-6C85-80CD-B27D-E2D8EFE26F0E}"/>
              </a:ext>
            </a:extLst>
          </p:cNvPr>
          <p:cNvSpPr txBox="1"/>
          <p:nvPr/>
        </p:nvSpPr>
        <p:spPr>
          <a:xfrm>
            <a:off x="340659" y="1373365"/>
            <a:ext cx="655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เลือกสมบัติเพื่อศึกษาตัวอย่าง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จะได้ว่า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D292C6-7564-91B9-4155-A4768554855B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A1FF4F3-83BD-163C-D853-6AF5CFC8B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FD080AB-048F-68D5-7B62-30C0EBDCD285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สมบัติของระบบจำนวนจริง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CDDB6CA-C154-5F5D-237E-91545B63A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27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367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1. a + 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6. ab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∈</m:t>
                              </m:r>
                              <m: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ℝ</m:t>
                              </m:r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37402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382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10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= 1 =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H Sarabun New" panose="020B0500040200020003" pitchFamily="34" charset="-34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i="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ว่าผกผันการคูณของ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endParaRPr lang="th-TH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เมื่อ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H Sarabun New" panose="020B0500040200020003" pitchFamily="34" charset="-34"/>
                                </a:rPr>
                                <m:t>≠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CDDB6CA-C154-5F5D-237E-91545B63A0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2261" y="2261595"/>
              <a:ext cx="9499599" cy="44514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6533">
                      <a:extLst>
                        <a:ext uri="{9D8B030D-6E8A-4147-A177-3AD203B41FA5}">
                          <a16:colId xmlns:a16="http://schemas.microsoft.com/office/drawing/2014/main" val="3600138531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2057320537"/>
                        </a:ext>
                      </a:extLst>
                    </a:gridCol>
                    <a:gridCol w="3166533">
                      <a:extLst>
                        <a:ext uri="{9D8B030D-6E8A-4147-A177-3AD203B41FA5}">
                          <a16:colId xmlns:a16="http://schemas.microsoft.com/office/drawing/2014/main" val="155097431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การคูณ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9515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สมบัตปิด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85" t="-109333" r="-100578" b="-78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9333" r="-385" b="-78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8544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สมบัติการสลับที่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2. a + b = b + 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7. ab =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ba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5360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สมบัติการเปลี่ยนหมู่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3. (a + b) + c = a + (b + c)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8. (ab)c = a(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76097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สมบัติการมีเอกลักษณ์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4. a + 0 = a = 0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9.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</a:t>
                          </a:r>
                          <a:r>
                            <a:rPr lang="en-US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1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 = a =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 </a:t>
                          </a:r>
                          <a:r>
                            <a:rPr lang="en-US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</a:t>
                          </a:r>
                          <a:r>
                            <a:rPr lang="th-TH" sz="10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  <a:sym typeface="Wingdings 2" panose="05020102010507070707" pitchFamily="18" charset="2"/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0 ว่า เอกลักษณ์การบวก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946712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สมบัติการมีผกผัน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5.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 + (-a) = 0 = (-a) + a</a:t>
                          </a:r>
                        </a:p>
                        <a:p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เรียก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–a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ว่าผกผันการบวกของ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26020" r="-385" b="-5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324319"/>
                      </a:ext>
                    </a:extLst>
                  </a:tr>
                  <a:tr h="6109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2400" b="1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สมบัติการแจกแจง</a:t>
                          </a:r>
                          <a:endParaRPr lang="en-US" sz="2400" b="1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11. a(b + c) = ab + ac </a:t>
                          </a:r>
                          <a:r>
                            <a:rPr lang="th-TH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และ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(a + b)c = ac +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  <a:latin typeface="TH Sarabun New" panose="020B0500040200020003" pitchFamily="34" charset="-34"/>
                              <a:cs typeface="TH Sarabun New" panose="020B0500040200020003" pitchFamily="34" charset="-34"/>
                            </a:rPr>
                            <a:t>bc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9834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075CD38-BCCD-05C5-27EB-D70E8B42DEB7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3DB2A6-A35A-A4AE-1945-A464F38E802A}"/>
              </a:ext>
            </a:extLst>
          </p:cNvPr>
          <p:cNvSpPr/>
          <p:nvPr/>
        </p:nvSpPr>
        <p:spPr>
          <a:xfrm>
            <a:off x="442261" y="3386666"/>
            <a:ext cx="9499599" cy="2097969"/>
          </a:xfrm>
          <a:prstGeom prst="roundRect">
            <a:avLst>
              <a:gd name="adj" fmla="val 17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11. สมบัติการแจกแจง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, b= 3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= 5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a(b + c) =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(3 + 5) = 2(8) = 16	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  ab + ac = (2)(3) + (2)(5) = 6 + 10 = 16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ดังนั้น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a(b + c) = ab + ac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361BD7-6B2D-61E9-F4D5-D05B2BC58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497" y="3429000"/>
            <a:ext cx="45726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10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42C5-9BED-2D40-7202-0DABBB9E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A39BF2-73A8-CFBA-7A44-935834D208D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5F513-276B-224B-6368-503B64FB45C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D865FA-C654-1D34-42E4-767656AC233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35AEFF2-8A91-7CC7-9E2D-8F94C7081AF5}"/>
              </a:ext>
            </a:extLst>
          </p:cNvPr>
          <p:cNvSpPr/>
          <p:nvPr/>
        </p:nvSpPr>
        <p:spPr>
          <a:xfrm>
            <a:off x="379155" y="1822761"/>
            <a:ext cx="6227831" cy="1606239"/>
          </a:xfrm>
          <a:prstGeom prst="roundRect">
            <a:avLst>
              <a:gd name="adj" fmla="val 127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 1 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ลบด้วย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เขียนแทนด้วย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- b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– b = a + (-b)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17722E-995F-1015-E25A-6DA792A17CE6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F664FB-3353-54E4-FB3F-F783E8DBC704}"/>
              </a:ext>
            </a:extLst>
          </p:cNvPr>
          <p:cNvSpPr txBox="1"/>
          <p:nvPr/>
        </p:nvSpPr>
        <p:spPr>
          <a:xfrm>
            <a:off x="340660" y="1373365"/>
            <a:ext cx="366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เลือกบทนิยามเพื่อศึกษาตัวอย่าง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B020CD-49A2-B863-8DAE-D72576736151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4057E34-66B6-72F8-1114-DCD2B467C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8D33B76-5D39-7CF9-57F7-019F6C7DBC64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1C6A761-37F5-D8CC-D32D-9CE976B6D012}"/>
                  </a:ext>
                </a:extLst>
              </p:cNvPr>
              <p:cNvSpPr/>
              <p:nvPr/>
            </p:nvSpPr>
            <p:spPr>
              <a:xfrm>
                <a:off x="349857" y="3615702"/>
                <a:ext cx="6227831" cy="2032063"/>
              </a:xfrm>
              <a:prstGeom prst="roundRect">
                <a:avLst>
                  <a:gd name="adj" fmla="val 1276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บทนิยาม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เป็นจำนวนจริง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โดยที่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  <a:endPara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หารด้วย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เขียนแทนด้วย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num>
                      <m:den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𝐛</m:t>
                        </m:r>
                      </m:den>
                    </m:f>
                  </m:oMath>
                </a14:m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โดยที่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num>
                      <m:den>
                        <m: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𝐛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𝐛</m:t>
                        </m:r>
                      </m:e>
                      <m:sup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endParaRPr lang="en-US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1C6A761-37F5-D8CC-D32D-9CE976B6D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7" y="3615702"/>
                <a:ext cx="6227831" cy="2032063"/>
              </a:xfrm>
              <a:prstGeom prst="roundRect">
                <a:avLst>
                  <a:gd name="adj" fmla="val 12760"/>
                </a:avLst>
              </a:prstGeom>
              <a:blipFill>
                <a:blip r:embed="rId3"/>
                <a:stretch>
                  <a:fillRect l="-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EFA4848-E2AA-22EB-9EB6-432CFA1B5711}"/>
              </a:ext>
            </a:extLst>
          </p:cNvPr>
          <p:cNvSpPr txBox="1"/>
          <p:nvPr/>
        </p:nvSpPr>
        <p:spPr>
          <a:xfrm>
            <a:off x="7068709" y="1976299"/>
            <a:ext cx="47441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 – 7 = 5 + (-7)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4 = x + (-4)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– y = x + (-y)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2F554-9809-18F6-413F-1395F61A61A9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45897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8D23-7F5A-D0C1-CF40-75EEFAA3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1CFCC1-F3D4-C5FC-962B-3741FDDB4D0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0700-2537-B73C-11E4-089744FEE7C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8CE54-BE5D-84AA-A38B-DD10C1D25C4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57F40F-C8BA-4717-1881-DACAFB94C8D3}"/>
              </a:ext>
            </a:extLst>
          </p:cNvPr>
          <p:cNvSpPr/>
          <p:nvPr/>
        </p:nvSpPr>
        <p:spPr>
          <a:xfrm>
            <a:off x="379155" y="1822761"/>
            <a:ext cx="6227831" cy="1606239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 1 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ลบด้วย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เขียนแทนด้วย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a - b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– b = a + (-b)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70CDA4-C576-5AA6-2641-40A722C16BB6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4509E5-A586-FC7F-B358-54FF8F2B7501}"/>
              </a:ext>
            </a:extLst>
          </p:cNvPr>
          <p:cNvSpPr txBox="1"/>
          <p:nvPr/>
        </p:nvSpPr>
        <p:spPr>
          <a:xfrm>
            <a:off x="340659" y="1373365"/>
            <a:ext cx="3406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เลือกบทนิยามเพื่อศึกษาตัวอย่าง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2F5DEF-9D07-91E5-70B9-3F3C013C5DDE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53734AA-DA5B-E324-9ABC-A17A375F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9AE12C3-D5B6-6735-A166-C9E4D9676A14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บทนิยาม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81146F22-F67C-C4B9-5CD6-58A02B21C2D5}"/>
                  </a:ext>
                </a:extLst>
              </p:cNvPr>
              <p:cNvSpPr/>
              <p:nvPr/>
            </p:nvSpPr>
            <p:spPr>
              <a:xfrm>
                <a:off x="349857" y="3615702"/>
                <a:ext cx="6227831" cy="2032063"/>
              </a:xfrm>
              <a:prstGeom prst="roundRect">
                <a:avLst>
                  <a:gd name="adj" fmla="val 1276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บทนิยาม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เป็นจำนวนจริง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โดยที่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  <a:endPara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หารด้วย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เขียนแทนด้วย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num>
                      <m:den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𝐛</m:t>
                        </m:r>
                      </m:den>
                    </m:f>
                  </m:oMath>
                </a14:m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โดยที่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num>
                      <m:den>
                        <m:r>
                          <a:rPr lang="en-US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𝐛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𝐛</m:t>
                        </m:r>
                      </m:e>
                      <m:sup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endParaRPr lang="en-US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81146F22-F67C-C4B9-5CD6-58A02B21C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7" y="3615702"/>
                <a:ext cx="6227831" cy="2032063"/>
              </a:xfrm>
              <a:prstGeom prst="roundRect">
                <a:avLst>
                  <a:gd name="adj" fmla="val 12760"/>
                </a:avLst>
              </a:prstGeom>
              <a:blipFill>
                <a:blip r:embed="rId3"/>
                <a:stretch>
                  <a:fillRect l="-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7ACF4-C330-F7F1-928C-55B67AA02AFB}"/>
                  </a:ext>
                </a:extLst>
              </p:cNvPr>
              <p:cNvSpPr txBox="1"/>
              <p:nvPr/>
            </p:nvSpPr>
            <p:spPr>
              <a:xfrm>
                <a:off x="7068709" y="1976299"/>
                <a:ext cx="4744136" cy="208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</a:t>
                </a: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num>
                      <m:den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den>
                    </m:f>
                    <m:r>
                      <a:rPr lang="en-US" sz="2400" b="1" i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𝟖</m:t>
                        </m:r>
                      </m:num>
                      <m:den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𝐱</m:t>
                        </m:r>
                      </m:den>
                    </m:f>
                    <m:r>
                      <a:rPr lang="en-US" sz="2400" b="1" i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-8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𝐱</m:t>
                        </m:r>
                      </m:e>
                      <m:sup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𝐡</m:t>
                        </m:r>
                      </m:num>
                      <m:den>
                        <m:r>
                          <a:rPr lang="en-US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𝐤</m:t>
                        </m:r>
                      </m:den>
                    </m:f>
                    <m:r>
                      <a:rPr lang="en-US" sz="2400" b="1" i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h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𝐤</m:t>
                        </m:r>
                      </m:e>
                      <m:sup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7ACF4-C330-F7F1-928C-55B67AA0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1976299"/>
                <a:ext cx="4744136" cy="2083647"/>
              </a:xfrm>
              <a:prstGeom prst="rect">
                <a:avLst/>
              </a:prstGeom>
              <a:blipFill>
                <a:blip r:embed="rId4"/>
                <a:stretch>
                  <a:fillRect l="-2057" t="-2339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AC95634-B7D1-3295-BA0C-510D3E2949A5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25690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385C-DAF1-B90C-8C4B-F8C69233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D17757-1A25-7637-4487-15A3DD26F334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5DED2-EB26-AFA5-9E01-7397FAC461C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CB305D-F10D-C780-BD44-74C9903931FE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6647E59-6983-C70D-1CF8-8D923BDE188A}"/>
              </a:ext>
            </a:extLst>
          </p:cNvPr>
          <p:cNvSpPr/>
          <p:nvPr/>
        </p:nvSpPr>
        <p:spPr>
          <a:xfrm>
            <a:off x="379155" y="1822761"/>
            <a:ext cx="6227831" cy="1606239"/>
          </a:xfrm>
          <a:prstGeom prst="roundRect">
            <a:avLst>
              <a:gd name="adj" fmla="val 127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1 กฏการตัดออกสำหรับการบวก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+ c = b +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+ b = a +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D17DDC-316F-8BE5-6EEF-77063AF9C285}"/>
              </a:ext>
            </a:extLst>
          </p:cNvPr>
          <p:cNvSpPr/>
          <p:nvPr/>
        </p:nvSpPr>
        <p:spPr>
          <a:xfrm>
            <a:off x="6849034" y="1822760"/>
            <a:ext cx="5211901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FE4C30-7133-9FFD-4814-78E32B6761C8}"/>
              </a:ext>
            </a:extLst>
          </p:cNvPr>
          <p:cNvSpPr txBox="1"/>
          <p:nvPr/>
        </p:nvSpPr>
        <p:spPr>
          <a:xfrm>
            <a:off x="340660" y="1373365"/>
            <a:ext cx="3435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7887E7-6434-CDF7-634B-01630B2E67AD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B3D4D1B-BCC4-FB67-D5FA-2EB003CC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520B56D-1C01-A88D-C276-8CB61883563F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 (1)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1096239F-6857-5077-DDD7-75F284F31D82}"/>
                  </a:ext>
                </a:extLst>
              </p:cNvPr>
              <p:cNvSpPr/>
              <p:nvPr/>
            </p:nvSpPr>
            <p:spPr>
              <a:xfrm>
                <a:off x="349857" y="3615702"/>
                <a:ext cx="6227831" cy="1606239"/>
              </a:xfrm>
              <a:prstGeom prst="roundRect">
                <a:avLst>
                  <a:gd name="adj" fmla="val 1276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ทฤษฎีบทที่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กฏการตัดออกสำหรับการคูณ</a:t>
                </a: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a, b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เป็นจำนวนจริง</a:t>
                </a: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1. ถ้า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ac = </a:t>
                </a:r>
                <a:r>
                  <a:rPr lang="en-US" sz="2400" b="1" dirty="0" err="1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bc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แล้ว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b </a:t>
                </a:r>
                <a:endPara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2.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ถ้า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ab = ac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แล้ว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= c</a:t>
                </a: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1096239F-6857-5077-DDD7-75F284F31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7" y="3615702"/>
                <a:ext cx="6227831" cy="1606239"/>
              </a:xfrm>
              <a:prstGeom prst="roundRect">
                <a:avLst>
                  <a:gd name="adj" fmla="val 12760"/>
                </a:avLst>
              </a:prstGeom>
              <a:blipFill>
                <a:blip r:embed="rId3"/>
                <a:stretch>
                  <a:fillRect l="-390" b="-8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2029142-927A-1296-804A-E519761E3723}"/>
              </a:ext>
            </a:extLst>
          </p:cNvPr>
          <p:cNvSpPr txBox="1"/>
          <p:nvPr/>
        </p:nvSpPr>
        <p:spPr>
          <a:xfrm>
            <a:off x="6832612" y="1976299"/>
            <a:ext cx="53136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+ 3 = b + 3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(a + 3) - 3 = (b + 3) - 3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= b</a:t>
            </a: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+ 7 = d + 2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(c + 7) – 7 = (d + 2) - 7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= d - 5</a:t>
            </a: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+ m = 1 + n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-1 +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(1 + m) = -1 + (1 +n)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 = n</a:t>
            </a: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 + x = -3 + y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-5 + (5 + x) = -5 + (-3 + y)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= -8 + 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28DBD9-5BBE-3314-770B-F222F49D04E1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70689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A5EEE-3FD6-29E6-495D-B94D9F56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B50F13-9475-EF17-69AC-DB0B0E549C6C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21F2E-4C02-50E7-3B55-E3435BE7A5C7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54A82-9EB8-6830-9CE6-1D92056E066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69DA8B7-8D1E-F5E8-9371-847294842A65}"/>
              </a:ext>
            </a:extLst>
          </p:cNvPr>
          <p:cNvSpPr/>
          <p:nvPr/>
        </p:nvSpPr>
        <p:spPr>
          <a:xfrm>
            <a:off x="379155" y="1822761"/>
            <a:ext cx="6227831" cy="1606239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1 กฏการตัดออกสำหรับการบวก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+ c = b +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b 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+ b = a + 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DE2F67-2CDC-CA8A-BDC3-49C07B427CAE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1C5D1-664E-29B4-E65C-CDC95321B441}"/>
              </a:ext>
            </a:extLst>
          </p:cNvPr>
          <p:cNvSpPr txBox="1"/>
          <p:nvPr/>
        </p:nvSpPr>
        <p:spPr>
          <a:xfrm>
            <a:off x="340660" y="1373365"/>
            <a:ext cx="3110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173F8D-AC34-9DF8-28A4-EAA5E714E8A2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32874E9-5E1E-5922-5164-F6FA6CC18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E4AD35F-A6D3-92E4-69D1-1A1A2E64F64F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(1)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DF58D3A-2619-FD77-8942-3563A22D9545}"/>
                  </a:ext>
                </a:extLst>
              </p:cNvPr>
              <p:cNvSpPr/>
              <p:nvPr/>
            </p:nvSpPr>
            <p:spPr>
              <a:xfrm>
                <a:off x="349857" y="3615702"/>
                <a:ext cx="6227831" cy="1606239"/>
              </a:xfrm>
              <a:prstGeom prst="roundRect">
                <a:avLst>
                  <a:gd name="adj" fmla="val 1276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ทฤษฎีบทที่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กฏการตัดออกสำหรับการคูณ</a:t>
                </a: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a, b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เป็นจำนวนจริง</a:t>
                </a: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1. ถ้า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ac = </a:t>
                </a:r>
                <a:r>
                  <a:rPr lang="en-US" sz="2400" b="1" dirty="0" err="1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bc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แล้ว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b </a:t>
                </a:r>
                <a:endPara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2.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ถ้า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ab = ac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แล้ว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= c</a:t>
                </a: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DF58D3A-2619-FD77-8942-3563A22D9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7" y="3615702"/>
                <a:ext cx="6227831" cy="1606239"/>
              </a:xfrm>
              <a:prstGeom prst="roundRect">
                <a:avLst>
                  <a:gd name="adj" fmla="val 12760"/>
                </a:avLst>
              </a:prstGeom>
              <a:blipFill>
                <a:blip r:embed="rId3"/>
                <a:stretch>
                  <a:fillRect l="-390" b="-8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FA34B04-C9AD-1603-1F8C-74ED3BDC7745}"/>
              </a:ext>
            </a:extLst>
          </p:cNvPr>
          <p:cNvSpPr txBox="1"/>
          <p:nvPr/>
        </p:nvSpPr>
        <p:spPr>
          <a:xfrm>
            <a:off x="7068709" y="1976299"/>
            <a:ext cx="47441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ak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= bk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= b</a:t>
            </a: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c(</a:t>
            </a:r>
            <a:r>
              <a:rPr lang="en-US" sz="24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mn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= d(</a:t>
            </a:r>
            <a:r>
              <a:rPr lang="en-US" sz="24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mn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= d</a:t>
            </a:r>
          </a:p>
          <a:p>
            <a:pPr marL="457200" indent="-457200"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3m = 3n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 = n</a:t>
            </a:r>
          </a:p>
          <a:p>
            <a:pPr marL="457200" indent="-457200">
              <a:buFontTx/>
              <a:buAutoNum type="arabicParenR"/>
            </a:pP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4x = 8y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4x = 4(2y)                         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 = 2y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D32CA-EE37-F3C2-80E9-7E1513A75D27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29885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EB33-7DA4-2520-A5CD-AB17D1276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86120A-0E0C-ABE5-F778-6062BF57EAF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7930F-CE3E-02F6-5D24-08D1BC592DD6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03D292-44F5-2EFF-2852-AF35CAD9E56F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A9244C4-5114-B94E-95F4-D5810B812E28}"/>
              </a:ext>
            </a:extLst>
          </p:cNvPr>
          <p:cNvSpPr/>
          <p:nvPr/>
        </p:nvSpPr>
        <p:spPr>
          <a:xfrm>
            <a:off x="379155" y="1822761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DA6254-EAFB-5600-14C2-7F2A0B9D70D5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82B53C-F977-B595-B569-7F1C25FF2E9E}"/>
              </a:ext>
            </a:extLst>
          </p:cNvPr>
          <p:cNvSpPr txBox="1"/>
          <p:nvPr/>
        </p:nvSpPr>
        <p:spPr>
          <a:xfrm>
            <a:off x="340660" y="1373365"/>
            <a:ext cx="3290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3BEFD9-EB62-4D29-68FF-0B9F7C39D91E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81698F1-59B3-11D4-EFA1-17A6E2B5E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D453A8A-6083-B40F-9F36-AFA5532A7287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B11912-FDA0-671C-7259-9A8B9BBEACE3}"/>
              </a:ext>
            </a:extLst>
          </p:cNvPr>
          <p:cNvSpPr txBox="1"/>
          <p:nvPr/>
        </p:nvSpPr>
        <p:spPr>
          <a:xfrm>
            <a:off x="7068709" y="1976299"/>
            <a:ext cx="47441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 = 0 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(-10)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 = 0 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0 = 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EC142-DFB7-8943-50D1-28D1B8F26E68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BAC25E-78BB-EDE7-6C31-6C0AA4D804A2}"/>
              </a:ext>
            </a:extLst>
          </p:cNvPr>
          <p:cNvSpPr/>
          <p:nvPr/>
        </p:nvSpPr>
        <p:spPr>
          <a:xfrm>
            <a:off x="379154" y="2848550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(-1)a = a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FCA849-DE1F-3B83-7188-4220BF6E9D89}"/>
              </a:ext>
            </a:extLst>
          </p:cNvPr>
          <p:cNvSpPr/>
          <p:nvPr/>
        </p:nvSpPr>
        <p:spPr>
          <a:xfrm>
            <a:off x="340657" y="3838584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ab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AA85A4-F518-5561-D29A-867AC1889F7C}"/>
              </a:ext>
            </a:extLst>
          </p:cNvPr>
          <p:cNvSpPr/>
          <p:nvPr/>
        </p:nvSpPr>
        <p:spPr>
          <a:xfrm>
            <a:off x="340658" y="4828618"/>
            <a:ext cx="6227831" cy="1949863"/>
          </a:xfrm>
          <a:prstGeom prst="roundRect">
            <a:avLst>
              <a:gd name="adj" fmla="val 5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จะได้ว่า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a(-b)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(-a)b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(-a)(-b) = 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69301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F9DB-78E0-E330-8DEE-725BED02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4028C6-4CB5-BF78-5811-1446C5B6ABD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2A592-FF4A-974B-3992-150C7F4FE68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D3E0F0-6F76-8450-DC96-1AC1E3341BA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DB61D0D-9C07-E5C8-8DD9-1C283B32836C}"/>
              </a:ext>
            </a:extLst>
          </p:cNvPr>
          <p:cNvSpPr/>
          <p:nvPr/>
        </p:nvSpPr>
        <p:spPr>
          <a:xfrm>
            <a:off x="379155" y="1822761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509D1A-6639-25B7-10F9-97F73488F575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D5378A-7E0C-EADB-97CB-C6BE1FF849CD}"/>
              </a:ext>
            </a:extLst>
          </p:cNvPr>
          <p:cNvSpPr txBox="1"/>
          <p:nvPr/>
        </p:nvSpPr>
        <p:spPr>
          <a:xfrm>
            <a:off x="340660" y="1373365"/>
            <a:ext cx="3290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855508-850F-0B34-40AA-AC7112564ECB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5BCA244-9ACD-80E0-5BA3-C0AB25D14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2187EBA-06A6-6688-E57A-B70533F0DCE0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90788-936F-F04E-9FEE-F83EF0CAACD7}"/>
              </a:ext>
            </a:extLst>
          </p:cNvPr>
          <p:cNvSpPr txBox="1"/>
          <p:nvPr/>
        </p:nvSpPr>
        <p:spPr>
          <a:xfrm>
            <a:off x="7068709" y="1976299"/>
            <a:ext cx="47441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(-1)(7) = -7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(-1)m = -m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(-1)</a:t>
            </a:r>
            <a:r>
              <a:rPr lang="en-US" sz="24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xyz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= -</a:t>
            </a:r>
            <a:r>
              <a:rPr lang="en-US" sz="24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xyz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C264E7-260F-4384-C897-21DAC5245A31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BDC6BF-D919-601A-A2F5-2232CAE96F2F}"/>
              </a:ext>
            </a:extLst>
          </p:cNvPr>
          <p:cNvSpPr/>
          <p:nvPr/>
        </p:nvSpPr>
        <p:spPr>
          <a:xfrm>
            <a:off x="379154" y="2848550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(-1)a = a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3DBF70-471A-7F46-7F36-FD3436D455BD}"/>
              </a:ext>
            </a:extLst>
          </p:cNvPr>
          <p:cNvSpPr/>
          <p:nvPr/>
        </p:nvSpPr>
        <p:spPr>
          <a:xfrm>
            <a:off x="340657" y="3838584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ab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4179E7-2C72-E438-E5C8-C3BE32771AB1}"/>
              </a:ext>
            </a:extLst>
          </p:cNvPr>
          <p:cNvSpPr/>
          <p:nvPr/>
        </p:nvSpPr>
        <p:spPr>
          <a:xfrm>
            <a:off x="340658" y="4828618"/>
            <a:ext cx="6227831" cy="1949863"/>
          </a:xfrm>
          <a:prstGeom prst="roundRect">
            <a:avLst>
              <a:gd name="adj" fmla="val 5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จะได้ว่า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a(-b)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(-a)b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(-a)(-b) = 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19738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CA33-9B93-EDE1-8C25-9E0D5090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A4544E-192A-098D-9D31-E718466FC53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5A814-1696-99ED-E415-AB434A816EB8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1EBFB7-A32E-EA9E-801F-4F4EFC52223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96A6818-0230-13F8-7DC0-65FCEAD9CFD6}"/>
              </a:ext>
            </a:extLst>
          </p:cNvPr>
          <p:cNvSpPr/>
          <p:nvPr/>
        </p:nvSpPr>
        <p:spPr>
          <a:xfrm>
            <a:off x="379155" y="1822761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6797CF-3AC2-F10F-68B2-23B0CC42A671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85D4D0-6210-3E18-7A1F-FD2F53BE1E54}"/>
              </a:ext>
            </a:extLst>
          </p:cNvPr>
          <p:cNvSpPr txBox="1"/>
          <p:nvPr/>
        </p:nvSpPr>
        <p:spPr>
          <a:xfrm>
            <a:off x="340660" y="1373365"/>
            <a:ext cx="3415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B6CCEA-AF56-31F8-E122-3820D5F40EB9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161A954-D243-C794-6D7E-1AA74CC6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629D3CA-C73C-2C2E-0459-0B103288A151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2564B-4A4B-032A-95D6-CB48905FE728}"/>
              </a:ext>
            </a:extLst>
          </p:cNvPr>
          <p:cNvSpPr txBox="1"/>
          <p:nvPr/>
        </p:nvSpPr>
        <p:spPr>
          <a:xfrm>
            <a:off x="7068709" y="1976299"/>
            <a:ext cx="47441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en-US" sz="24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mn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= 0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            m = 0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 = 0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(x – 1)(x – 2) = 0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x – 1 = 0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x – 2 = 0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(x – h)(y – k) = 0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x – h = 0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y – k =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AC1EE-6521-7708-BB91-09F0DF5028B6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14711A-7613-A2A4-CF7B-66C1282837B8}"/>
              </a:ext>
            </a:extLst>
          </p:cNvPr>
          <p:cNvSpPr/>
          <p:nvPr/>
        </p:nvSpPr>
        <p:spPr>
          <a:xfrm>
            <a:off x="379154" y="2848550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(-1)a = a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05ED1C-D0DC-D887-3E9A-09DD8830EECB}"/>
              </a:ext>
            </a:extLst>
          </p:cNvPr>
          <p:cNvSpPr/>
          <p:nvPr/>
        </p:nvSpPr>
        <p:spPr>
          <a:xfrm>
            <a:off x="340657" y="3838584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ab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65D8ED-9524-80AA-9B61-559F45C6DCBB}"/>
              </a:ext>
            </a:extLst>
          </p:cNvPr>
          <p:cNvSpPr/>
          <p:nvPr/>
        </p:nvSpPr>
        <p:spPr>
          <a:xfrm>
            <a:off x="340658" y="4828618"/>
            <a:ext cx="6227831" cy="1949863"/>
          </a:xfrm>
          <a:prstGeom prst="roundRect">
            <a:avLst>
              <a:gd name="adj" fmla="val 5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จะได้ว่า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a(-b)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(-a)b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(-a)(-b) = 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11538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023E-57A7-313E-18BD-5F225542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6684C8-9A80-A724-2B90-53010DDA424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7ED6D-800E-3ECF-B7AF-D5209497E73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9B3269-D984-9C04-2A80-36312E57081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83AC416-445F-7F32-97D1-A5F63A1DC90C}"/>
              </a:ext>
            </a:extLst>
          </p:cNvPr>
          <p:cNvSpPr/>
          <p:nvPr/>
        </p:nvSpPr>
        <p:spPr>
          <a:xfrm>
            <a:off x="379155" y="1822761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 2" panose="05020102010507070707" pitchFamily="18" charset="2"/>
              </a:rPr>
              <a:t>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B660D0-3393-C78A-D955-CF5B19AF3922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605669-4455-7FE8-0340-DEF36DE12EA1}"/>
              </a:ext>
            </a:extLst>
          </p:cNvPr>
          <p:cNvSpPr txBox="1"/>
          <p:nvPr/>
        </p:nvSpPr>
        <p:spPr>
          <a:xfrm>
            <a:off x="340659" y="1373365"/>
            <a:ext cx="3639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76F118-2DEE-BF67-741C-75CB1EE18870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CDDC35A-AD36-9F4A-A87A-A7EC71F9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5B3DE4E-47F8-27AE-F0B3-E662A4BCC50B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32983-141A-8738-EA04-9F48DA11AB7D}"/>
              </a:ext>
            </a:extLst>
          </p:cNvPr>
          <p:cNvSpPr txBox="1"/>
          <p:nvPr/>
        </p:nvSpPr>
        <p:spPr>
          <a:xfrm>
            <a:off x="7068709" y="1976299"/>
            <a:ext cx="47441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(3)(-7) = -(3)(7)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(3)(-7) =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-21</a:t>
            </a:r>
          </a:p>
          <a:p>
            <a:pPr marL="457200" indent="-457200">
              <a:buFontTx/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(6)(-x) = -(6)(x)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(6)(-x)  =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-6x  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(-8)(2) = -(8)(2)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(-8)(2) =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-16</a:t>
            </a:r>
          </a:p>
          <a:p>
            <a:pPr marL="457200" indent="-457200">
              <a:buFontTx/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(-b)(1) = -(b)(1)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(-b)(1) =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-b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(-4)(-3) = (4)(3)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(-4)(-3) = 12</a:t>
            </a:r>
          </a:p>
          <a:p>
            <a:pPr marL="457200" indent="-457200">
              <a:buFontTx/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(-m)(-n) = (m)(n)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(-m)(-n) = </a:t>
            </a:r>
            <a:r>
              <a:rPr lang="en-US" sz="24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mn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FC74B-3726-8C67-E349-1B6EE41C9E43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38708A-126B-C65C-F9D9-5C43F35D1E18}"/>
              </a:ext>
            </a:extLst>
          </p:cNvPr>
          <p:cNvSpPr/>
          <p:nvPr/>
        </p:nvSpPr>
        <p:spPr>
          <a:xfrm>
            <a:off x="379154" y="2848550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4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(-1)a = a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E6A694-FF42-77D1-9C5D-1C1F4FFA7085}"/>
              </a:ext>
            </a:extLst>
          </p:cNvPr>
          <p:cNvSpPr/>
          <p:nvPr/>
        </p:nvSpPr>
        <p:spPr>
          <a:xfrm>
            <a:off x="340657" y="3838584"/>
            <a:ext cx="6227831" cy="865575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 จะได้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ab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= 0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= 0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84A003-AAD7-F72C-7372-F76BEB264E0F}"/>
              </a:ext>
            </a:extLst>
          </p:cNvPr>
          <p:cNvSpPr/>
          <p:nvPr/>
        </p:nvSpPr>
        <p:spPr>
          <a:xfrm>
            <a:off x="340658" y="4828618"/>
            <a:ext cx="6227831" cy="1949863"/>
          </a:xfrm>
          <a:prstGeom prst="roundRect">
            <a:avLst>
              <a:gd name="adj" fmla="val 586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จะได้ว่า</a:t>
            </a: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a(-b)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(-a)b = -ab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3.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(-a)(-b) = ab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34663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30D0-9F23-129A-964B-C140A125B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084C30-9E13-6471-D329-62BC2FCD7F55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EFF0B-EF16-F261-D00D-2CA24DAE1A77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BD3F-A9A3-AD1C-7ADA-F75E40B6C6B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8B7290-54F4-B0C5-67D7-7C3BB7ACEA64}"/>
              </a:ext>
            </a:extLst>
          </p:cNvPr>
          <p:cNvSpPr/>
          <p:nvPr/>
        </p:nvSpPr>
        <p:spPr>
          <a:xfrm>
            <a:off x="379155" y="1822761"/>
            <a:ext cx="6227831" cy="1287992"/>
          </a:xfrm>
          <a:prstGeom prst="roundRect">
            <a:avLst>
              <a:gd name="adj" fmla="val 127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7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จะได้ว่า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a(b – c) = ab – ac	2. (a – b)c = ac –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15BD9F-AD21-24D8-565F-9C65CA114A5C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FFF198-9969-5753-F66B-C16F436D664E}"/>
              </a:ext>
            </a:extLst>
          </p:cNvPr>
          <p:cNvSpPr txBox="1"/>
          <p:nvPr/>
        </p:nvSpPr>
        <p:spPr>
          <a:xfrm>
            <a:off x="340659" y="1373365"/>
            <a:ext cx="360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A05441-D6B2-E54F-24AA-33ED6E208F47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476D673-657F-1E68-54DE-CF23509F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29753B4-E371-93F9-C3C9-DD18F556CD86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3875C-8EB0-6A1C-F57D-1F2F64BDFC84}"/>
              </a:ext>
            </a:extLst>
          </p:cNvPr>
          <p:cNvSpPr txBox="1"/>
          <p:nvPr/>
        </p:nvSpPr>
        <p:spPr>
          <a:xfrm>
            <a:off x="7068709" y="1976299"/>
            <a:ext cx="47441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3(a – b) = 3a – 3b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-2(x – y) = -2x – (-2)y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              หรือ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-2(x – y) = -2x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2y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(m – n)5 = 5m – 5n</a:t>
            </a:r>
          </a:p>
          <a:p>
            <a:pPr marL="457200" indent="-457200">
              <a:buAutoNum type="arabicParenR"/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(2s – 7t)(4) = (2s)(4) – (7t)(4)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          หรือ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(2s – 7t)(4) =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8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 – 28t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3804D0-DB9C-093B-0955-A5804716987B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7D8D323C-72A7-3C57-79B9-DD08EA5A0947}"/>
                  </a:ext>
                </a:extLst>
              </p:cNvPr>
              <p:cNvSpPr/>
              <p:nvPr/>
            </p:nvSpPr>
            <p:spPr>
              <a:xfrm>
                <a:off x="379154" y="3216105"/>
                <a:ext cx="6227831" cy="865575"/>
              </a:xfrm>
              <a:prstGeom prst="roundRect">
                <a:avLst>
                  <a:gd name="adj" fmla="val 1276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ทฤษฎีบทที่ 8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เป็นจำนวนจริง ถ้า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แล้ว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e>
                      <m:sup>
                        <m:r>
                          <a:rPr lang="en-US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  <m:r>
                      <a:rPr lang="th-TH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7D8D323C-72A7-3C57-79B9-DD08EA5A09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54" y="3216105"/>
                <a:ext cx="6227831" cy="865575"/>
              </a:xfrm>
              <a:prstGeom prst="roundRect">
                <a:avLst>
                  <a:gd name="adj" fmla="val 12760"/>
                </a:avLst>
              </a:prstGeom>
              <a:blipFill>
                <a:blip r:embed="rId3"/>
                <a:stretch>
                  <a:fillRect l="-878" t="-1379" b="-1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656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8911-9CD8-C2C5-BA94-79C04452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132D3B-5765-B67C-9230-2FB0FE32744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0048C-18A5-9BF4-8632-196EA2419A4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05F8AE-DB1A-42E8-4796-52116D8D8E3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02F68A4-5759-9765-796B-4BEE70EBC88D}"/>
              </a:ext>
            </a:extLst>
          </p:cNvPr>
          <p:cNvSpPr/>
          <p:nvPr/>
        </p:nvSpPr>
        <p:spPr>
          <a:xfrm>
            <a:off x="379155" y="1822761"/>
            <a:ext cx="6227831" cy="1287992"/>
          </a:xfrm>
          <a:prstGeom prst="roundRect">
            <a:avLst>
              <a:gd name="adj" fmla="val 1276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7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เป็นจำนวนจริง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จะได้ว่า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1. a(b – c) = ab – ac	2. (a – b)c = ac – </a:t>
            </a:r>
            <a:r>
              <a:rPr lang="en-US" sz="2400" b="1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bc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04F815-A836-F252-551D-8953B0B309C6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1A10E-E789-B21C-0E75-E868D944833C}"/>
              </a:ext>
            </a:extLst>
          </p:cNvPr>
          <p:cNvSpPr txBox="1"/>
          <p:nvPr/>
        </p:nvSpPr>
        <p:spPr>
          <a:xfrm>
            <a:off x="340659" y="1373365"/>
            <a:ext cx="360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9734D4-7F5E-AEBB-FC55-D2C5851517E5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BA34D84-BF4F-2AA6-1C71-7EA32349A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B69ADB5-F7F0-0CDE-695C-7FA79BED6C09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</a:t>
            </a:r>
            <a:r>
              <a: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94F605-54F8-A6E3-E8F1-CB79B1F1830B}"/>
                  </a:ext>
                </a:extLst>
              </p:cNvPr>
              <p:cNvSpPr txBox="1"/>
              <p:nvPr/>
            </p:nvSpPr>
            <p:spPr>
              <a:xfrm>
                <a:off x="7068709" y="1976299"/>
                <a:ext cx="4744136" cy="1904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</a:t>
                </a:r>
              </a:p>
              <a:p>
                <a:pPr marL="457200" indent="-457200">
                  <a:buAutoNum type="arabicParenR"/>
                </a:pP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2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e>
                      <m:sup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ซึ่งไม่เท่ากับ 0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e>
                      <m:sup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5 ซึ่งไม่เท่ากับ 0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0.2 จะได้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e>
                      <m:sup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5 ซึ่งไม่เท่ากับ 0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94F605-54F8-A6E3-E8F1-CB79B1F18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1976299"/>
                <a:ext cx="4744136" cy="1904624"/>
              </a:xfrm>
              <a:prstGeom prst="rect">
                <a:avLst/>
              </a:prstGeom>
              <a:blipFill>
                <a:blip r:embed="rId3"/>
                <a:stretch>
                  <a:fillRect l="-2314" t="-2556" b="-8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3C8013E-C2D3-8DDC-C4D7-EAF3ED8838C2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7EBD75BF-9BC6-D2F0-D9E9-589B20434B2D}"/>
                  </a:ext>
                </a:extLst>
              </p:cNvPr>
              <p:cNvSpPr/>
              <p:nvPr/>
            </p:nvSpPr>
            <p:spPr>
              <a:xfrm>
                <a:off x="379154" y="3216105"/>
                <a:ext cx="6227831" cy="865575"/>
              </a:xfrm>
              <a:prstGeom prst="roundRect">
                <a:avLst>
                  <a:gd name="adj" fmla="val 1276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ทฤษฎีบทที่ 8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เป็นจำนวนจริง ถ้า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แล้ว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 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𝐚</m:t>
                        </m:r>
                      </m:e>
                      <m:sup>
                        <m:r>
                          <a:rPr lang="en-US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  <m:r>
                      <a:rPr lang="th-TH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7EBD75BF-9BC6-D2F0-D9E9-589B20434B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54" y="3216105"/>
                <a:ext cx="6227831" cy="865575"/>
              </a:xfrm>
              <a:prstGeom prst="roundRect">
                <a:avLst>
                  <a:gd name="adj" fmla="val 12760"/>
                </a:avLst>
              </a:prstGeom>
              <a:blipFill>
                <a:blip r:embed="rId4"/>
                <a:stretch>
                  <a:fillRect l="-878" t="-1379" b="-1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624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5E643-3899-38AC-AD02-CBFD3455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5153D-33C1-B4F4-6BA1-D949364C29E5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16C7E-6612-D619-CFE2-A545D70D049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DD0A0A-EE45-712C-D858-C402E7A40B8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D1E8527C-4C63-7076-BA2D-E8F8DC42875A}"/>
                  </a:ext>
                </a:extLst>
              </p:cNvPr>
              <p:cNvSpPr/>
              <p:nvPr/>
            </p:nvSpPr>
            <p:spPr>
              <a:xfrm>
                <a:off x="379155" y="1822761"/>
                <a:ext cx="6227831" cy="4955720"/>
              </a:xfrm>
              <a:prstGeom prst="roundRect">
                <a:avLst>
                  <a:gd name="adj" fmla="val 1364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ทฤษฎีบทที่ 9 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a, b, c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d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เป็นจำนวนจริง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จะได้ว่า</a:t>
                </a:r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th-TH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th-TH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th-TH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𝒂</m:t>
                                </m:r>
                              </m:num>
                              <m:den>
                                <m:r>
                                  <a:rPr lang="th-TH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𝒃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𝒂</m:t>
                        </m:r>
                      </m:num>
                      <m:den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</m:t>
                        </m:r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เมื่อ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</a:t>
                </a:r>
                <a:r>
                  <a:rPr lang="th-TH" sz="2400" b="1" dirty="0">
                    <a:solidFill>
                      <a:schemeClr val="tx1"/>
                    </a:solidFill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𝒂</m:t>
                        </m:r>
                      </m:num>
                      <m:den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𝒂</m:t>
                        </m:r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num>
                      <m:den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</m:t>
                        </m:r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เมื่อ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</a:t>
                </a:r>
                <a:r>
                  <a:rPr lang="th-TH" sz="2400" b="1" dirty="0">
                    <a:solidFill>
                      <a:schemeClr val="tx1"/>
                    </a:solidFill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3.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𝒂</m:t>
                        </m:r>
                      </m:num>
                      <m:den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num>
                      <m:den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𝒅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𝒂</m:t>
                        </m:r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𝒅</m:t>
                        </m:r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+</m:t>
                        </m:r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𝒃𝒄</m:t>
                        </m:r>
                      </m:num>
                      <m:den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𝒃𝒅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เมื่อ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d</a:t>
                </a:r>
                <a:r>
                  <a:rPr lang="th-TH" sz="2400" b="1" dirty="0">
                    <a:solidFill>
                      <a:schemeClr val="tx1"/>
                    </a:solidFill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4.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𝒂</m:t>
                            </m:r>
                          </m:num>
                          <m:den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𝒃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𝒄</m:t>
                            </m:r>
                          </m:num>
                          <m:den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𝒅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𝒂</m:t>
                        </m:r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num>
                      <m:den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𝒃𝒅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เมื่อ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d</a:t>
                </a:r>
                <a:r>
                  <a:rPr lang="th-TH" sz="2400" b="1" dirty="0">
                    <a:solidFill>
                      <a:schemeClr val="tx1"/>
                    </a:solidFill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𝒃</m:t>
                                </m:r>
                              </m:num>
                              <m:den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𝒄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r>
                  <a:rPr lang="th-TH" sz="2400" b="1" dirty="0">
                    <a:solidFill>
                      <a:schemeClr val="tx1"/>
                    </a:solidFill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num>
                      <m:den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	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เมื่อ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</a:t>
                </a:r>
                <a:r>
                  <a:rPr lang="th-TH" sz="2400" b="1" dirty="0">
                    <a:solidFill>
                      <a:schemeClr val="tx1"/>
                    </a:solidFill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6.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th-TH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th-TH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th-TH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𝒂</m:t>
                                </m:r>
                              </m:num>
                              <m:den>
                                <m:r>
                                  <a:rPr lang="th-TH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𝒃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th-TH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th-TH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th-TH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𝒄</m:t>
                                </m:r>
                              </m:num>
                              <m:den>
                                <m:r>
                                  <a:rPr lang="th-TH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𝒅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𝒂</m:t>
                        </m:r>
                        <m:r>
                          <a:rPr lang="th-TH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𝒅</m:t>
                        </m:r>
                      </m:num>
                      <m:den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𝒃</m:t>
                        </m:r>
                        <m:r>
                          <a:rPr lang="th-TH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𝒄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	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เมื่อ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0, c</a:t>
                </a:r>
                <a:r>
                  <a:rPr lang="th-TH" sz="2400" b="1" dirty="0">
                    <a:solidFill>
                      <a:schemeClr val="tx1"/>
                    </a:solidFill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 </a:t>
                </a:r>
                <a:r>
                  <a:rPr lang="th-TH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d</a:t>
                </a:r>
                <a:r>
                  <a:rPr lang="th-TH" sz="2400" b="1" dirty="0">
                    <a:solidFill>
                      <a:schemeClr val="tx1"/>
                    </a:solidFill>
                    <a:ea typeface="Cambria Math" panose="02040503050406030204" pitchFamily="18" charset="0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r>
                      <a:rPr lang="th-TH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≠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</a:p>
              <a:p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D1E8527C-4C63-7076-BA2D-E8F8DC428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55" y="1822761"/>
                <a:ext cx="6227831" cy="4955720"/>
              </a:xfrm>
              <a:prstGeom prst="roundRect">
                <a:avLst>
                  <a:gd name="adj" fmla="val 1364"/>
                </a:avLst>
              </a:prstGeom>
              <a:blipFill>
                <a:blip r:embed="rId2"/>
                <a:stretch>
                  <a:fillRect l="-1073" t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AB231E-C11A-24AA-ACB0-E10879AC5987}"/>
              </a:ext>
            </a:extLst>
          </p:cNvPr>
          <p:cNvSpPr/>
          <p:nvPr/>
        </p:nvSpPr>
        <p:spPr>
          <a:xfrm>
            <a:off x="6849035" y="1822760"/>
            <a:ext cx="5002306" cy="4955721"/>
          </a:xfrm>
          <a:prstGeom prst="roundRect">
            <a:avLst>
              <a:gd name="adj" fmla="val 17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10D90-A7E8-FBCB-F215-717973293E25}"/>
              </a:ext>
            </a:extLst>
          </p:cNvPr>
          <p:cNvSpPr txBox="1"/>
          <p:nvPr/>
        </p:nvSpPr>
        <p:spPr>
          <a:xfrm>
            <a:off x="340659" y="1373365"/>
            <a:ext cx="3603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เลือกทฤษฎีบทเพื่อศึกษาตัวอย่าง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884BF5-6464-3A66-C280-0C3F530D5B4D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1210CC9-2530-8EE7-A96A-81A52F3F4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305C636-6458-9C0A-34E1-2DD197032325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 (4)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D3452B-BCEC-B5E3-207A-C37CC8C7F491}"/>
                  </a:ext>
                </a:extLst>
              </p:cNvPr>
              <p:cNvSpPr txBox="1"/>
              <p:nvPr/>
            </p:nvSpPr>
            <p:spPr>
              <a:xfrm>
                <a:off x="7068709" y="1976299"/>
                <a:ext cx="4744136" cy="4403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</a:t>
                </a:r>
              </a:p>
              <a:p>
                <a:pPr marL="457200" indent="-457200">
                  <a:buFontTx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th-TH" sz="2400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den>
                    </m:f>
                    <m:r>
                      <a:rPr lang="th-TH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𝟏𝟐</m:t>
                        </m:r>
                      </m:den>
                    </m:f>
                    <m:r>
                      <a:rPr lang="th-TH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FontTx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𝟕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𝟗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den>
                    </m:f>
                    <m:r>
                      <a:rPr lang="th-TH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𝟕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𝟔𝟑</m:t>
                        </m:r>
                      </m:den>
                    </m:f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FontTx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)+(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𝟐𝟎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FontTx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𝟓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𝟕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𝟖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)(−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𝟕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𝟖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den>
                    </m:f>
                    <m:r>
                      <a:rPr lang="th-TH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𝟓𝟔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FontTx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𝟔</m:t>
                                </m:r>
                              </m:num>
                              <m:den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𝟕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</a:t>
                </a:r>
                <a:r>
                  <a:rPr lang="th-TH" sz="2400" b="1" dirty="0"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𝟕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𝟔</m:t>
                        </m:r>
                      </m:den>
                    </m:f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pPr marL="457200" indent="-457200">
                  <a:buFontTx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th-TH" sz="2400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𝟒</m:t>
                                </m:r>
                              </m:num>
                              <m:den>
                                <m: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𝟓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th-TH" sz="2400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th-TH" sz="2400" b="1" i="1" smtClean="0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𝟖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𝟖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𝟓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)(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𝟑𝟐</m:t>
                        </m:r>
                      </m:num>
                      <m:den>
                        <m:r>
                          <a:rPr lang="th-TH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𝟏𝟓</m:t>
                        </m:r>
                      </m:den>
                    </m:f>
                    <m:r>
                      <a:rPr lang="th-TH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D3452B-BCEC-B5E3-207A-C37CC8C7F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709" y="1976299"/>
                <a:ext cx="4744136" cy="4403193"/>
              </a:xfrm>
              <a:prstGeom prst="rect">
                <a:avLst/>
              </a:prstGeom>
              <a:blipFill>
                <a:blip r:embed="rId4"/>
                <a:stretch>
                  <a:fillRect l="-2057" t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BFBD049-5805-7A95-A2C0-80D70FA3DEE1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ตัวเลือก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90442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C4DD-7C92-D89F-C5FF-F275CF13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39D347-88FB-CD7F-D735-FE850472D1D4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88E42-B7F8-A532-039D-10798F9462B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0AA66F-ACCB-6947-A2CC-5EE3B32270C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E566F7-A4EF-C9B5-B239-6D44E6F1A23A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9A8A97-58BE-D7E1-CD96-F2BB6EB32E81}"/>
              </a:ext>
            </a:extLst>
          </p:cNvPr>
          <p:cNvSpPr/>
          <p:nvPr/>
        </p:nvSpPr>
        <p:spPr>
          <a:xfrm>
            <a:off x="349857" y="2079812"/>
            <a:ext cx="11501484" cy="4698669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27204-9330-1607-085A-A51EE8249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0" y="777378"/>
            <a:ext cx="2382849" cy="6359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567506-A136-5D29-1A6F-0FC2B0DEC25A}"/>
              </a:ext>
            </a:extLst>
          </p:cNvPr>
          <p:cNvSpPr txBox="1"/>
          <p:nvPr/>
        </p:nvSpPr>
        <p:spPr>
          <a:xfrm>
            <a:off x="645459" y="2413584"/>
            <a:ext cx="1024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ระบุสมบัติของเซตและการดำเนินการต่อไปนี้ให้ถูกต้อง (ตอบได้มากกว่า 1 สมบัติ)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A240263-061A-E408-7D26-B3FBC23FB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96" y="5941977"/>
            <a:ext cx="2991267" cy="781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F4B144-2A17-3770-FFB0-A7E17AD72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00" y="1397837"/>
            <a:ext cx="3610479" cy="65731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7F7F2-50E8-01C1-CFAE-B237BE6A1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389690"/>
              </p:ext>
            </p:extLst>
          </p:nvPr>
        </p:nvGraphicFramePr>
        <p:xfrm>
          <a:off x="714187" y="3251701"/>
          <a:ext cx="67354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264">
                  <a:extLst>
                    <a:ext uri="{9D8B030D-6E8A-4147-A177-3AD203B41FA5}">
                      <a16:colId xmlns:a16="http://schemas.microsoft.com/office/drawing/2014/main" val="2192063131"/>
                    </a:ext>
                  </a:extLst>
                </a:gridCol>
                <a:gridCol w="4727220">
                  <a:extLst>
                    <a:ext uri="{9D8B030D-6E8A-4147-A177-3AD203B41FA5}">
                      <a16:colId xmlns:a16="http://schemas.microsoft.com/office/drawing/2014/main" val="875246618"/>
                    </a:ext>
                  </a:extLst>
                </a:gridCol>
              </a:tblGrid>
              <a:tr h="392711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เซตของจำนวนคี่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44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สมบัติปิดของการบวก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1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สมบัติปิดของการลบ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755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สมบัติปิดของการคูณ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73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สมบัติปิดของการหาร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8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29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3C4AB-A523-7C2F-E8DA-79CA5004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FC743E-634A-A9BD-387A-DD31C3DE4B6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D2509-55E1-06C7-AD55-AC925B8C606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536ED3-7B8F-3B65-C306-A82BDA19A7B9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D5BE573-A8E4-D3A8-FE5E-93D16934DE78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E80E08-E429-34B3-E08C-2CE4F7AAA8BB}"/>
              </a:ext>
            </a:extLst>
          </p:cNvPr>
          <p:cNvSpPr/>
          <p:nvPr/>
        </p:nvSpPr>
        <p:spPr>
          <a:xfrm>
            <a:off x="349857" y="2079812"/>
            <a:ext cx="11501484" cy="4698669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34E1CC-6022-45F4-7CD8-C06187829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0" y="777378"/>
            <a:ext cx="2382849" cy="6359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08FAE0-03E9-D7D1-075B-2D2D5B08EA5A}"/>
              </a:ext>
            </a:extLst>
          </p:cNvPr>
          <p:cNvSpPr txBox="1"/>
          <p:nvPr/>
        </p:nvSpPr>
        <p:spPr>
          <a:xfrm>
            <a:off x="645459" y="2413584"/>
            <a:ext cx="1024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ระบุสมบัติของเซตและการดำเนินการต่อไปนี้ให้ถูกต้อง (ตอบได้มากกว่า 1 สมบัติ)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F46FC96-19D8-82D7-22B2-63524D77A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96" y="5941977"/>
            <a:ext cx="2991267" cy="78115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712F89-342D-6BCC-CCF2-811F9E57B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688944"/>
              </p:ext>
            </p:extLst>
          </p:nvPr>
        </p:nvGraphicFramePr>
        <p:xfrm>
          <a:off x="714187" y="3251701"/>
          <a:ext cx="67354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264">
                  <a:extLst>
                    <a:ext uri="{9D8B030D-6E8A-4147-A177-3AD203B41FA5}">
                      <a16:colId xmlns:a16="http://schemas.microsoft.com/office/drawing/2014/main" val="2192063131"/>
                    </a:ext>
                  </a:extLst>
                </a:gridCol>
                <a:gridCol w="4727220">
                  <a:extLst>
                    <a:ext uri="{9D8B030D-6E8A-4147-A177-3AD203B41FA5}">
                      <a16:colId xmlns:a16="http://schemas.microsoft.com/office/drawing/2014/main" val="875246618"/>
                    </a:ext>
                  </a:extLst>
                </a:gridCol>
              </a:tblGrid>
              <a:tr h="392711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เซตของจำนวนเต็มลบ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44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สมบัติปิดของการบวก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1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สมบัติปิดของการลบ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755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สมบัติปิดของการคูณ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73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สมบัติปิดของการหาร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801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0C48365-4DDC-C071-842A-D9312C77C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90" y="1429815"/>
            <a:ext cx="3324689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79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1142-56CA-2B74-3A92-ECED81A7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5292D2-1EDC-DAEE-8076-A5DA9501933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FCEDD-9604-B95F-587C-D01F628BC749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D995F6-41F3-77BD-5883-E1A96ACA6DB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57E2E1D-9DDB-740E-CCD2-86A1B5A8211B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BAF201-898F-DD10-593F-8D8F7C20A418}"/>
              </a:ext>
            </a:extLst>
          </p:cNvPr>
          <p:cNvSpPr/>
          <p:nvPr/>
        </p:nvSpPr>
        <p:spPr>
          <a:xfrm>
            <a:off x="349857" y="2079812"/>
            <a:ext cx="11501484" cy="4698669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7EF264-2843-1DEA-EC60-256100423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0" y="777378"/>
            <a:ext cx="2382849" cy="6359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836ACF0-7F2B-1B65-457A-4DE572374095}"/>
              </a:ext>
            </a:extLst>
          </p:cNvPr>
          <p:cNvSpPr txBox="1"/>
          <p:nvPr/>
        </p:nvSpPr>
        <p:spPr>
          <a:xfrm>
            <a:off x="645459" y="2413584"/>
            <a:ext cx="1024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ระบุสมบัติของเซตและการดำเนินการต่อไปนี้ให้ถูกต้อง (ตอบได้มากกว่า 1 สมบัติ)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236DA9F-C67F-A8B6-78B2-101CF11E2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96" y="5941977"/>
            <a:ext cx="2991267" cy="78115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4F0AA5-A1FD-19B4-9769-A83F4B582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210203"/>
              </p:ext>
            </p:extLst>
          </p:nvPr>
        </p:nvGraphicFramePr>
        <p:xfrm>
          <a:off x="714187" y="3251701"/>
          <a:ext cx="67354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264">
                  <a:extLst>
                    <a:ext uri="{9D8B030D-6E8A-4147-A177-3AD203B41FA5}">
                      <a16:colId xmlns:a16="http://schemas.microsoft.com/office/drawing/2014/main" val="2192063131"/>
                    </a:ext>
                  </a:extLst>
                </a:gridCol>
                <a:gridCol w="4727220">
                  <a:extLst>
                    <a:ext uri="{9D8B030D-6E8A-4147-A177-3AD203B41FA5}">
                      <a16:colId xmlns:a16="http://schemas.microsoft.com/office/drawing/2014/main" val="875246618"/>
                    </a:ext>
                  </a:extLst>
                </a:gridCol>
              </a:tblGrid>
              <a:tr h="392711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{-1, 0, 1}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44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สมบัติปิดของการบวก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1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สมบัติปิดของการลบ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755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สมบัติปิดของการคูณ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73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สมบัติปิดของการหาร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801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E8AC800-A3AA-6696-FD51-9EE1E5963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22" y="1393754"/>
            <a:ext cx="3486637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13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5DC6-DBC8-356C-A712-87B518CE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7AB7BE-6716-3729-6D26-C5F334E0F61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65BEB-2DC8-F3E9-5186-7AD775C0F04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9EAEE2-E43D-3167-4447-0E758FFD6389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10B9A1-A545-D4A1-FC9E-D6C54911C079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419F29-BE9B-E566-322C-117AFB1BEAD6}"/>
              </a:ext>
            </a:extLst>
          </p:cNvPr>
          <p:cNvSpPr/>
          <p:nvPr/>
        </p:nvSpPr>
        <p:spPr>
          <a:xfrm>
            <a:off x="349857" y="2079812"/>
            <a:ext cx="11501484" cy="4698669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9D961B-CB39-79C3-02C5-94660F2F5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0" y="777378"/>
            <a:ext cx="2382849" cy="6359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6B30536-9C29-6960-4E54-35DF66080209}"/>
              </a:ext>
            </a:extLst>
          </p:cNvPr>
          <p:cNvSpPr txBox="1"/>
          <p:nvPr/>
        </p:nvSpPr>
        <p:spPr>
          <a:xfrm>
            <a:off x="645459" y="2413584"/>
            <a:ext cx="1024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ระบุสมบัติของเซตและการดำเนินการต่อไปนี้ให้ถูกต้อง (ตอบได้มากกว่า 1 สมบัติ)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79FE8F2-EC4C-3546-08FC-1F68241C7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96" y="5941977"/>
            <a:ext cx="2991267" cy="78115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0EA9D2-904C-BA34-D273-B3EAB58E5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563308"/>
              </p:ext>
            </p:extLst>
          </p:nvPr>
        </p:nvGraphicFramePr>
        <p:xfrm>
          <a:off x="714187" y="3251701"/>
          <a:ext cx="67354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264">
                  <a:extLst>
                    <a:ext uri="{9D8B030D-6E8A-4147-A177-3AD203B41FA5}">
                      <a16:colId xmlns:a16="http://schemas.microsoft.com/office/drawing/2014/main" val="2192063131"/>
                    </a:ext>
                  </a:extLst>
                </a:gridCol>
                <a:gridCol w="4727220">
                  <a:extLst>
                    <a:ext uri="{9D8B030D-6E8A-4147-A177-3AD203B41FA5}">
                      <a16:colId xmlns:a16="http://schemas.microsoft.com/office/drawing/2014/main" val="875246618"/>
                    </a:ext>
                  </a:extLst>
                </a:gridCol>
              </a:tblGrid>
              <a:tr h="392711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เซตของจำนวนจริง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44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สมบัติปิดของการบวก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1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สมบัติปิดของการลบ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755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สมบัติปิดของการคูณ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73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สมบัติปิดของการหาร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801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1E721B1-ACBF-797B-1AB1-741476E11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32" y="1413341"/>
            <a:ext cx="3362794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10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03A9-437B-200C-CA77-64776663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6D4A53-39B4-5D56-863C-5632014A7D2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6E4C8-8AC6-58E6-06F6-250D5271DDA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สมบัติเกี่ยวกับระบบจำนวนจริง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E179F4-E4E4-A4E7-7672-AE0689EA1952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B84EBB-5989-0B6E-C35D-FB090C196866}"/>
              </a:ext>
            </a:extLst>
          </p:cNvPr>
          <p:cNvSpPr txBox="1"/>
          <p:nvPr/>
        </p:nvSpPr>
        <p:spPr>
          <a:xfrm>
            <a:off x="349857" y="954539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E7288A-BA2C-9E33-B321-0FC358F374C7}"/>
              </a:ext>
            </a:extLst>
          </p:cNvPr>
          <p:cNvSpPr/>
          <p:nvPr/>
        </p:nvSpPr>
        <p:spPr>
          <a:xfrm>
            <a:off x="349857" y="2079812"/>
            <a:ext cx="11501484" cy="4698669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3FFCF2-A126-122A-E599-546092268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0" y="777378"/>
            <a:ext cx="2382849" cy="6359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61E18DB-826B-A5BE-3D3F-65375B0FB139}"/>
              </a:ext>
            </a:extLst>
          </p:cNvPr>
          <p:cNvSpPr txBox="1"/>
          <p:nvPr/>
        </p:nvSpPr>
        <p:spPr>
          <a:xfrm>
            <a:off x="645459" y="2413584"/>
            <a:ext cx="1024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ระบุสมบัติของเซตและการดำเนินการต่อไปนี้ให้ถูกต้อง (ตอบได้มากกว่า 1 สมบัติ)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0026BC1-6D77-6B05-6966-BD6A250D1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696" y="5941977"/>
            <a:ext cx="2991267" cy="78115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9F5EE9-B5E5-E790-E5A2-3D4484228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224822"/>
              </p:ext>
            </p:extLst>
          </p:nvPr>
        </p:nvGraphicFramePr>
        <p:xfrm>
          <a:off x="714187" y="3251701"/>
          <a:ext cx="67354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264">
                  <a:extLst>
                    <a:ext uri="{9D8B030D-6E8A-4147-A177-3AD203B41FA5}">
                      <a16:colId xmlns:a16="http://schemas.microsoft.com/office/drawing/2014/main" val="2192063131"/>
                    </a:ext>
                  </a:extLst>
                </a:gridCol>
                <a:gridCol w="4727220">
                  <a:extLst>
                    <a:ext uri="{9D8B030D-6E8A-4147-A177-3AD203B41FA5}">
                      <a16:colId xmlns:a16="http://schemas.microsoft.com/office/drawing/2014/main" val="875246618"/>
                    </a:ext>
                  </a:extLst>
                </a:gridCol>
              </a:tblGrid>
              <a:tr h="392711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{5, 10, 15, 20, …}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44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สมบัติปิดของการบวก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1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สมบัติปิดของการลบ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755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สมบัติปิดของการคูณ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73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สมบัติปิดของการหาร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801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C1F5D8C-66D3-ADA4-E21F-F6855FE38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11" y="1465552"/>
            <a:ext cx="335326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3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6127</Words>
  <Application>Microsoft Office PowerPoint</Application>
  <PresentationFormat>Widescreen</PresentationFormat>
  <Paragraphs>786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148</cp:revision>
  <dcterms:created xsi:type="dcterms:W3CDTF">2026-09-18T13:51:45Z</dcterms:created>
  <dcterms:modified xsi:type="dcterms:W3CDTF">2026-10-23T14:03:36Z</dcterms:modified>
</cp:coreProperties>
</file>