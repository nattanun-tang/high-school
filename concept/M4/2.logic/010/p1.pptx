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71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E1FD9-B84A-6412-9C5B-8EC60FE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1D01BA9-5B73-D40E-6030-0FA0C6FEB372}"/>
              </a:ext>
            </a:extLst>
          </p:cNvPr>
          <p:cNvSpPr/>
          <p:nvPr/>
        </p:nvSpPr>
        <p:spPr>
          <a:xfrm>
            <a:off x="349857" y="2507610"/>
            <a:ext cx="11501484" cy="4270871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04E34D-666E-2C01-2C92-0958B052B8CB}"/>
              </a:ext>
            </a:extLst>
          </p:cNvPr>
          <p:cNvSpPr/>
          <p:nvPr/>
        </p:nvSpPr>
        <p:spPr>
          <a:xfrm>
            <a:off x="349857" y="1802985"/>
            <a:ext cx="11501484" cy="653231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9D1C8-D60B-FD4F-65CE-AFC70F32C55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BAE41-44B2-6146-B466-7E3799264DED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รูปแบบประพจน์ที่สมมูลกัน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D60C15-EEFF-6C01-745A-466FF5ABDB6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32A2AF-4389-E152-B9AA-B1EFB2B9E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37788"/>
              </p:ext>
            </p:extLst>
          </p:nvPr>
        </p:nvGraphicFramePr>
        <p:xfrm>
          <a:off x="593773" y="2691953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705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1020092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2644676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→</a:t>
                      </a:r>
                      <a:r>
                        <a:rPr lang="en-US" sz="1800" dirty="0"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~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p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∨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  <p:pic>
        <p:nvPicPr>
          <p:cNvPr id="8" name="Graphic 7" descr="Information">
            <a:extLst>
              <a:ext uri="{FF2B5EF4-FFF2-40B4-BE49-F238E27FC236}">
                <a16:creationId xmlns:a16="http://schemas.microsoft.com/office/drawing/2014/main" id="{82E6A23A-C350-1C16-1FBC-BB97A2322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5699" y="757286"/>
            <a:ext cx="506854" cy="5068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A8CCDD-CC4F-C833-6502-C51EA792B43D}"/>
              </a:ext>
            </a:extLst>
          </p:cNvPr>
          <p:cNvSpPr txBox="1"/>
          <p:nvPr/>
        </p:nvSpPr>
        <p:spPr>
          <a:xfrm>
            <a:off x="557915" y="1960107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ให้ตรวจสอบว่า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~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หรือไม่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F1AC9B-6D70-DC19-D3E9-2CD2F5AFE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5855209"/>
            <a:ext cx="3934374" cy="82879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D08778-31FF-0922-977E-1C0FED7AF8AA}"/>
              </a:ext>
            </a:extLst>
          </p:cNvPr>
          <p:cNvSpPr/>
          <p:nvPr/>
        </p:nvSpPr>
        <p:spPr>
          <a:xfrm>
            <a:off x="349857" y="1802986"/>
            <a:ext cx="11501484" cy="1002966"/>
          </a:xfrm>
          <a:prstGeom prst="roundRect">
            <a:avLst>
              <a:gd name="adj" fmla="val 547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รูปแบบประพจน์ที่สมมูลกัน คือ รูปแบบประพจน์ที่มีค่าความจริงเหมือนกันกรณีต่อกรณี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6B8E5E-95A8-968B-D6A1-29AEA92CAB27}"/>
              </a:ext>
            </a:extLst>
          </p:cNvPr>
          <p:cNvSpPr/>
          <p:nvPr/>
        </p:nvSpPr>
        <p:spPr>
          <a:xfrm>
            <a:off x="11110638" y="1924685"/>
            <a:ext cx="461665" cy="46166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Close">
            <a:extLst>
              <a:ext uri="{FF2B5EF4-FFF2-40B4-BE49-F238E27FC236}">
                <a16:creationId xmlns:a16="http://schemas.microsoft.com/office/drawing/2014/main" id="{76D29A64-E138-7B6A-89D5-A7136008C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1679" y="2048498"/>
            <a:ext cx="204466" cy="2044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58D30F-93F3-5EAF-CCCD-3F353A9FC8E1}"/>
              </a:ext>
            </a:extLst>
          </p:cNvPr>
          <p:cNvSpPr txBox="1"/>
          <p:nvPr/>
        </p:nvSpPr>
        <p:spPr>
          <a:xfrm>
            <a:off x="445857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วิธีการตรวจสอบ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23652D-F849-C44F-C8C1-73EE36EF1820}"/>
              </a:ext>
            </a:extLst>
          </p:cNvPr>
          <p:cNvSpPr/>
          <p:nvPr/>
        </p:nvSpPr>
        <p:spPr>
          <a:xfrm>
            <a:off x="2416787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ตารางค่าความจริง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86B0B6-9822-E3A9-3E5E-BC13EBFB7D44}"/>
              </a:ext>
            </a:extLst>
          </p:cNvPr>
          <p:cNvSpPr txBox="1"/>
          <p:nvPr/>
        </p:nvSpPr>
        <p:spPr>
          <a:xfrm>
            <a:off x="609600" y="1377181"/>
            <a:ext cx="1117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 1/5</a:t>
            </a:r>
          </a:p>
        </p:txBody>
      </p:sp>
    </p:spTree>
    <p:extLst>
      <p:ext uri="{BB962C8B-B14F-4D97-AF65-F5344CB8AC3E}">
        <p14:creationId xmlns:p14="http://schemas.microsoft.com/office/powerpoint/2010/main" val="80285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7BC978-E50E-9120-C94C-B27ADBCAB4AE}"/>
              </a:ext>
            </a:extLst>
          </p:cNvPr>
          <p:cNvSpPr/>
          <p:nvPr/>
        </p:nvSpPr>
        <p:spPr>
          <a:xfrm>
            <a:off x="349857" y="1802985"/>
            <a:ext cx="11501484" cy="653231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65E98-1C23-E54A-C3A7-D6B01C5B384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รูปแบบประพจน์ที่สมมูลกัน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1C9D4B-2215-B573-A2A0-C50218B5E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941549"/>
              </p:ext>
            </p:extLst>
          </p:nvPr>
        </p:nvGraphicFramePr>
        <p:xfrm>
          <a:off x="611703" y="253058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705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1020092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2644676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→</a:t>
                      </a:r>
                      <a:r>
                        <a:rPr lang="en-US" sz="1800" dirty="0"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~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p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∨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  <p:pic>
        <p:nvPicPr>
          <p:cNvPr id="8" name="Graphic 7" descr="Information">
            <a:extLst>
              <a:ext uri="{FF2B5EF4-FFF2-40B4-BE49-F238E27FC236}">
                <a16:creationId xmlns:a16="http://schemas.microsoft.com/office/drawing/2014/main" id="{7A94483F-B3EF-B98F-D389-A5539035C2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5699" y="757286"/>
            <a:ext cx="506854" cy="5068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AECD17-08E2-72CA-9BE5-CC1EB8B057DD}"/>
              </a:ext>
            </a:extLst>
          </p:cNvPr>
          <p:cNvSpPr txBox="1"/>
          <p:nvPr/>
        </p:nvSpPr>
        <p:spPr>
          <a:xfrm>
            <a:off x="557915" y="1960107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ให้ตรวจสอบว่า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~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หรือไม่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4F3884-B6C3-0976-3553-566825D27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5855209"/>
            <a:ext cx="3934374" cy="82879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6FA2D1-3A80-9F80-2365-C45E63CB6FE5}"/>
              </a:ext>
            </a:extLst>
          </p:cNvPr>
          <p:cNvSpPr txBox="1"/>
          <p:nvPr/>
        </p:nvSpPr>
        <p:spPr>
          <a:xfrm>
            <a:off x="445857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วิธีการตรวจสอบ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E0EA24-60E2-3AC0-332F-2723978BDD45}"/>
              </a:ext>
            </a:extLst>
          </p:cNvPr>
          <p:cNvSpPr/>
          <p:nvPr/>
        </p:nvSpPr>
        <p:spPr>
          <a:xfrm>
            <a:off x="2416787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ตารางค่าความจริง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219A9D9-695D-4F40-E6B1-B34FB4B31545}"/>
              </a:ext>
            </a:extLst>
          </p:cNvPr>
          <p:cNvSpPr/>
          <p:nvPr/>
        </p:nvSpPr>
        <p:spPr>
          <a:xfrm>
            <a:off x="349857" y="2507610"/>
            <a:ext cx="11501484" cy="4270871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964663-E1EE-9221-D74B-80EB027978D9}"/>
              </a:ext>
            </a:extLst>
          </p:cNvPr>
          <p:cNvGrpSpPr/>
          <p:nvPr/>
        </p:nvGrpSpPr>
        <p:grpSpPr>
          <a:xfrm>
            <a:off x="609600" y="1377181"/>
            <a:ext cx="11175000" cy="461665"/>
            <a:chOff x="609600" y="1377181"/>
            <a:chExt cx="11175000" cy="46166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0BB5989-22FE-1CB7-0163-23462DB98E0B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F1FE18D-7A11-2558-02CC-14552085B4A0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A95FF39-F631-C1D4-6496-437466ABA06E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384FCA6-80FC-8D37-78FD-F2E057154B5E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7948836-9FDF-6BF2-B75E-E9846770470A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75153D9-3929-B529-F3AF-B4AE3C4BC841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B610-5DA0-D838-0096-98CB8891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42C859-964C-F77B-2E59-C1BB258E92D8}"/>
              </a:ext>
            </a:extLst>
          </p:cNvPr>
          <p:cNvSpPr/>
          <p:nvPr/>
        </p:nvSpPr>
        <p:spPr>
          <a:xfrm>
            <a:off x="349857" y="1802985"/>
            <a:ext cx="11501484" cy="653231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9B4AC-3788-E29D-783B-0D4BC70C460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691B4-01E6-4422-3337-4B8229B3A1F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รูปแบบประพจน์ที่สมมูลกัน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FFAFAC-FCB6-BC38-7846-B0528F03E6F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DB992B3-DFFE-1A01-9053-32D43D89F148}"/>
              </a:ext>
            </a:extLst>
          </p:cNvPr>
          <p:cNvSpPr txBox="1"/>
          <p:nvPr/>
        </p:nvSpPr>
        <p:spPr>
          <a:xfrm>
            <a:off x="445857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วิธีการตรวจสอบ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82880BE-3153-0396-AC11-DBD028925615}"/>
              </a:ext>
            </a:extLst>
          </p:cNvPr>
          <p:cNvSpPr/>
          <p:nvPr/>
        </p:nvSpPr>
        <p:spPr>
          <a:xfrm>
            <a:off x="2416787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ตารางค่าความจริง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3E8CF4-C724-7BBE-428C-17FCC7C33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053277"/>
              </p:ext>
            </p:extLst>
          </p:nvPr>
        </p:nvGraphicFramePr>
        <p:xfrm>
          <a:off x="611703" y="253058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705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1020092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  <a:gridCol w="3182101">
                  <a:extLst>
                    <a:ext uri="{9D8B030D-6E8A-4147-A177-3AD203B41FA5}">
                      <a16:colId xmlns:a16="http://schemas.microsoft.com/office/drawing/2014/main" val="2644676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→</a:t>
                      </a:r>
                      <a:r>
                        <a:rPr lang="en-US" sz="1800" dirty="0"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~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p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∨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  <a:cs typeface="TH Sarabun New" panose="020B0500040200020003" pitchFamily="34" charset="-34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  <p:pic>
        <p:nvPicPr>
          <p:cNvPr id="8" name="Graphic 7" descr="Information">
            <a:extLst>
              <a:ext uri="{FF2B5EF4-FFF2-40B4-BE49-F238E27FC236}">
                <a16:creationId xmlns:a16="http://schemas.microsoft.com/office/drawing/2014/main" id="{8BEC5916-C2D3-A03A-2573-5166E1F1D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5699" y="757286"/>
            <a:ext cx="506854" cy="5068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B3D635-A9B0-1F20-996A-623431DAD822}"/>
              </a:ext>
            </a:extLst>
          </p:cNvPr>
          <p:cNvSpPr txBox="1"/>
          <p:nvPr/>
        </p:nvSpPr>
        <p:spPr>
          <a:xfrm>
            <a:off x="557915" y="1960107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ให้ตรวจสอบว่า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~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หรือไม่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D37EB-B077-AC0B-F962-7F1C8BAA944A}"/>
              </a:ext>
            </a:extLst>
          </p:cNvPr>
          <p:cNvSpPr txBox="1"/>
          <p:nvPr/>
        </p:nvSpPr>
        <p:spPr>
          <a:xfrm>
            <a:off x="609600" y="4724779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 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~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F1D7E3-2A76-E8AA-DC24-A4DD60AAB948}"/>
              </a:ext>
            </a:extLst>
          </p:cNvPr>
          <p:cNvSpPr/>
          <p:nvPr/>
        </p:nvSpPr>
        <p:spPr>
          <a:xfrm>
            <a:off x="349857" y="2507610"/>
            <a:ext cx="11501484" cy="4270871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B752EA-C3A1-650F-DF78-3024C0DBC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5855209"/>
            <a:ext cx="3934374" cy="82879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B59E530-C1F5-3A81-1FD5-7BA99C8917BA}"/>
              </a:ext>
            </a:extLst>
          </p:cNvPr>
          <p:cNvGrpSpPr/>
          <p:nvPr/>
        </p:nvGrpSpPr>
        <p:grpSpPr>
          <a:xfrm>
            <a:off x="609600" y="1377181"/>
            <a:ext cx="11175000" cy="461665"/>
            <a:chOff x="609600" y="1377181"/>
            <a:chExt cx="11175000" cy="46166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2269BA-5C32-53B7-9ED1-D1DBD72E9ABC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B72746-0D78-971B-F94E-949CDBF1C68F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2CDD094-5057-1326-6F7C-29182F52E6E6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D6405CB-B1B1-513A-48CB-77343C3A93F6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C0C199-D428-CF4F-9578-6EAD396660F3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309E6A1-8A5F-1401-9980-E0563B8C5ED3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1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6D62-39F1-9B57-6787-DB2C6059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C8DE3E-FFDF-BD9F-DF55-0EC8D31CE084}"/>
              </a:ext>
            </a:extLst>
          </p:cNvPr>
          <p:cNvSpPr/>
          <p:nvPr/>
        </p:nvSpPr>
        <p:spPr>
          <a:xfrm>
            <a:off x="349857" y="1802985"/>
            <a:ext cx="11501484" cy="653231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F6061-7577-B876-E13B-F746609676D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78600-AD38-24F2-AA22-9806D7BAB0D5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รูปแบบประพจน์ที่สมมูลกัน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11A739-893F-6D57-946A-B1E1356C767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DE3C06-D621-84FC-9FCC-844E3ACEFCA4}"/>
              </a:ext>
            </a:extLst>
          </p:cNvPr>
          <p:cNvSpPr txBox="1"/>
          <p:nvPr/>
        </p:nvSpPr>
        <p:spPr>
          <a:xfrm>
            <a:off x="445857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วิธีการตรวจสอบ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F71BD38-E213-EA7D-F415-9998CBF4230D}"/>
              </a:ext>
            </a:extLst>
          </p:cNvPr>
          <p:cNvSpPr/>
          <p:nvPr/>
        </p:nvSpPr>
        <p:spPr>
          <a:xfrm>
            <a:off x="2416787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Graphic 7" descr="Information">
            <a:extLst>
              <a:ext uri="{FF2B5EF4-FFF2-40B4-BE49-F238E27FC236}">
                <a16:creationId xmlns:a16="http://schemas.microsoft.com/office/drawing/2014/main" id="{43AE8368-FD8C-24E0-B397-9F34C1ECF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5699" y="757286"/>
            <a:ext cx="506854" cy="5068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BA7402-CB39-717B-22A8-82A44F29A884}"/>
              </a:ext>
            </a:extLst>
          </p:cNvPr>
          <p:cNvSpPr txBox="1"/>
          <p:nvPr/>
        </p:nvSpPr>
        <p:spPr>
          <a:xfrm>
            <a:off x="557915" y="1960107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ให้ตรวจสอบว่า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(p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q)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(p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r)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หรือไม่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2E893-2562-A0CA-0968-9FF6BA11D5A9}"/>
              </a:ext>
            </a:extLst>
          </p:cNvPr>
          <p:cNvSpPr/>
          <p:nvPr/>
        </p:nvSpPr>
        <p:spPr>
          <a:xfrm>
            <a:off x="8396012" y="6100714"/>
            <a:ext cx="1358647" cy="55581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/>
              <a:t>ถัดไป</a:t>
            </a:r>
            <a:endParaRPr lang="en-US" sz="24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EE76E5-6CA3-A992-1957-120E2B4CD339}"/>
              </a:ext>
            </a:extLst>
          </p:cNvPr>
          <p:cNvSpPr/>
          <p:nvPr/>
        </p:nvSpPr>
        <p:spPr>
          <a:xfrm>
            <a:off x="349857" y="2507610"/>
            <a:ext cx="11501484" cy="4270871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C2F99D-7174-53A1-C93E-D364FDA15B71}"/>
              </a:ext>
            </a:extLst>
          </p:cNvPr>
          <p:cNvSpPr/>
          <p:nvPr/>
        </p:nvSpPr>
        <p:spPr>
          <a:xfrm>
            <a:off x="2416787" y="782612"/>
            <a:ext cx="2558625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ใช้รูปแบบประพจ์ที่สมมูลกัน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F34EB4-838D-C07F-3220-EE1E86A36E41}"/>
              </a:ext>
            </a:extLst>
          </p:cNvPr>
          <p:cNvSpPr/>
          <p:nvPr/>
        </p:nvSpPr>
        <p:spPr>
          <a:xfrm>
            <a:off x="8270741" y="802475"/>
            <a:ext cx="2558625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รูปแบบประพจ์ที่สมมูลกัน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D68CE1-27AC-3963-5224-11286B63BD24}"/>
              </a:ext>
            </a:extLst>
          </p:cNvPr>
          <p:cNvGrpSpPr/>
          <p:nvPr/>
        </p:nvGrpSpPr>
        <p:grpSpPr>
          <a:xfrm>
            <a:off x="609600" y="1377181"/>
            <a:ext cx="11175000" cy="461665"/>
            <a:chOff x="609600" y="1377181"/>
            <a:chExt cx="11175000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7CF51F-ADD0-81D6-29F3-C7D21C8C86C3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295B75C-918E-FAB9-4D98-222D036CF071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7A7419-2079-6629-381D-5617D0D8C419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67DB87F-5FFC-29F1-34B4-F44B3B7B54A9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0F75580-9CCE-95F3-15EF-7F1E845A903A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915F1D-3EA8-531E-43C2-3F0A25F66083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B3C2A8-E2CC-92A8-91A8-14606F23DA47}"/>
              </a:ext>
            </a:extLst>
          </p:cNvPr>
          <p:cNvSpPr/>
          <p:nvPr/>
        </p:nvSpPr>
        <p:spPr>
          <a:xfrm>
            <a:off x="9930479" y="6100714"/>
            <a:ext cx="1358647" cy="55581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/>
              <a:t>ทั้งหมด</a:t>
            </a:r>
            <a:endParaRPr lang="en-US" sz="24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3356EE-0078-F52A-D67E-48D452EBF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0" y="2882020"/>
            <a:ext cx="5258534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3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EF8D-5540-A8D4-663F-EFF20291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A8A220-00CB-4D9F-38CB-AEF74C4FE07F}"/>
              </a:ext>
            </a:extLst>
          </p:cNvPr>
          <p:cNvSpPr/>
          <p:nvPr/>
        </p:nvSpPr>
        <p:spPr>
          <a:xfrm>
            <a:off x="349857" y="1802985"/>
            <a:ext cx="11501484" cy="653231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0F6A3A-0478-DCD0-2B9B-72AC0A8EFCD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C9245-325F-4828-7F2C-D497E74C4BD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รูปแบบประพจน์ที่สมมูลกัน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0954BA-55D8-159A-E459-56CC7057F2A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D369FF-631E-C2DF-035D-89A56140E197}"/>
              </a:ext>
            </a:extLst>
          </p:cNvPr>
          <p:cNvSpPr txBox="1"/>
          <p:nvPr/>
        </p:nvSpPr>
        <p:spPr>
          <a:xfrm>
            <a:off x="445857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วิธีการตรวจสอบ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0D163CB-D5C3-6941-B156-7A607E67DF98}"/>
              </a:ext>
            </a:extLst>
          </p:cNvPr>
          <p:cNvSpPr/>
          <p:nvPr/>
        </p:nvSpPr>
        <p:spPr>
          <a:xfrm>
            <a:off x="2416787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Graphic 7" descr="Information">
            <a:extLst>
              <a:ext uri="{FF2B5EF4-FFF2-40B4-BE49-F238E27FC236}">
                <a16:creationId xmlns:a16="http://schemas.microsoft.com/office/drawing/2014/main" id="{52A596F4-D386-41D9-6AA2-B8E2F37E4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5699" y="757286"/>
            <a:ext cx="506854" cy="5068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CBFF67-D183-7E05-357C-30FE8EAA874C}"/>
              </a:ext>
            </a:extLst>
          </p:cNvPr>
          <p:cNvSpPr txBox="1"/>
          <p:nvPr/>
        </p:nvSpPr>
        <p:spPr>
          <a:xfrm>
            <a:off x="557915" y="1960107"/>
            <a:ext cx="851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ให้ตรวจสอบว่า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(p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q)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(p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r)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หรือไม่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C82948-165C-8D52-2D11-B1E5C3E83116}"/>
              </a:ext>
            </a:extLst>
          </p:cNvPr>
          <p:cNvSpPr/>
          <p:nvPr/>
        </p:nvSpPr>
        <p:spPr>
          <a:xfrm>
            <a:off x="8396012" y="6100714"/>
            <a:ext cx="1358647" cy="55581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/>
              <a:t>ถัดไป</a:t>
            </a:r>
            <a:endParaRPr lang="en-US" sz="24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75AF23D-47AB-A110-E303-4002E3359D07}"/>
              </a:ext>
            </a:extLst>
          </p:cNvPr>
          <p:cNvSpPr/>
          <p:nvPr/>
        </p:nvSpPr>
        <p:spPr>
          <a:xfrm>
            <a:off x="349857" y="2507610"/>
            <a:ext cx="11501484" cy="4270871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F41224-A1B3-A4B7-AA85-4410958428B4}"/>
              </a:ext>
            </a:extLst>
          </p:cNvPr>
          <p:cNvSpPr/>
          <p:nvPr/>
        </p:nvSpPr>
        <p:spPr>
          <a:xfrm>
            <a:off x="2416787" y="782612"/>
            <a:ext cx="2558625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ใช้รูปแบบประพจ์ที่สมมูลกัน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CFA8CB-88BC-FBF5-0AD5-435041722DE8}"/>
              </a:ext>
            </a:extLst>
          </p:cNvPr>
          <p:cNvSpPr/>
          <p:nvPr/>
        </p:nvSpPr>
        <p:spPr>
          <a:xfrm>
            <a:off x="8350843" y="798308"/>
            <a:ext cx="2558625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ใช้รูปแบบประพจ์ที่สมมูลกัน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CA869-AC3A-42D2-E5EF-20AE37312F31}"/>
              </a:ext>
            </a:extLst>
          </p:cNvPr>
          <p:cNvGrpSpPr/>
          <p:nvPr/>
        </p:nvGrpSpPr>
        <p:grpSpPr>
          <a:xfrm>
            <a:off x="609600" y="1377181"/>
            <a:ext cx="11175000" cy="461665"/>
            <a:chOff x="609600" y="1377181"/>
            <a:chExt cx="11175000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CB2F62-4ED0-1414-CC8E-5F12F1FF4BCD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D1CC0B8-3B85-D302-733E-A092E957DEEA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9B7B887-8F58-7AC1-8630-01EDEF560E60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B0D093B-AB9A-AEC9-ABE9-59C17A2F4C6D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820B01-B2EE-8AA6-90BE-A8726C6D00D6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AFA2D44-E325-44B4-E097-72AF97B3BFB7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A22D67-2CE3-2A13-AED4-B8403E114336}"/>
              </a:ext>
            </a:extLst>
          </p:cNvPr>
          <p:cNvSpPr/>
          <p:nvPr/>
        </p:nvSpPr>
        <p:spPr>
          <a:xfrm>
            <a:off x="9930479" y="6100714"/>
            <a:ext cx="1358647" cy="55581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/>
              <a:t>ทั้งหมด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659ED-B0B0-EC4D-2F7D-921F86C1928D}"/>
              </a:ext>
            </a:extLst>
          </p:cNvPr>
          <p:cNvSpPr txBox="1"/>
          <p:nvPr/>
        </p:nvSpPr>
        <p:spPr>
          <a:xfrm>
            <a:off x="609600" y="2669120"/>
            <a:ext cx="1117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 err="1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≡ ∼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 err="1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				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≡ ∼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∨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</a:p>
          <a:p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        	  ≡ (∼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 err="1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∧ (∼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∨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r)			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(q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∧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r)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∨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q)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∧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∨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r)</a:t>
            </a: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	 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≡  (p → q)∧(p → r) 			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→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≡ ∼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∨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endParaRPr lang="en-US" sz="2400" dirty="0">
              <a:latin typeface="TH Sarabun New" panose="020B0500040200020003" pitchFamily="34" charset="-34"/>
              <a:ea typeface="Yu Gothic" panose="020B0400000000000000" pitchFamily="34" charset="-128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ดังนั้น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 err="1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สมมูลกับ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(p → q)∧(p → r)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5808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392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Yu Gothic</vt:lpstr>
      <vt:lpstr>Angsana New</vt:lpstr>
      <vt:lpstr>Aptos</vt:lpstr>
      <vt:lpstr>Aptos Display</vt:lpstr>
      <vt:lpstr>Arial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46</cp:revision>
  <dcterms:created xsi:type="dcterms:W3CDTF">2026-09-18T13:51:45Z</dcterms:created>
  <dcterms:modified xsi:type="dcterms:W3CDTF">2026-10-17T15:40:43Z</dcterms:modified>
</cp:coreProperties>
</file>