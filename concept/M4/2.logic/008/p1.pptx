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065E98-1C23-E54A-C3A7-D6B01C5B384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311901-1733-E78D-7163-0DF9E2D80AFD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9DAA78-943A-02DE-F1DB-10786FE4F03D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B530510-5407-BEA1-DA1F-2637D3B10FD9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709E0B-B240-9062-6521-9658DB540736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E167D6-5ED8-1684-7B8B-077DFA4A9987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B9AF0FA-6DF0-7E33-611B-B691F819661E}"/>
              </a:ext>
            </a:extLst>
          </p:cNvPr>
          <p:cNvSpPr/>
          <p:nvPr/>
        </p:nvSpPr>
        <p:spPr>
          <a:xfrm>
            <a:off x="168494" y="6039526"/>
            <a:ext cx="11887907" cy="56800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3D7F6F1-7C11-8A5F-5B01-5DD527C66CB8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31469-99E8-BBA2-31EF-3C46CE9861A2}"/>
              </a:ext>
            </a:extLst>
          </p:cNvPr>
          <p:cNvSpPr txBox="1"/>
          <p:nvPr/>
        </p:nvSpPr>
        <p:spPr>
          <a:xfrm>
            <a:off x="3610398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ตัวเชื่อมประพจน์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6EB3CAE-74FC-6771-5120-00D819EEACFB}"/>
              </a:ext>
            </a:extLst>
          </p:cNvPr>
          <p:cNvSpPr/>
          <p:nvPr/>
        </p:nvSpPr>
        <p:spPr>
          <a:xfrm>
            <a:off x="5581328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413C38A-E67C-1AA1-5044-95BEB976E861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เป็นประพจน์ การเชื่อมด้วยคำว่า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นั่นคือ ข้อความ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ซึ่งมีค่าความจริง ดังตารางต่อไปนี้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5956E2-33FF-C137-E673-289EAB3C524B}"/>
              </a:ext>
            </a:extLst>
          </p:cNvPr>
          <p:cNvSpPr txBox="1"/>
          <p:nvPr/>
        </p:nvSpPr>
        <p:spPr>
          <a:xfrm>
            <a:off x="299024" y="6140106"/>
            <a:ext cx="1123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เทคนิคการจำ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การเชื่อมด้วยตัวเชื่อม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เป็นจริงแค่กรณีเดียว คือ จริงและจริง กรณีที่เหลือเป็นเท็จ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1C9D4B-2215-B573-A2A0-C50218B5E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61265"/>
              </p:ext>
            </p:extLst>
          </p:nvPr>
        </p:nvGraphicFramePr>
        <p:xfrm>
          <a:off x="2031998" y="303667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∧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482B-A13D-1F97-5AE2-05355A17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1C04EC-2704-264E-157E-538984F4971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E84A94-672B-7BD2-1340-6F319E9D8D05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0EE3D94-7EA5-44AF-9E34-372BC4F6D05F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688A412-AE8E-22A0-12B7-29783030E88B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D362599-1AE1-BF63-EEF4-555DF287464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566319-ACBD-90EA-BD7A-FCD3116E8EB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7564CB-8AB6-7CF3-F9D1-8C55915FAB8A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BC255-BC5E-F820-18B2-7B672C21D4C1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7657688-CD37-73E5-CD9A-1BDE943E07B3}"/>
              </a:ext>
            </a:extLst>
          </p:cNvPr>
          <p:cNvSpPr/>
          <p:nvPr/>
        </p:nvSpPr>
        <p:spPr>
          <a:xfrm>
            <a:off x="168494" y="6039526"/>
            <a:ext cx="11887907" cy="56800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D72BDF9-7752-461E-64FE-89C1B47AB55E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BD843-B788-3F39-1156-B546606D5CC3}"/>
              </a:ext>
            </a:extLst>
          </p:cNvPr>
          <p:cNvSpPr txBox="1"/>
          <p:nvPr/>
        </p:nvSpPr>
        <p:spPr>
          <a:xfrm>
            <a:off x="3610398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ตัวเชื่อมประพจน์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3560E3B-8D3F-E7DF-97CE-68A85A783DE5}"/>
              </a:ext>
            </a:extLst>
          </p:cNvPr>
          <p:cNvSpPr/>
          <p:nvPr/>
        </p:nvSpPr>
        <p:spPr>
          <a:xfrm>
            <a:off x="5581328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96EC8C0-81EE-0C69-4A10-0E9CC1CE075D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เป็นประพจน์ การเชื่อมด้วยคำว่า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นั่นคือ ข้อความ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ซึ่งมีค่าความจริง ดังตารางต่อไปนี้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9105D4-687C-F1F7-2440-C2D5F2FB754E}"/>
              </a:ext>
            </a:extLst>
          </p:cNvPr>
          <p:cNvSpPr txBox="1"/>
          <p:nvPr/>
        </p:nvSpPr>
        <p:spPr>
          <a:xfrm>
            <a:off x="299024" y="6140106"/>
            <a:ext cx="1123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เทคนิคการจำ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การเชื่อมด้วยตัวเชื่อม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เป็นเท็จแค่กรณีเดียว คือ เท็จหรือเท็จ กรณีที่เหลือเป็นจริง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F0682-CB02-6121-0502-F4BFFB832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053864"/>
              </p:ext>
            </p:extLst>
          </p:nvPr>
        </p:nvGraphicFramePr>
        <p:xfrm>
          <a:off x="2031998" y="303667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∨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13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12-AD2F-82B2-3D83-0AA2250D2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18E7C9-32BD-3C82-148A-4F110941DD65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CE78E38-87E8-276E-50E5-E95FF620C292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066C6E3-1BBF-7BFA-ED33-4CC9AB6C4C0F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E6FDD24-CEBE-9463-FDB4-ABF19CDEC4CD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EDE0D4F-2341-EBDA-687A-93BB594B8A6E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08E6B2-E9E2-B095-115E-01FADB1A39D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5001D7-FECD-B401-C411-CB1AB07B8B51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9BE19-A2E5-69DD-B449-11FCCFBEDA59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9EC57D0-315B-85BF-A0A4-4AA8238288DD}"/>
              </a:ext>
            </a:extLst>
          </p:cNvPr>
          <p:cNvSpPr/>
          <p:nvPr/>
        </p:nvSpPr>
        <p:spPr>
          <a:xfrm>
            <a:off x="168494" y="6039526"/>
            <a:ext cx="11887907" cy="56800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5E693EE-CD9C-988A-A5EF-3195F7114F4E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E64BE-0A5B-82B4-3DCD-6E04FD856343}"/>
              </a:ext>
            </a:extLst>
          </p:cNvPr>
          <p:cNvSpPr txBox="1"/>
          <p:nvPr/>
        </p:nvSpPr>
        <p:spPr>
          <a:xfrm>
            <a:off x="3610398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ตัวเชื่อมประพจน์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2D52747-E446-02F6-D42B-D179C67F75A0}"/>
              </a:ext>
            </a:extLst>
          </p:cNvPr>
          <p:cNvSpPr/>
          <p:nvPr/>
        </p:nvSpPr>
        <p:spPr>
          <a:xfrm>
            <a:off x="5581328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ถ้า...แล้ว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04523D-5D91-8743-6155-B3BA70311D60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เป็นประพจน์ การเชื่อมด้วยคำว่า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ถ้า...แล้ว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นั่นคือ ข้อความ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→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ซึ่งมีค่าความจริง ดังตารางต่อไปนี้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F64F76B-E146-7124-6EA7-F116D7D39437}"/>
              </a:ext>
            </a:extLst>
          </p:cNvPr>
          <p:cNvSpPr txBox="1"/>
          <p:nvPr/>
        </p:nvSpPr>
        <p:spPr>
          <a:xfrm>
            <a:off x="299024" y="6140106"/>
            <a:ext cx="1123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เทคนิคการจำ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การเชื่อมด้วยตัวเชื่อม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ถ้า...แล้ว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เป็นเท็จแค่กรณีเดียว คือ ถ้าจริงแล้วเท็จ กรณีที่เหลือเป็นจริง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E2226E-12F4-24BD-320D-29872E467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18693"/>
              </p:ext>
            </p:extLst>
          </p:nvPr>
        </p:nvGraphicFramePr>
        <p:xfrm>
          <a:off x="2031998" y="303667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→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84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6335-0322-FC30-6077-830EB307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07C163-AFF3-0C36-E7CF-ECEDCF2EBC8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00E166-FDF7-9F66-F19A-0056B6C4D419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613DA66-F910-35D8-3B1E-787AE66A9634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1EC7E75-8AB4-B2F1-8CFF-4C739094870D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3CEC54-182A-0CA8-6CA5-029152DEE77D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3AD24C-0F63-703C-7508-83234B28B6E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85C3C49-DEE8-FE78-7E22-BD08E95975E5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8A365-B1FE-B3FA-9147-7EF7CB64856B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5901E03-79A3-59EE-0C91-F616E486DBFB}"/>
              </a:ext>
            </a:extLst>
          </p:cNvPr>
          <p:cNvSpPr/>
          <p:nvPr/>
        </p:nvSpPr>
        <p:spPr>
          <a:xfrm>
            <a:off x="168494" y="6039526"/>
            <a:ext cx="11887907" cy="56800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1D93F18-C268-836D-C46D-D418A4305DEB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27B6D-5666-ECB5-7361-455FE82DFF1E}"/>
              </a:ext>
            </a:extLst>
          </p:cNvPr>
          <p:cNvSpPr txBox="1"/>
          <p:nvPr/>
        </p:nvSpPr>
        <p:spPr>
          <a:xfrm>
            <a:off x="3610398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ตัวเชื่อมประพจน์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330331E-8DB2-1D70-0DF3-D68830BBCDF1}"/>
              </a:ext>
            </a:extLst>
          </p:cNvPr>
          <p:cNvSpPr/>
          <p:nvPr/>
        </p:nvSpPr>
        <p:spPr>
          <a:xfrm>
            <a:off x="5581328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B5CA39-93E1-1B26-5F93-C30E6BD932F4}"/>
              </a:ext>
            </a:extLst>
          </p:cNvPr>
          <p:cNvSpPr txBox="1"/>
          <p:nvPr/>
        </p:nvSpPr>
        <p:spPr>
          <a:xfrm>
            <a:off x="206816" y="1620193"/>
            <a:ext cx="11816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กับ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เป็นประพจน์ การเชื่อมด้วยคำว่า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↔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นั่นคือ ข้อความ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“p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ก็ต่อเมื่อ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ใช้สัญลักษณ์แทนด้วย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↔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q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ซึ่งมีค่าความจริง ดังตารางต่อไปนี้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EAE06DF-15ED-69BE-DEEB-1C6722A3C49D}"/>
              </a:ext>
            </a:extLst>
          </p:cNvPr>
          <p:cNvSpPr txBox="1"/>
          <p:nvPr/>
        </p:nvSpPr>
        <p:spPr>
          <a:xfrm>
            <a:off x="299024" y="6140106"/>
            <a:ext cx="1123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เทคนิคการจำ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การเชื่อมด้วยตัวเชื่อม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”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ค่าความจริงของประพจน์เหมือนกันเป็นจริง ต่างกันเป็นเท็จ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344E6D-CF75-B11A-7470-3FDE8B45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368791"/>
              </p:ext>
            </p:extLst>
          </p:nvPr>
        </p:nvGraphicFramePr>
        <p:xfrm>
          <a:off x="2031998" y="3036671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62109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  <a:r>
                        <a:rPr lang="th-TH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↔</a:t>
                      </a:r>
                      <a:r>
                        <a:rPr lang="th-TH" dirty="0">
                          <a:solidFill>
                            <a:schemeClr val="tx1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7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98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69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481E9-9ABC-788A-63EF-F0A2BFCE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41834C-CF40-D392-E9C9-9120265CEF2B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C55EB4-F40B-ECF9-AFCB-C56494C0E4A7}"/>
              </a:ext>
            </a:extLst>
          </p:cNvPr>
          <p:cNvGrpSpPr/>
          <p:nvPr/>
        </p:nvGrpSpPr>
        <p:grpSpPr>
          <a:xfrm>
            <a:off x="1701200" y="782613"/>
            <a:ext cx="1724110" cy="461665"/>
            <a:chOff x="96739" y="1202460"/>
            <a:chExt cx="1724110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61AEEBA-6C79-9CB0-0166-118B9401FF37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C6A7A4C-A7CA-C194-F4B9-8AD69C9A910C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728F13-AFB6-7A8B-5C85-8E78A3EAABC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7A04CA-8AFD-B53C-E03B-90E17C61AD6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AAB535-4583-6FF8-213B-BCE2DF71AD5E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98A083-8580-8421-3A18-F72A7C470057}"/>
              </a:ext>
            </a:extLst>
          </p:cNvPr>
          <p:cNvSpPr txBox="1"/>
          <p:nvPr/>
        </p:nvSpPr>
        <p:spPr>
          <a:xfrm>
            <a:off x="1760058" y="802475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CA918FE-65ED-EA3F-9883-CA3FF9FC2E62}"/>
              </a:ext>
            </a:extLst>
          </p:cNvPr>
          <p:cNvSpPr/>
          <p:nvPr/>
        </p:nvSpPr>
        <p:spPr>
          <a:xfrm>
            <a:off x="168494" y="6039526"/>
            <a:ext cx="11887907" cy="56800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 U B</a:t>
            </a:r>
            <a:endParaRPr lang="en-US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1B208E8-D426-E953-D4D1-FA730C9F20D5}"/>
              </a:ext>
            </a:extLst>
          </p:cNvPr>
          <p:cNvSpPr/>
          <p:nvPr/>
        </p:nvSpPr>
        <p:spPr>
          <a:xfrm>
            <a:off x="168494" y="1550958"/>
            <a:ext cx="11855009" cy="1009914"/>
          </a:xfrm>
          <a:prstGeom prst="roundRect">
            <a:avLst>
              <a:gd name="adj" fmla="val 350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BC0327-986D-A551-ADB6-FC4486514E8C}"/>
              </a:ext>
            </a:extLst>
          </p:cNvPr>
          <p:cNvSpPr txBox="1"/>
          <p:nvPr/>
        </p:nvSpPr>
        <p:spPr>
          <a:xfrm>
            <a:off x="3610398" y="818473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ตัวเชื่อมประพจน์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2BFF96F-8434-EFB1-5318-C8B8BDB737BB}"/>
              </a:ext>
            </a:extLst>
          </p:cNvPr>
          <p:cNvSpPr/>
          <p:nvPr/>
        </p:nvSpPr>
        <p:spPr>
          <a:xfrm>
            <a:off x="5581328" y="782612"/>
            <a:ext cx="2056601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ก็ต่อเมื่อ</a:t>
            </a:r>
            <a:endParaRPr lang="en-US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C4F4AFA-FF4E-6C5D-EE9C-A4ECC260AFEE}"/>
              </a:ext>
            </a:extLst>
          </p:cNvPr>
          <p:cNvSpPr txBox="1"/>
          <p:nvPr/>
        </p:nvSpPr>
        <p:spPr>
          <a:xfrm>
            <a:off x="206816" y="1620193"/>
            <a:ext cx="1181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เป็นประพจน์ นิเสธของประพจน์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ใช้สัญลักษณ์แทนด้วย </a:t>
            </a:r>
            <a:r>
              <a:rPr lang="th-TH" sz="2400" dirty="0">
                <a:latin typeface="Yu Gothic" panose="020B0400000000000000" pitchFamily="34" charset="-128"/>
                <a:ea typeface="Yu Gothic" panose="020B0400000000000000" pitchFamily="34" charset="-128"/>
                <a:cs typeface="TH Sarabun New" panose="020B0500040200020003" pitchFamily="34" charset="-34"/>
              </a:rPr>
              <a:t>~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ซึ่งมีค่าความจริง ดังตารางต่อไปนี้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5211BB3-4192-EE13-8910-83B1561A952B}"/>
              </a:ext>
            </a:extLst>
          </p:cNvPr>
          <p:cNvSpPr txBox="1"/>
          <p:nvPr/>
        </p:nvSpPr>
        <p:spPr>
          <a:xfrm>
            <a:off x="299024" y="6140106"/>
            <a:ext cx="1123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เทคนิคการจำ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นิเสธของประพจน์ใด จะมีค่าความจริงตรงข้ามกับประพจน์นั้น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052C30-CAEB-94E9-60C4-615C1F680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30027"/>
              </p:ext>
            </p:extLst>
          </p:nvPr>
        </p:nvGraphicFramePr>
        <p:xfrm>
          <a:off x="2031998" y="3036671"/>
          <a:ext cx="5418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399417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153003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~</a:t>
                      </a:r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3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9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2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4EC1-DAD4-1CC8-3DF4-136144B0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4D2A52-6ABE-0C19-85F2-175C73FFFFC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96A613-B616-ABC7-FFB0-608C99B1EC16}"/>
              </a:ext>
            </a:extLst>
          </p:cNvPr>
          <p:cNvGrpSpPr/>
          <p:nvPr/>
        </p:nvGrpSpPr>
        <p:grpSpPr>
          <a:xfrm>
            <a:off x="1701201" y="782613"/>
            <a:ext cx="1724971" cy="461665"/>
            <a:chOff x="96740" y="1202460"/>
            <a:chExt cx="1724971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4F3FC8-8F01-67FF-4270-6AA925E17204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99F6159-D034-6F08-C4A8-9C45E183F59C}"/>
                </a:ext>
              </a:extLst>
            </p:cNvPr>
            <p:cNvSpPr/>
            <p:nvPr/>
          </p:nvSpPr>
          <p:spPr>
            <a:xfrm>
              <a:off x="948392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75A02D-32BB-2103-7124-981FF384614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BE92A0-EAFA-3B93-ADA9-3C8014C2C72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09AA1F-2DB2-F1A7-F437-D1D0434ABD3F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7DB436-F7F5-915C-D476-EDC96F0F1231}"/>
              </a:ext>
            </a:extLst>
          </p:cNvPr>
          <p:cNvSpPr txBox="1"/>
          <p:nvPr/>
        </p:nvSpPr>
        <p:spPr>
          <a:xfrm>
            <a:off x="1764005" y="797013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8C4B90-8AFB-059D-11E7-F32AA45E94A3}"/>
              </a:ext>
            </a:extLst>
          </p:cNvPr>
          <p:cNvGrpSpPr/>
          <p:nvPr/>
        </p:nvGrpSpPr>
        <p:grpSpPr>
          <a:xfrm>
            <a:off x="349857" y="1467785"/>
            <a:ext cx="11331388" cy="1578539"/>
            <a:chOff x="349857" y="1790517"/>
            <a:chExt cx="11331388" cy="15785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21912D3-EEF1-F6BE-2EFD-CEA7BB4A9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857" y="1790517"/>
              <a:ext cx="11331388" cy="157853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006A9A2-8D30-E70F-9F23-B7F093910681}"/>
                </a:ext>
              </a:extLst>
            </p:cNvPr>
            <p:cNvSpPr/>
            <p:nvPr/>
          </p:nvSpPr>
          <p:spPr>
            <a:xfrm>
              <a:off x="564776" y="2214282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111CFA3-099E-10F6-6B6B-DE47A32FD08A}"/>
                </a:ext>
              </a:extLst>
            </p:cNvPr>
            <p:cNvSpPr/>
            <p:nvPr/>
          </p:nvSpPr>
          <p:spPr>
            <a:xfrm>
              <a:off x="1683271" y="2214282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9D75AAF-B1EF-6A7F-66A5-F009C847D610}"/>
                </a:ext>
              </a:extLst>
            </p:cNvPr>
            <p:cNvSpPr/>
            <p:nvPr/>
          </p:nvSpPr>
          <p:spPr>
            <a:xfrm>
              <a:off x="2792801" y="2214281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377ADEC-5524-1A3D-8726-92DC42EF8040}"/>
                </a:ext>
              </a:extLst>
            </p:cNvPr>
            <p:cNvSpPr/>
            <p:nvPr/>
          </p:nvSpPr>
          <p:spPr>
            <a:xfrm>
              <a:off x="3891261" y="2214281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∧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9B62685-BD77-0B4A-A6B2-3E1ABC932959}"/>
                </a:ext>
              </a:extLst>
            </p:cNvPr>
            <p:cNvSpPr/>
            <p:nvPr/>
          </p:nvSpPr>
          <p:spPr>
            <a:xfrm>
              <a:off x="4986822" y="2203269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∨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579ED59-2A70-33CE-C3FC-5A63271D735A}"/>
                </a:ext>
              </a:extLst>
            </p:cNvPr>
            <p:cNvSpPr/>
            <p:nvPr/>
          </p:nvSpPr>
          <p:spPr>
            <a:xfrm>
              <a:off x="6071553" y="2212233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→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852B93A-C482-9A00-01E5-BBBF4944691D}"/>
                </a:ext>
              </a:extLst>
            </p:cNvPr>
            <p:cNvSpPr/>
            <p:nvPr/>
          </p:nvSpPr>
          <p:spPr>
            <a:xfrm>
              <a:off x="7194812" y="2212233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↔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73FCF30-AC80-DBE8-EFD8-A04CA3B4FAEE}"/>
                </a:ext>
              </a:extLst>
            </p:cNvPr>
            <p:cNvSpPr/>
            <p:nvPr/>
          </p:nvSpPr>
          <p:spPr>
            <a:xfrm>
              <a:off x="8270580" y="2221196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~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48FC4B-2FFD-B7C9-00C7-0B5A9A6A7FF5}"/>
              </a:ext>
            </a:extLst>
          </p:cNvPr>
          <p:cNvSpPr/>
          <p:nvPr/>
        </p:nvSpPr>
        <p:spPr>
          <a:xfrm>
            <a:off x="349857" y="1291342"/>
            <a:ext cx="11564237" cy="1823987"/>
          </a:xfrm>
          <a:prstGeom prst="roundRect">
            <a:avLst>
              <a:gd name="adj" fmla="val 4871"/>
            </a:avLst>
          </a:prstGeom>
          <a:solidFill>
            <a:srgbClr val="E8E8E8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3D4F6C6-78BE-6C36-6615-2B3A3EEAB8EE}"/>
              </a:ext>
            </a:extLst>
          </p:cNvPr>
          <p:cNvSpPr/>
          <p:nvPr/>
        </p:nvSpPr>
        <p:spPr>
          <a:xfrm>
            <a:off x="10475258" y="2429435"/>
            <a:ext cx="1030942" cy="4661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สร้าง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8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193B-F09F-FA3A-4BDD-F5ADC6BA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B33A20-F38B-47B8-50C9-231F629438D9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5B567C-13F1-420A-9D6A-96F0E7906FC0}"/>
              </a:ext>
            </a:extLst>
          </p:cNvPr>
          <p:cNvGrpSpPr/>
          <p:nvPr/>
        </p:nvGrpSpPr>
        <p:grpSpPr>
          <a:xfrm>
            <a:off x="1701201" y="782613"/>
            <a:ext cx="1724971" cy="461665"/>
            <a:chOff x="96740" y="1202460"/>
            <a:chExt cx="1724971" cy="461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7EF9270-B041-B4ED-FADB-D39AFA9760A7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C7FB156-025F-8BD1-DCC3-A1709FACCB6A}"/>
                </a:ext>
              </a:extLst>
            </p:cNvPr>
            <p:cNvSpPr/>
            <p:nvPr/>
          </p:nvSpPr>
          <p:spPr>
            <a:xfrm>
              <a:off x="948392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6870391-0B50-4423-225C-35BD4FACB0B1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การเชื่อมประพจน์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798C57-AFFF-46F0-E085-9F785BFEFB53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78E1FA-E13D-182D-6761-F0A0302F5EDE}"/>
              </a:ext>
            </a:extLst>
          </p:cNvPr>
          <p:cNvSpPr txBox="1"/>
          <p:nvPr/>
        </p:nvSpPr>
        <p:spPr>
          <a:xfrm>
            <a:off x="102700" y="82967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โหมด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9A36F-D7BB-3FCC-6348-3A77115AEDBD}"/>
              </a:ext>
            </a:extLst>
          </p:cNvPr>
          <p:cNvSpPr txBox="1"/>
          <p:nvPr/>
        </p:nvSpPr>
        <p:spPr>
          <a:xfrm>
            <a:off x="1764005" y="797013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ศึกษา     ทดสอบ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200926A-E126-119E-0D53-A310F0BC5AFA}"/>
              </a:ext>
            </a:extLst>
          </p:cNvPr>
          <p:cNvGrpSpPr/>
          <p:nvPr/>
        </p:nvGrpSpPr>
        <p:grpSpPr>
          <a:xfrm>
            <a:off x="349857" y="1467785"/>
            <a:ext cx="11331388" cy="1578539"/>
            <a:chOff x="349857" y="1790517"/>
            <a:chExt cx="11331388" cy="157853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2E1543-CBC8-8626-BD16-359AFA5B7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9857" y="1790517"/>
              <a:ext cx="11331388" cy="1578539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9256782-8B25-A381-27E6-198A201A28B4}"/>
                </a:ext>
              </a:extLst>
            </p:cNvPr>
            <p:cNvSpPr/>
            <p:nvPr/>
          </p:nvSpPr>
          <p:spPr>
            <a:xfrm>
              <a:off x="564776" y="2214282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F649675-2088-4C39-03F7-C4D1DBE50F00}"/>
                </a:ext>
              </a:extLst>
            </p:cNvPr>
            <p:cNvSpPr/>
            <p:nvPr/>
          </p:nvSpPr>
          <p:spPr>
            <a:xfrm>
              <a:off x="1683271" y="2214282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F53236C-8CB9-66B8-8587-A903935C69CD}"/>
                </a:ext>
              </a:extLst>
            </p:cNvPr>
            <p:cNvSpPr/>
            <p:nvPr/>
          </p:nvSpPr>
          <p:spPr>
            <a:xfrm>
              <a:off x="2792801" y="2214281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112A466-19F1-EB3C-4FD6-C0CC8636D1AD}"/>
                </a:ext>
              </a:extLst>
            </p:cNvPr>
            <p:cNvSpPr/>
            <p:nvPr/>
          </p:nvSpPr>
          <p:spPr>
            <a:xfrm>
              <a:off x="3891261" y="2214281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∧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6CD8D0E-29B4-0398-093A-3D0BF9D478D4}"/>
                </a:ext>
              </a:extLst>
            </p:cNvPr>
            <p:cNvSpPr/>
            <p:nvPr/>
          </p:nvSpPr>
          <p:spPr>
            <a:xfrm>
              <a:off x="4986822" y="2203269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∨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4EA553E-1EC6-20BE-FFB5-57DCDE458B17}"/>
                </a:ext>
              </a:extLst>
            </p:cNvPr>
            <p:cNvSpPr/>
            <p:nvPr/>
          </p:nvSpPr>
          <p:spPr>
            <a:xfrm>
              <a:off x="6071553" y="2212233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→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1CAB6EC-FC26-842B-28EB-974F34103603}"/>
                </a:ext>
              </a:extLst>
            </p:cNvPr>
            <p:cNvSpPr/>
            <p:nvPr/>
          </p:nvSpPr>
          <p:spPr>
            <a:xfrm>
              <a:off x="7194812" y="2212233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↔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D6A3370-28C4-0E4F-16E6-D73C2A08C036}"/>
                </a:ext>
              </a:extLst>
            </p:cNvPr>
            <p:cNvSpPr/>
            <p:nvPr/>
          </p:nvSpPr>
          <p:spPr>
            <a:xfrm>
              <a:off x="8270580" y="2221196"/>
              <a:ext cx="1030942" cy="41237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~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220C97-D58F-E79E-C617-32C2545A5BD8}"/>
              </a:ext>
            </a:extLst>
          </p:cNvPr>
          <p:cNvSpPr/>
          <p:nvPr/>
        </p:nvSpPr>
        <p:spPr>
          <a:xfrm>
            <a:off x="1201271" y="2402541"/>
            <a:ext cx="8229599" cy="4930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(p </a:t>
            </a:r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∧ </a:t>
            </a:r>
            <a:r>
              <a:rPr lang="en-US" dirty="0">
                <a:solidFill>
                  <a:schemeClr val="tx1"/>
                </a:solidFill>
              </a:rPr>
              <a:t>q)</a:t>
            </a:r>
            <a:r>
              <a:rPr lang="en-US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∨ </a:t>
            </a:r>
            <a:r>
              <a:rPr lang="en-US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A3EF22-CFB4-494B-6EB1-A47B3342CE91}"/>
              </a:ext>
            </a:extLst>
          </p:cNvPr>
          <p:cNvSpPr/>
          <p:nvPr/>
        </p:nvSpPr>
        <p:spPr>
          <a:xfrm>
            <a:off x="10475258" y="2429435"/>
            <a:ext cx="1030942" cy="4661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สร้าง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EF0F09-63D3-591A-1A19-D60878AFDFF3}"/>
              </a:ext>
            </a:extLst>
          </p:cNvPr>
          <p:cNvSpPr txBox="1"/>
          <p:nvPr/>
        </p:nvSpPr>
        <p:spPr>
          <a:xfrm>
            <a:off x="573741" y="3151189"/>
            <a:ext cx="109414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กำหนดค่าความจริงของประพจน์และเติมค่าความจริงให้ถูกต้อง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กดที่กล่องเพื่อเลือกค่าความจริง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มีค่าความจริงเป็น 		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มีค่าความจริงเป็น 		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r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มีค่าความจริงเป็น </a:t>
            </a:r>
            <a:endParaRPr lang="th-TH" sz="2400" dirty="0">
              <a:solidFill>
                <a:schemeClr val="tx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			        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∧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 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q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  </a:t>
            </a:r>
            <a:r>
              <a:rPr lang="en-US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∨</a:t>
            </a:r>
            <a:r>
              <a:rPr lang="th-TH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 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Yu Gothic" panose="020B0400000000000000" pitchFamily="34" charset="-128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59D0A5-C210-E881-7FD6-D0809111BEF7}"/>
              </a:ext>
            </a:extLst>
          </p:cNvPr>
          <p:cNvSpPr/>
          <p:nvPr/>
        </p:nvSpPr>
        <p:spPr>
          <a:xfrm>
            <a:off x="2394368" y="3900397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4D36E57-3E7F-2509-5A14-807AEA99A427}"/>
              </a:ext>
            </a:extLst>
          </p:cNvPr>
          <p:cNvSpPr/>
          <p:nvPr/>
        </p:nvSpPr>
        <p:spPr>
          <a:xfrm>
            <a:off x="5116853" y="3900397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81F7427-55CA-CE4C-CA18-1EF8E46A8AA1}"/>
              </a:ext>
            </a:extLst>
          </p:cNvPr>
          <p:cNvSpPr/>
          <p:nvPr/>
        </p:nvSpPr>
        <p:spPr>
          <a:xfrm>
            <a:off x="7827321" y="3891432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00429D3-F274-3A21-EC2C-E39CAEDB9114}"/>
              </a:ext>
            </a:extLst>
          </p:cNvPr>
          <p:cNvSpPr/>
          <p:nvPr/>
        </p:nvSpPr>
        <p:spPr>
          <a:xfrm>
            <a:off x="4180042" y="4871475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213EE8B-64B3-9E40-4495-9CEEEDE253D5}"/>
              </a:ext>
            </a:extLst>
          </p:cNvPr>
          <p:cNvSpPr/>
          <p:nvPr/>
        </p:nvSpPr>
        <p:spPr>
          <a:xfrm>
            <a:off x="5000213" y="4871475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C39157E-A988-FDD7-B914-7CB9B4EEA034}"/>
              </a:ext>
            </a:extLst>
          </p:cNvPr>
          <p:cNvSpPr/>
          <p:nvPr/>
        </p:nvSpPr>
        <p:spPr>
          <a:xfrm>
            <a:off x="6091813" y="4871475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4C8A5ED-7201-ADB4-2B69-11D0FE313D5C}"/>
              </a:ext>
            </a:extLst>
          </p:cNvPr>
          <p:cNvSpPr/>
          <p:nvPr/>
        </p:nvSpPr>
        <p:spPr>
          <a:xfrm>
            <a:off x="4578475" y="5549907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DF5F032-2038-B553-661D-6949A7958241}"/>
              </a:ext>
            </a:extLst>
          </p:cNvPr>
          <p:cNvSpPr/>
          <p:nvPr/>
        </p:nvSpPr>
        <p:spPr>
          <a:xfrm>
            <a:off x="5725854" y="6147107"/>
            <a:ext cx="398433" cy="4123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B41563D-8FAD-4DB2-B63E-1F4EB331927E}"/>
              </a:ext>
            </a:extLst>
          </p:cNvPr>
          <p:cNvCxnSpPr>
            <a:stCxn id="41" idx="2"/>
          </p:cNvCxnSpPr>
          <p:nvPr/>
        </p:nvCxnSpPr>
        <p:spPr>
          <a:xfrm flipH="1">
            <a:off x="4379258" y="5283852"/>
            <a:ext cx="1" cy="4722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5EA3DF9-C21B-0BC8-E92C-BF36F7911731}"/>
              </a:ext>
            </a:extLst>
          </p:cNvPr>
          <p:cNvCxnSpPr>
            <a:endCxn id="47" idx="1"/>
          </p:cNvCxnSpPr>
          <p:nvPr/>
        </p:nvCxnSpPr>
        <p:spPr>
          <a:xfrm>
            <a:off x="4379258" y="5756095"/>
            <a:ext cx="19921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19E4D74-067D-C89B-47C6-567EAFFC7DD4}"/>
              </a:ext>
            </a:extLst>
          </p:cNvPr>
          <p:cNvCxnSpPr>
            <a:stCxn id="43" idx="2"/>
          </p:cNvCxnSpPr>
          <p:nvPr/>
        </p:nvCxnSpPr>
        <p:spPr>
          <a:xfrm flipH="1">
            <a:off x="5199429" y="5283852"/>
            <a:ext cx="1" cy="4722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91F4C5B-75D3-28D8-A150-2A4A269629BE}"/>
              </a:ext>
            </a:extLst>
          </p:cNvPr>
          <p:cNvCxnSpPr>
            <a:endCxn id="47" idx="3"/>
          </p:cNvCxnSpPr>
          <p:nvPr/>
        </p:nvCxnSpPr>
        <p:spPr>
          <a:xfrm flipH="1">
            <a:off x="4976908" y="5756095"/>
            <a:ext cx="22252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87A5BE-610E-CDDE-E98D-0F485A62B709}"/>
              </a:ext>
            </a:extLst>
          </p:cNvPr>
          <p:cNvCxnSpPr>
            <a:stCxn id="49" idx="1"/>
          </p:cNvCxnSpPr>
          <p:nvPr/>
        </p:nvCxnSpPr>
        <p:spPr>
          <a:xfrm flipH="1" flipV="1">
            <a:off x="4777691" y="6353295"/>
            <a:ext cx="94816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4AE9D7C-E25E-3E4B-02E0-932B5A2E1BF2}"/>
              </a:ext>
            </a:extLst>
          </p:cNvPr>
          <p:cNvCxnSpPr>
            <a:endCxn id="47" idx="2"/>
          </p:cNvCxnSpPr>
          <p:nvPr/>
        </p:nvCxnSpPr>
        <p:spPr>
          <a:xfrm flipV="1">
            <a:off x="4777691" y="5962284"/>
            <a:ext cx="1" cy="3910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E69ADA0-A120-8B90-BF93-F79879C84BFC}"/>
              </a:ext>
            </a:extLst>
          </p:cNvPr>
          <p:cNvCxnSpPr>
            <a:stCxn id="45" idx="2"/>
          </p:cNvCxnSpPr>
          <p:nvPr/>
        </p:nvCxnSpPr>
        <p:spPr>
          <a:xfrm flipH="1">
            <a:off x="6288524" y="5283852"/>
            <a:ext cx="2506" cy="10694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E3825E-F6BB-F1B3-2B14-02115488430F}"/>
              </a:ext>
            </a:extLst>
          </p:cNvPr>
          <p:cNvCxnSpPr>
            <a:cxnSpLocks/>
          </p:cNvCxnSpPr>
          <p:nvPr/>
        </p:nvCxnSpPr>
        <p:spPr>
          <a:xfrm flipH="1">
            <a:off x="6124287" y="6371225"/>
            <a:ext cx="16423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1F83419-52FD-C8E9-16EE-C1A11A545C73}"/>
              </a:ext>
            </a:extLst>
          </p:cNvPr>
          <p:cNvSpPr/>
          <p:nvPr/>
        </p:nvSpPr>
        <p:spPr>
          <a:xfrm>
            <a:off x="9726706" y="6036522"/>
            <a:ext cx="1779494" cy="4661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bg1"/>
                </a:solidFill>
              </a:rPr>
              <a:t>ตรวจสอบ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F102AE3-6762-F6F3-2BE6-5CF9C0599538}"/>
              </a:ext>
            </a:extLst>
          </p:cNvPr>
          <p:cNvSpPr/>
          <p:nvPr/>
        </p:nvSpPr>
        <p:spPr>
          <a:xfrm>
            <a:off x="424285" y="1273078"/>
            <a:ext cx="11564237" cy="1823987"/>
          </a:xfrm>
          <a:prstGeom prst="roundRect">
            <a:avLst>
              <a:gd name="adj" fmla="val 4871"/>
            </a:avLst>
          </a:prstGeom>
          <a:solidFill>
            <a:srgbClr val="E8E8E8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0F963369-F8B2-A3D9-B97D-4E95FD35F709}"/>
              </a:ext>
            </a:extLst>
          </p:cNvPr>
          <p:cNvSpPr/>
          <p:nvPr/>
        </p:nvSpPr>
        <p:spPr>
          <a:xfrm>
            <a:off x="424286" y="3723256"/>
            <a:ext cx="11564237" cy="2974549"/>
          </a:xfrm>
          <a:prstGeom prst="roundRect">
            <a:avLst>
              <a:gd name="adj" fmla="val 462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7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569</Words>
  <Application>Microsoft Office PowerPoint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Yu Gothic</vt:lpstr>
      <vt:lpstr>Aptos</vt:lpstr>
      <vt:lpstr>Aptos Display</vt:lpstr>
      <vt:lpstr>Arial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35</cp:revision>
  <dcterms:created xsi:type="dcterms:W3CDTF">2026-09-18T13:51:45Z</dcterms:created>
  <dcterms:modified xsi:type="dcterms:W3CDTF">2026-10-13T12:05:56Z</dcterms:modified>
</cp:coreProperties>
</file>